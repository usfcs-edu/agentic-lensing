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91, 89, 68,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74, 60, 41,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30, 24, 40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bf30eeb4_0_1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f5bf30eeb4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5bf30eeb4_0_1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5bf30eeb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f5bf30eeb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f5bf30eeb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5bf30eeb4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f5bf30eeb4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f5bf30eeb4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bf30eeb4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f5bf30eeb4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f5bf30eeb4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5bf30eeb4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f5bf30eeb4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f5bf30eeb4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5bf30eeb4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5bf30eeb4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f5bf30eeb4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5bf30eeb4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f5bf30eeb4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5bf30eeb4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5bf30eeb4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f5bf30eeb4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f5bf30eeb4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5bf30eeb4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5bf30eeb4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f5bf30eeb4_0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5bf30eeb4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5bf30eeb4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f5bf30eeb4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deck/montage_s0.jp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0125" y="843775"/>
            <a:ext cx="6014200" cy="601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502920" y="237744"/>
            <a:ext cx="11201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Nine strong-lens candidates — original cutouts in p</a:t>
            </a:r>
            <a:r>
              <a:rPr b="1" lang="en-US" sz="2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499825" y="2899325"/>
            <a:ext cx="239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For final product see slide 9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1051560" y="1325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PROMPT 0,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051560" y="1828800"/>
            <a:ext cx="100584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200"/>
              <a:buFont typeface="Calibri"/>
              <a:buNone/>
            </a:pPr>
            <a:r>
              <a:rPr i="1" lang="en-US" sz="2200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“Tell me what you see in these 9 images. And gives me a description of what you see that supports your judgement.”</a:t>
            </a:r>
            <a:br>
              <a:rPr i="1" lang="en-US" sz="2200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i="1" lang="en-US" sz="2200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2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“Do it this way: add arrows with different colors in the each figure, and then in your description refer to the arrows by color for each feature that you have identified.”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02920" y="237744"/>
            <a:ext cx="11201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Step 1 — Colored arrows mark the identified features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montage_s1.jpg" id="32" name="Google Shape;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6344" y="896112"/>
            <a:ext cx="5779008" cy="577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1051560" y="1325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PROMPT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1051560" y="1828800"/>
            <a:ext cx="100584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“Now, for each image, add a circle around all objects that are not related to the lensing system -- whether these are field galaxies (dashed circle) or stars (dotted circle). The size of the circle for each marked object should be the size of a mask that needs to be applied during lens modeling.”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502920" y="237744"/>
            <a:ext cx="11201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Step 2 — Mask circles: dashed = field galaxy, dotted = star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montage_s2.jpg" id="46" name="Google Shape;4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6344" y="896112"/>
            <a:ext cx="5779008" cy="577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/>
        </p:nvSpPr>
        <p:spPr>
          <a:xfrm>
            <a:off x="1051560" y="1325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PROMPT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1051560" y="1828800"/>
            <a:ext cx="100584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“1. Assume the cutout is 16" across, estimate the Einstein radius for each system.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2. For the arrows, add legend on the each panel to indicate what each arrow points at.”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>
            <a:off x="502920" y="237744"/>
            <a:ext cx="11201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Step 3 — Arrow legends added; θE estimated (16″ cutouts)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eck/montage_s3.jpg" id="60" name="Google Shape;6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6344" y="896112"/>
            <a:ext cx="5779008" cy="577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1051560" y="13258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A9A9A"/>
                </a:solidFill>
                <a:latin typeface="Calibri"/>
                <a:ea typeface="Calibri"/>
                <a:cs typeface="Calibri"/>
                <a:sym typeface="Calibri"/>
              </a:rPr>
              <a:t>PROMPT 4, 5,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>
            <a:off x="1051560" y="1828800"/>
            <a:ext cx="100584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“mark the estimated Einstein radius on each panel”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0"/>
          <p:cNvSpPr/>
          <p:nvPr/>
        </p:nvSpPr>
        <p:spPr>
          <a:xfrm>
            <a:off x="1051550" y="2624525"/>
            <a:ext cx="100584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“draw the einstein ringe in gray dotted circles”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1051550" y="3425025"/>
            <a:ext cx="10058400" cy="18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EDEDED"/>
                </a:solidFill>
                <a:latin typeface="Calibri"/>
                <a:ea typeface="Calibri"/>
                <a:cs typeface="Calibri"/>
                <a:sym typeface="Calibri"/>
              </a:rPr>
              <a:t>“make the dots making up the einstein rings even smaller -- half their current size -- and the separation between the dots 3 times the radius of each dot.”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/>
          <p:nvPr/>
        </p:nvSpPr>
        <p:spPr>
          <a:xfrm>
            <a:off x="3937600" y="2766900"/>
            <a:ext cx="4479300" cy="13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Step 6 — Fine-dot </a:t>
            </a:r>
            <a:r>
              <a:rPr b="1" lang="en-US" sz="24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Einstein</a:t>
            </a:r>
            <a:r>
              <a:rPr b="1" i="0" lang="en-US" sz="24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rings: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/>
          <p:nvPr/>
        </p:nvSpPr>
        <p:spPr>
          <a:xfrm>
            <a:off x="320040" y="256032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System 1 — 91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θE ≈ 1.5″ (geometric)  ·  annotation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composite_91_thin2x.png" id="82" name="Google Shape;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576" y="109728"/>
            <a:ext cx="6638544" cy="663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320040" y="256032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System 2 — 89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θE ≈ 2.0″ (geometric)  ·  annotation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composite_89_thin2x.png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576" y="109728"/>
            <a:ext cx="6638544" cy="663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320040" y="256032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System 3 — 68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θE ≈ 2.13″  ·  annotation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composite_68_thin2x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576" y="109728"/>
            <a:ext cx="6638544" cy="663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320040" y="256032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System 4 — 74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θE ≈ 2.92″ (alt 2.09″)  ·  annotation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composite_74_thin2x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576" y="109728"/>
            <a:ext cx="6638544" cy="663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320040" y="256032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System 5 — 60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θE ≈ 2.21″  ·  annotation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composite_60_thin2x.png" id="110" name="Google Shape;1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576" y="109728"/>
            <a:ext cx="6638544" cy="663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/>
          <p:nvPr/>
        </p:nvSpPr>
        <p:spPr>
          <a:xfrm>
            <a:off x="320040" y="256032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System 6 — 41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θE ≈ 2.4″ (geometric)  ·  annotation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composite_41_thin2x.png" id="117" name="Google Shape;1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576" y="109728"/>
            <a:ext cx="6638544" cy="663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320040" y="256032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System 7 — 30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θE ≈ 2.77″ (alt 2.04″)  ·  annotation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composite_30_thin2x.png" id="124" name="Google Shape;1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576" y="109728"/>
            <a:ext cx="6638544" cy="663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/>
          <p:nvPr/>
        </p:nvSpPr>
        <p:spPr>
          <a:xfrm>
            <a:off x="320040" y="256032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System 8 — 24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θE ≈ 1.51″  ·  annotation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composite_24_thin2x.png"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576" y="109728"/>
            <a:ext cx="6638544" cy="663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/>
          <p:nvPr/>
        </p:nvSpPr>
        <p:spPr>
          <a:xfrm>
            <a:off x="320040" y="256032"/>
            <a:ext cx="5120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System 9 — 40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θE ≈ 2.47″  ·  annotation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user-data/outputs/composite_40_thin2x.png"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6576" y="109728"/>
            <a:ext cx="6638544" cy="663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
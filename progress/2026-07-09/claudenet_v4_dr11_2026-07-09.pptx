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update for the group, 9 July 2026.</a:t>
            </a:r>
          </a:p>
          <a:p/>
          <a:p>
            <a:r>
              <a:t>Cutouts are the three genuinely-new systems from the v3blend8 DR11-south campaign after LensJudge + HSC PDR3 tier-2 vetting: s_327526_9059, s_340971_2860, s_325163_2981. Top row DESI grz (0.262"/px), bottom row HSC grizy (0.168"/px). Source: reproductions/dr11-campaign/papers/main.tex, Table tab:confirmed and Appendix app:gallery.</a:t>
            </a:r>
          </a:p>
          <a:p/>
          <a:p>
            <a:r>
              <a:t>Frame the talk with the one-liner: the recall gains are large and confidence-interval'd; the discovery yield is small and resolution-bounded.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 up front. Hold the two halves apart all talk: recall is measured and confidence-interval'd; discovery is small and bounded by pixel resolution, not by the model.</a:t>
            </a:r>
          </a:p>
          <a:p/>
          <a:p>
            <a:r>
              <a:t>Numbers: 0.54 -&gt; 0.87 Inchausti grade-A is dr11-campaign-v4/papers/main.tex Table 2. The 3 new systems are dr11-campaign/papers/main.tex (post-hoc literature crosscheck of 8 distinct new-class systems left 3 genuinely new).</a:t>
            </a:r>
          </a:p>
          <a:p/>
          <a:p>
            <a:r>
              <a:t>Provenance: v4 numbers are transcribed from reproductions/claudenet/papers/v4_section.tex and reproductions/dr11-campaign-v4/papers/main.tex. The v4 result artifacts (resweep_v4_summary.json, dr11_finetune_gate.json, survivors_dr11s_v4.parquet) live on Perlmutter scratch, not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baselines we are positioning against.</a:t>
            </a:r>
          </a:p>
          <a:p/>
          <a:p>
            <a:r>
              <a:t>Huang+2020: Lanusse-2018 CMU DeepLens ResNet-46, 3,508,833 params; DECaLS DR7, 6,242,507 galaxies; 342 candidates (60A/106B/176C).</a:t>
            </a:r>
          </a:p>
          <a:p>
            <a:r>
              <a:t>Huang+2021: 'shielded' ResNet, 59,905 params (58.6x reduction), deployed as a 2-model ensemble; DR8 ~14,000 deg^2, 17,290,814 parent; 1,312 candidates (216A/199B/897C), 1,210 new.</a:t>
            </a:r>
          </a:p>
          <a:p>
            <a:r>
              <a:t>Storfer+2024: same shielded ResNet at 1,961 training lenses; DR9 ~19,000 deg^2, 45.26M cutouts; 1,895 candidates, 1,512 new.</a:t>
            </a:r>
          </a:p>
          <a:p>
            <a:r>
              <a:t>Inchausti+2025: shielded ResNet (194,501) + EfficientNetV2-S (20,543,145) + FWLS meta (1,201); DR10 ~14,000 deg^2, ~43M cutouts; 811 new candidates.</a:t>
            </a:r>
          </a:p>
          <a:p/>
          <a:p>
            <a:r>
              <a:t>All four vetted by by-eye visual grading. The chart's second panel is deliberately not commensurable across regimes -- say so out loud.</a:t>
            </a:r>
          </a:p>
          <a:p>
            <a:r>
              <a:t>Sources: reproductions/{huang-2020,huang-2021,inchausti-2025}/README.md.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 result that started ClaudeNet. Reproduced controlled AUC from reproductions/inchausti-2025/ (their Fig 6): ResNet 0.9984, EffNet 0.9987, meta 0.9989 -- and the simple average is also 0.9989.</a:t>
            </a:r>
          </a:p>
          <a:p/>
          <a:p>
            <a:r>
              <a:t>The meta-learner is a 1,201-param FWLS MLP: Linear(2-&gt;300)-&gt;ReLU-&gt;Linear(300-&gt;1) on [p_shielded, p_effnet]. It collapsed to averaging because both base models were trained on byte-identical data, so their errors correlate at ~1.0 and a combiner has nothing to exploit.</a:t>
            </a:r>
          </a:p>
          <a:p/>
          <a:p>
            <a:r>
              <a:t>Stage-D honest baseline (matched-FPR recovery): meta @1% FPR = 0.908 Storfer / 0.968 Inchausti; @0.1% = 0.755 / 0.845. Inchausti's own finding: the negative:positive ratio, not architecture or AUC, sets usability at a real operating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metric. Recovery @ matched false-positive rate, using arithmetic copied verbatim from reproductions/inchausti-2025/22_fpr_operating_point.py into claudenet/_ensemble.py, so every number in this deck is directly comparable to the reproduced baseline.</a:t>
            </a:r>
          </a:p>
          <a:p/>
          <a:p>
            <a:r>
              <a:t>Why not AUC: AUC saturates near 1.0 (all four models above sit at 0.998-0.999) and averages over the whole ROC. A real sweep operates at a fixed, tiny FPR where only the tail matters. A 45M-cutout sweep at 1% FPR yields ~450k false positives; scans run near 0.01%.</a:t>
            </a:r>
          </a:p>
          <a:p/>
          <a:p>
            <a:r>
              <a:t>Figure: claudenet/papers/figures/flagship_operating_point.png.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ClaudeNet v1. Five to six deliberately decorrelated members: EfficientNetV2-S x2, EfficientNet-B3, an AION-1 frozen-embedding MLP probe, the shielded-194k ResNet, and the Lanusse ResNet-46. Each isotonic-calibrated, then combined.</a:t>
            </a:r>
          </a:p>
          <a:p/>
          <a:p>
            <a:r>
              <a:t>Member score correlation fell from the lineage's ~1.0 to Pearson ~0.31 / Spearman ~0.45. Beat the published meta on 4/4 matched-FPR cells.</a:t>
            </a:r>
          </a:p>
          <a:p/>
          <a:p>
            <a:r>
              <a:t>Other v1 phases: conformal selection certified FDR control; deep-ensemble triage cut selective error 0.022 -&gt; 0.0002 at 50% coverage; test-time D4 pooling added +0.041 mean. Domain adaptation was a negative result: the north/south gap is real (north@1% 0.688 vs south 0.874) but naive MMD at lambda=1 hurt both domains by ~0.06.</a:t>
            </a:r>
          </a:p>
          <a:p/>
          <a:p>
            <a:r>
              <a:t>Caveat to state: v1's 0.1% threshold was pinned by only ~6-7 of ~6,500 held-out negatives -- about +/-10pp of noise, no CI. v2 fixes exactly this.</a:t>
            </a:r>
          </a:p>
          <a:p>
            <a:r>
              <a:t>Figure: claudenet/papers/figures/diversity_heatmap.png.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ClaudeNet v2, the Perlmutter scale-up. NegEval-1M replaced the ~6,500 held-out negatives with 1,000,000, so the 0.01% FPR point could be measured for the first time. Deployment-scale hard-negative mining over a 1M pool shipped in round 1 (+0.157 Inchausti @0.1%); round 2 over-mined and was rejected.</a:t>
            </a:r>
          </a:p>
          <a:p/>
          <a:p>
            <a:r>
              <a:t>Two things FAILED their gate and were dropped -- worth saying out loud:</a:t>
            </a:r>
          </a:p>
          <a:p>
            <a:r>
              <a:t> - the AION native-griz upgrade (0.535 &lt; 0.647): the synthetic-i 'degradation' WAS the diversity mechanism (Pearson vs CNN 0.13 degraded vs ~0.65 native).</a:t>
            </a:r>
          </a:p>
          <a:p>
            <a:r>
              <a:t> - distillation to a single student: 5.3x faster but -0.111 recovery.</a:t>
            </a:r>
          </a:p>
          <a:p/>
          <a:p>
            <a:r>
              <a:t>v2-lean roster: effnet_B, effnet_B3_hard, effnet_S2_hard, resnet46_C_hard, zoobot_N. Table tab:v2lean, paired bootstrap 10,000 reps.</a:t>
            </a:r>
          </a:p>
          <a:p/>
          <a:p>
            <a:r>
              <a:t>Note the v1 collapse at 0.01% Storfer (0.394, below the meta's 0.513): the degraded-AION member's negative tail poisons the average. The RF combiner was robust there. This is why v2 dropped AION from the roster.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pivot. v2's DR9 sweep: 17,290,814 parent galaxies -&gt; 29,892 survivors -&gt; group-conformal at FDR&lt;=0.05 selects 1,449 (813 new, 737 new-and-unseen). Known-lens recall 47.5% in-coverage.</a:t>
            </a:r>
          </a:p>
          <a:p/>
          <a:p>
            <a:r>
              <a:t>Then the campaign result: of 601 genuinely-new group-conformal candidates, ZERO were graded A/B by either independent vetter. The only five graded &gt;=B were already-catalogued lenses. Rejects were overwhelmingly luminous red galaxies with companions, rings, or blends.</a:t>
            </a:r>
          </a:p>
          <a:p/>
          <a:p>
            <a:r>
              <a:t>That is the diagnosis that produced v3 and v4: the binding constraint is lens-vs-mimic separation and vetting resolution, not architecture and not AUC. Source: claudenet/papers/v3_section.tex (motivation), README.md phase 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ClaudeNet v3, contaminant-aware. New metric: recovery @ matched MIMIC-FPR. v2-lean, which recovers 96-100% of held-out lenses at random-FPR, recovers only 0.168 Storfer / 0.307 Inchausti at mimic-FPR 0.05 -- the random-FPR metric was flattering.</a:t>
            </a:r>
          </a:p>
          <a:p/>
          <a:p>
            <a:r>
              <a:t>Mimic bank: 148,034 CNN-high DR10 non-lens survivors, morphology-typed via Tractor, 98.3% non-lens purity by a 120-row agentic gate; 118,901 training rows + a frozen 29,724-row held-out mimic-eval.</a:t>
            </a:r>
          </a:p>
          <a:p/>
          <a:p>
            <a:r>
              <a:t>Recipe: hold the v2 'hard' recipe byte-identical and swap only the negative CONTENT -- a fraction f of displaced negatives become typed mimics. f=0.5 ('b50') wins; f=0.7 over-specialises.</a:t>
            </a:r>
          </a:p>
          <a:p/>
          <a:p>
            <a:r>
              <a:t>Ship roster v3blend8 = 8 members, keeping BOTH the v2-hard and v3-b50 versions of each swappable member: effnet_B, zoobot_N, effnet_S2_{hard,b50}, effnet_B3_{hard,b50}, resnet46_C_{hard,b50}. Source: v3_section.tex tab_a2, a6_ensemble_refit.json.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v3blend8 DR11-south as-run campaign -- COMPLETE and HSC-vetted. This is the confirmed catalogue of record.</a:t>
            </a:r>
          </a:p>
          <a:p/>
          <a:p>
            <a:r>
              <a:t>53,809,040 DR11-south galaxies swept; per-member 1e-4 union -&gt; 95,104 survivors. Conformal certified ZERO at this scale (power-limited, not a null result).</a:t>
            </a:r>
          </a:p>
          <a:p>
            <a:r>
              <a:t>Top-300 = 102 known + 198 new; discovery set = the top-500 new.</a:t>
            </a:r>
          </a:p>
          <a:p>
            <a:r>
              <a:t>LensJudge v3 cascade + HSC PDR3 tier-2 (0.168"/px, ~1,300 deg^2 ~= 20x Euclid Q1). Total cost $40.38.</a:t>
            </a:r>
          </a:p>
          <a:p>
            <a:r>
              <a:t>Cascade: 500 graded -&gt; 350 escalated -&gt; 26 reached HSC tier-2; tier-1 grades A/B/C/D = 27/76/125/272; HSC tier-2 grade-A/B = 24 (19 A, 5 B).</a:t>
            </a:r>
          </a:p>
          <a:p>
            <a:r>
              <a:t>SuGOHI: 79 SuGOHI HSC committee lenses recovered into survivors at 2.7x the survivor-median score; 15 of the 24 tier-2 A/B are SuGOHI lenses.</a:t>
            </a:r>
          </a:p>
          <a:p>
            <a:r>
              <a:t>Net-new accounting: of the 24, zero are in DESI finder catalogs, 15 are SuGOHI, 9 (8 distinct systems) are new-class. A post-hoc literature crosscheck found 5 of the 8 previously published -&gt; 3 GENUINELY NEW.</a:t>
            </a:r>
          </a:p>
          <a:p>
            <a:r>
              <a:t>Also: 108 DESI-resolution-only A/B (17A/91B), of which 39 genuinely new.</a:t>
            </a:r>
          </a:p>
          <a:p/>
          <a:p>
            <a:r>
              <a:t>Source: reproductions/dr11-campaign/papers/main.tex, tab:cascade, tab:confirmed.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ClaudeNet v4. Trigger: deploying v3blend8 on DR11-south showed known-lens grade-A recall at the per-member 1e-4 operating point falling 62% -&gt; 41% relative to DR10.</a:t>
            </a:r>
          </a:p>
          <a:p/>
          <a:p>
            <a:r>
              <a:t>v4 is ADDITIVE. It keeps v3's contaminant-aware members and stacks two release-portable levers:</a:t>
            </a:r>
          </a:p>
          <a:p>
            <a:r>
              <a:t> (1) a combiner change -- free, no retraining;</a:t>
            </a:r>
          </a:p>
          <a:p>
            <a:r>
              <a:t> (2) a release-native warm-start fine-tune -- one short GPU pass.</a:t>
            </a:r>
          </a:p>
          <a:p/>
          <a:p>
            <a:r>
              <a:t>Both levers are exactly the recipe that transfers to the higher-resolution surveys that are the program's endpoint: re-harvest the native-resolution positive pool, mine native hard negatives, warm-start fine-tune, select by mean.</a:t>
            </a:r>
          </a:p>
          <a:p/>
          <a:p>
            <a:r>
              <a:t>Provenance: v4 numbers are transcribed from reproductions/claudenet/papers/v4_section.tex and reproductions/dr11-campaign-v4/papers/main.tex. The v4 result artifacts (resweep_v4_summary.json, dr11_finetune_gate.json, survivors_dr11s_v4.parquet) live on Perlmutter scratch, not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1. The apparent recall collapse is an OPERATING-POINT artifact, not a model failure.</a:t>
            </a:r>
          </a:p>
          <a:p/>
          <a:p>
            <a:r>
              <a:t>Mechanism: the stage-1 selector was a per-member 1e-4 UNION. On the deeper DR11 imaging the per-member thresholds tighten and resnet46_C saturates (its 1e-4 threshold moved 0.81 -&gt; 1.00), so the union is dominated by single-member spikes.</a:t>
            </a:r>
          </a:p>
          <a:p/>
          <a:p>
            <a:r>
              <a:t>Three facts show the model is intact:</a:t>
            </a:r>
          </a:p>
          <a:p>
            <a:r>
              <a:t> (i) 21/90 grade-A lie outside the searched footprint or are cut by the parent selection, so searchable recall is already 54%, not 41%;</a:t>
            </a:r>
          </a:p>
          <a:p>
            <a:r>
              <a:t> (ii) threshold-free AUC of in-parent held-out grade-A vs 2M random DR11 negatives = 0.9955 for the five-member calibrated mean;</a:t>
            </a:r>
          </a:p>
          <a:p>
            <a:r>
              <a:t> (iii) swapping union for the calibrated mean at the SAME survivor budget recovers grade-A recall 54% -&gt; 75%.</a:t>
            </a:r>
          </a:p>
          <a:p/>
          <a:p>
            <a:r>
              <a:t>DENOMINATOR DISCIPLINE -- say this if asked. Those percentages use different denominators. The authoritative three-configuration comparison is Table 2 of dr11-campaign-v4/papers/main.tex (position-crossmatch, training-excluded), which is what slide 14 plots. The plotted curve here uses its own 'held-out in-parent grade-A' denominator and reads ~0.69 at 95k. Do not mix them on one axis.</a:t>
            </a:r>
          </a:p>
          <a:p/>
          <a:p>
            <a:r>
              <a:t>Figure: dr11-campaign-v4/papers/figures/recall_recoverability.png.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 2. Release-native warm-start fine-tune.</a:t>
            </a:r>
          </a:p>
          <a:p/>
          <a:p>
            <a:r>
              <a:t>The v1-v3 positive set was capped at 1,961 DR9-pixel lenses. We re-harvested the confirmed-lens literature for the DR11-south footprint: VizieR/DES/KiDS/HSC catalogs, SLACS/BELLS spectroscopic lenses, lensed-quasar compilations, a bulk SIMBAD object-type pull, and the Euclid-Q1 grade-A/B set. Deduplicated at 5 arcsec, tiered by confidence -&gt; 3,171 net-new high-confidence (gold+silver) positives, a ~13x expansion.</a:t>
            </a:r>
          </a:p>
          <a:p/>
          <a:p>
            <a:r>
              <a:t>Cutouts re-extracted DR11-south-native (griz, 101px), tier-subsampled to 5,806, paired with 30k random + 20k hard DR11 negatives. The hard negatives are CNN-high mimics from the mean-ranked survivor pool, PU-guarded at 10 arcsec and candidate-region-skimmed (skip the top 2,000, take the next 20,000) so real unconfirmed lenses do not poison the negative class.</a:t>
            </a:r>
          </a:p>
          <a:p/>
          <a:p>
            <a:r>
              <a:t>The three swappable members are warm-started from their _b50 checkpoints and fine-tuned 12 epochs at lr=3e-4. effnet_B and zoobot_N stay FROZEN as the random-FPR / diversity anchors.</a:t>
            </a:r>
          </a:p>
          <a:p/>
          <a:p>
            <a:r>
              <a:t>Storfer and Inchausti are held out throughout, as positives AND as negatives, so the gate measures generalisation and not memorisation.</a:t>
            </a:r>
          </a:p>
          <a:p/>
          <a:p>
            <a:r>
              <a:t>Gate table = v4_section.tex Table tab:v4gate. AUC does not regress: 0.996-&gt;0.998.</a:t>
            </a:r>
          </a:p>
          <a:p/>
          <a:p>
            <a:r>
              <a:t>Provenance: v4 numbers are transcribed from reproductions/claudenet/papers/v4_section.tex and reproductions/dr11-campaign-v4/papers/main.tex. The v4 result artifacts (resweep_v4_summary.json, dr11_finetune_gate.json, survivors_dr11s_v4.parquet) live on Perlmutter scratch, not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v4 re-sweep. All 5.38e7 = 53,809,040 DR11-south galaxies re-scored with the fine-tuned ensemble, reusing the original parent cutouts (no re-extraction). Combiner = mean of [effnet_B, zoobot_N, and the three _b50_dr11 members]. Select the top 150k by mean.</a:t>
            </a:r>
          </a:p>
          <a:p/>
          <a:p>
            <a:r>
              <a:t>Held-out recall, position-crossmatch, Storfer/Inchausti training-excluded -- the best of any configuration (dr11-campaign-v4/papers/main.tex Table 2):</a:t>
            </a:r>
          </a:p>
          <a:p>
            <a:r>
              <a:t>  Inchausti grade-A: union-95k 0.54 | mean-150k 0.80 | v4 0.87 (60/69)</a:t>
            </a:r>
          </a:p>
          <a:p>
            <a:r>
              <a:t>  Inchausti grade-B: v4 0.87 (76/87)</a:t>
            </a:r>
          </a:p>
          <a:p>
            <a:r>
              <a:t>  Storfer grade-A (hard): union-95k 0.32 | mean-150k 0.61 | v4 0.825 (85/103)</a:t>
            </a:r>
          </a:p>
          <a:p/>
          <a:p>
            <a:r>
              <a:t>The full re-sweep recovers out-of-pool lenses that a survivor-only re-rank cannot: the v4 top-150k retains only 15,922 of the union-95k survivors and ADDS 134,078.</a:t>
            </a:r>
          </a:p>
          <a:p/>
          <a:p>
            <a:r>
              <a:t>STATUS: this candidate set is recall-richer but PENDING VETTING. The completed, HSC-vetted catalogue is still the v3blend8 as-run set. Sections 4-5 of the dr11-campaign-v4 report (candidate catalogue + LensJudge HSC vetting, conclusion) are a scaffold, marked TODO.</a:t>
            </a:r>
          </a:p>
          <a:p/>
          <a:p>
            <a:r>
              <a:t>If asked why mean-150k beats union-95k by so much: it is not only the extra 55k budget -- the union is dominated by single-member spikes, see slide 12.</a:t>
            </a:r>
          </a:p>
          <a:p/>
          <a:p>
            <a:r>
              <a:t>Provenance: v4 numbers are transcribed from reproductions/claudenet/papers/v4_section.tex and reproductions/dr11-campaign-v4/papers/main.tex. The v4 result artifacts (resweep_v4_summary.json, dr11_finetune_gate.json, survivors_dr11s_v4.parquet) live on Perlmutter scratch, not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central tension. Keep the two columns rigidly apart.</a:t>
            </a:r>
          </a:p>
          <a:p/>
          <a:p>
            <a:r>
              <a:t>LEFT (established): v2-lean over v1 at 0.01% FPR: Storfer +0.340 [+0.306,+0.381], Inchausti +0.256 [+0.217,+0.301], paired bootstrap 10,000 reps over 1M negatives. v4 re-sweep: Inchausti-A 0.54-&gt;0.87, Storfer-A 0.32-&gt;0.825.</a:t>
            </a:r>
          </a:p>
          <a:p/>
          <a:p>
            <a:r>
              <a:t>RIGHT (bounded): the v3 DR10 sweep produced ZERO net-new lenses -- the four 'new' grade-A survivors are all previously published (Huang+2020 DESI-038.2078-03.3906; CSWA 1, the Cosmic Horseshoe; DES J0352-3825; AGEL J221912-434835). v3's headline 49 cross-validated A/B are RECOVERIES of published Euclid-Q1 lenses, not discoveries. The DR11 campaign yielded 3 genuinely new after HSC vetting.</a:t>
            </a:r>
          </a:p>
          <a:p/>
          <a:p>
            <a:r>
              <a:t>Why: 'no net-new lens is established from DECaLS pixels alone.' The resolution lever CONVERTS overlap candidates; it does not manufacture discoveries.</a:t>
            </a:r>
          </a:p>
          <a:p/>
          <a:p>
            <a:r>
              <a:t>The nuance to land: v4's improvements are real and large on the metric we can measure. They have NOT yet been shown to convert into new confirmed lenses.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Confidence, part I. The hardest, most independent test says the models tie.</a:t>
            </a:r>
          </a:p>
          <a:p/>
          <a:p>
            <a:r>
              <a:t>Independent Euclid grade-A-vs-C AUC (claudenet/data/v3/model_progression.json, v3_section.tex tab_progression):</a:t>
            </a:r>
          </a:p>
          <a:p>
            <a:r>
              <a:t>  orig (effnet_B, random-neg) 0.613 | v2-lean 0.647 | v3blend8 0.660 | v3-head 0.615.  SE ~= 0.06, n_A = 66.</a:t>
            </a:r>
          </a:p>
          <a:p>
            <a:r>
              <a:t>All four sit within about one standard error -- statistically indistinguishable at the hardest distinction (real lens vs convincing mimic at Euclid resolution).</a:t>
            </a:r>
          </a:p>
          <a:p/>
          <a:p>
            <a:r>
              <a:t>RETRACTED: the seed mimic-FPR metric is selection-biased -- the seed bank IS what the v2/v3 ensemble scored high -- so any 'Nx over the original published models' claim read off it is invalid, and we do not make it.</a:t>
            </a:r>
          </a:p>
          <a:p/>
          <a:p>
            <a:r>
              <a:t>What IS solid: v3 clearly beats the original CNN on the broad mimic population (DR10-eval recovery 0.598 -&gt; 0.885); and LensJudge escalation flips median p_lens from 0.03 to 0.70 at 0.1 arcsec on 134 real objects, with ~90% agreement with Euclid experts on grade-A.</a:t>
            </a:r>
          </a:p>
          <a:p/>
          <a:p>
            <a:r>
              <a:t>Conclusion: the discovery frontier is resolution-bounded for every model. Architecture and training gains do not resolve the lens-vs-mimic tie at Euclid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Confidence, part II. A ledger. Be precise about tense.</a:t>
            </a:r>
          </a:p>
          <a:p/>
          <a:p>
            <a:r>
              <a:t>SOLID and interval-bearing: the matched-FPR recovery gains (v2 paired bootstrap over 1M negatives; v4 gate and re-sweep on held-out, training-excluded catalogs).</a:t>
            </a:r>
          </a:p>
          <a:p>
            <a:r>
              <a:t>SOLID and vetted: 3 genuinely new lenses + 39 new DESI-resolution-only A/B from the v3 DR11 campaign, HSC tier-2 confirmed.</a:t>
            </a:r>
          </a:p>
          <a:p>
            <a:r>
              <a:t>PENDING: the whole v4 candidate set. 134,078 new candidates, zero vetted.</a:t>
            </a:r>
          </a:p>
          <a:p>
            <a:r>
              <a:t>RETRACTED: the seed mimic-FPR 'Nx' claim.</a:t>
            </a:r>
          </a:p>
          <a:p>
            <a:r>
              <a:t>POWER-LIMITED: conformal selection certifies nothing at DR11 scale -- a surfaced power floor, not a null result.</a:t>
            </a:r>
          </a:p>
          <a:p/>
          <a:p>
            <a:r>
              <a:t>And the provenance point, if it comes up: the v4 result artifacts live on Perlmutter scratch, not in the repo. Every v4 number in this deck is transcribed from v4_section.tex and dr11-campaign-v4/papers/main.tex. The v1/v2/v3 numbers are backed by tracked JSON under claudenet/data/.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scope. Two structural limits remain, and neither is fixed by a better model.</a:t>
            </a:r>
          </a:p>
          <a:p/>
          <a:p>
            <a:r>
              <a:t>1. v4 remains DECam-specific. The northern footprint (BASS/MzLS) still under-scores systematically -- the v3 DR11-north sweep had zero Euclid-A/B in its top-30. It needs north-native retraining.</a:t>
            </a:r>
          </a:p>
          <a:p>
            <a:r>
              <a:t>2. The DECaLS 0.262"/px resolution ceiling is unchanged. Higher-resolution vetting remains the decisive net-new-discovery lever. About 40% of Euclid grade-A/B lenses are not even in the DESI parent -- too faint or too small. No model can cross that.</a:t>
            </a:r>
          </a:p>
          <a:p/>
          <a:p>
            <a:r>
              <a:t>Robustness we did check: the legacy Gaussian high-pass residual was replaced by a signed chi = (data - model)/sigma, and the entire 500-candidate cascade was re-run in a paired design. The new residual runs ~2x hotter at tier-1 (raw A/B 90 -&gt; 135) but the HSC tier-2 gate absorbs it (tier-2 A/B 24 -&gt; 27). All 9 new-class systems survive. Conclusions unchanged.</a:t>
            </a:r>
          </a:p>
          <a:p/>
          <a:p>
            <a:r>
              <a:t>Figures: fig7 (this deck) and dr11-campaign/papers/figures/residual_robustness.png.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work, verbatim priorities from claudenet/papers/future_work.tex.</a:t>
            </a:r>
          </a:p>
          <a:p/>
          <a:p>
            <a:r>
              <a:t>1. Euclid pre-screening -- the decisive discovery lever. v3/v4 pre-screen DESI; Euclid confirms at 0.1 arcsec. Q1's ~63 deg^2 over three Deep Fields overlaps only ~0.5% of a DESI-south sweep, which is exactly why net-new yield there is bounded. Euclid DR1 (wide-area) inverts this. The ready action is a targeted sweep restricted to the Euclid-overlap sky, where every candidate is escalatable.</a:t>
            </a:r>
          </a:p>
          <a:p>
            <a:r>
              <a:t>2. BASS/MzLS-north retraining. Mine a north-native lens-mimic bank and retrain the members -- the recipe is instrument-agnostic, only the negatives change. Roughly triples the addressable footprint.</a:t>
            </a:r>
          </a:p>
          <a:p>
            <a:r>
              <a:t>3. i-band / foundation-model revival for small theta_E. Re-test the deferred AION/i-band lever under the NARROWER lens-vs-mimic task, not the random-FPR task where it failed in v2. Targets the red-lens/red-companion degeneracy.</a:t>
            </a:r>
          </a:p>
          <a:p>
            <a:r>
              <a:t>4. A pixel-level lens-vs-mimic head. The learned logistic head on member scores overfits the strict tail and does not generalise to Euclid; train a small CNN head directly on pixels (positives=lenses, negatives=the typed mimic bank) as a post-conformal re-ranker.</a:t>
            </a:r>
          </a:p>
          <a:p>
            <a:r>
              <a:t>5. The active-learning loop. LensJudge exports confident-D rejections -- true mimics, NOT objects that flipped to A/B at higher resolution -- as fresh typed hard negatives, closing a mine-&gt;grade-&gt;retrain loop.</a:t>
            </a:r>
          </a:p>
          <a:p>
            <a:r>
              <a:t>6. A full DR11-south candidate catalogue: realised, that is v4.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immediate next step and the deployment recommendation.</a:t>
            </a:r>
          </a:p>
          <a:p/>
          <a:p>
            <a:r>
              <a:t>IMMEDIATE: run the LensJudge v3 HSC tier-2 cascade on the v4 NEW shortlist (134,078 new candidates). That fills in sections 4-5 of the dr11-campaign-v4 report, which are currently a TODO scaffold, and it is the one action that could convert v4's measured recall gain into an actual vetted yield. The v3 campaign cost $40.38 for 500 candidates, so budget accordingly for the shortlist.</a:t>
            </a:r>
          </a:p>
          <a:p/>
          <a:p>
            <a:r>
              <a:t>DEPLOYMENT (future_work.tex): for DR11-south ship v4 -- the release-native fine-tuned ensemble with the calibrated-mean stage-1 selector. Retain v3blend8 for DR10-south and the Euclid cross-validation. In all cases use the score MEAN, not the learned head (it does not generalise past phi=0.05), plus the LensJudge cascade for vetting.</a:t>
            </a:r>
          </a:p>
          <a:p/>
          <a:p>
            <a:r>
              <a:t>What this buys: keeps v2-lean's lens recall, adds v3's contaminant-rejection edge, adds v4's release-native gain on the hard residual, and routes the resolution-breaking confirmation to exactly the candidates that have higher-resolution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Summary. Land the two-part claim cleanly and stop.</a:t>
            </a:r>
          </a:p>
          <a:p/>
          <a:p>
            <a:r>
              <a:t>We built a demonstrably better lens-ranker, and we drew a clean line between what that proves (recall) and what it does not yet prove (discovery).</a:t>
            </a:r>
          </a:p>
          <a:p/>
          <a:p>
            <a:r>
              <a:t>The path forward is resolution, not architecture.</a:t>
            </a:r>
          </a:p>
          <a:p/>
          <a:p>
            <a:r>
              <a:t>Cutouts: the same three genuinely new systems as the title slide (s_327526_9059, s_340971_2860, s_325163_2981), DESI grz over HSC grizy.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85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82C5B"/>
                </a:solidFill>
              </a:rPr>
              <a:t>ClaudeNet v4 and the DR11-South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7276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666666"/>
                </a:solidFill>
              </a:rPr>
              <a:t>What we improved, what the sweep discovered, and how confident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284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22222"/>
                </a:solidFill>
              </a:rPr>
              <a:t>Greg Benson, USF CS  ·  9 July 2026  · 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6666"/>
                </a:solidFill>
              </a:rPr>
              <a:t>The three genuinely new lens systems from the DR11-south campaign — DESI grz (top) and HSC grizy (bottom)</a:t>
            </a:r>
          </a:p>
        </p:txBody>
      </p:sp>
      <p:pic>
        <p:nvPicPr>
          <p:cNvPr id="6" name="Picture 5" descr="cand_s_327526_9059_d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127248"/>
            <a:ext cx="1371600" cy="1371600"/>
          </a:xfrm>
          <a:prstGeom prst="rect">
            <a:avLst/>
          </a:prstGeom>
        </p:spPr>
      </p:pic>
      <p:pic>
        <p:nvPicPr>
          <p:cNvPr id="7" name="Picture 6" descr="cand_s_327526_9059_h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544568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596188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</a:rPr>
              <a:t>s_327526_9059</a:t>
            </a:r>
          </a:p>
        </p:txBody>
      </p:sp>
      <p:pic>
        <p:nvPicPr>
          <p:cNvPr id="9" name="Picture 8" descr="cand_s_340971_2860_des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3127248"/>
            <a:ext cx="1371600" cy="1371600"/>
          </a:xfrm>
          <a:prstGeom prst="rect">
            <a:avLst/>
          </a:prstGeom>
        </p:spPr>
      </p:pic>
      <p:pic>
        <p:nvPicPr>
          <p:cNvPr id="10" name="Picture 9" descr="cand_s_340971_2860_h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8676" y="4544568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8636" y="596188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</a:rPr>
              <a:t>s_340971_2860</a:t>
            </a:r>
          </a:p>
        </p:txBody>
      </p:sp>
      <p:pic>
        <p:nvPicPr>
          <p:cNvPr id="12" name="Picture 11" descr="cand_s_325163_2981_de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952" y="3127248"/>
            <a:ext cx="1371600" cy="1371600"/>
          </a:xfrm>
          <a:prstGeom prst="rect">
            <a:avLst/>
          </a:prstGeom>
        </p:spPr>
      </p:pic>
      <p:pic>
        <p:nvPicPr>
          <p:cNvPr id="13" name="Picture 12" descr="cand_s_325163_2981_hs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4544568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39912" y="596188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</a:rPr>
              <a:t>s_325163_2981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53,809,040 galaxies swept  ·  3 confirmed new systems  ·  134,078 v4 candidates pending vetting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4552" cy="4617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700">
                <a:solidFill>
                  <a:srgbClr val="222222"/>
                </a:solidFill>
              </a:rPr>
              <a:t>• The Huang lineage's ceiling was never architecture: a 194k-param shielded ResNet matches a 20.5M-param EfficientNetV2-S within ±0.003 AUC, and the published meta-learner collapsed to a simple average.</a:t>
            </a:r>
          </a:p>
          <a:p>
            <a:pPr/>
            <a:r>
              <a:rPr sz="1700">
                <a:solidFill>
                  <a:srgbClr val="222222"/>
                </a:solidFill>
              </a:rPr>
              <a:t>• ClaudeNet's four real levers, in the order each exposed the next: diversity (v1) → honest deployment-scale negatives (v2) → contaminant awareness (v3) → release-native adaptation (v4).</a:t>
            </a:r>
          </a:p>
          <a:p>
            <a:pPr/>
            <a:r>
              <a:rPr sz="1700">
                <a:solidFill>
                  <a:srgbClr val="222222"/>
                </a:solidFill>
              </a:rPr>
              <a:t>• v4 = v3's contaminant-aware members + two additive, release-portable levers: a calibrated-mean stage-1 selector (free) and a DR11-native warm-start fine-tune (one short GPU pass).</a:t>
            </a:r>
          </a:p>
          <a:p>
            <a:pPr/>
            <a:r>
              <a:rPr sz="1700">
                <a:solidFill>
                  <a:srgbClr val="222222"/>
                </a:solidFill>
              </a:rPr>
              <a:t>• It is the best-recall configuration ever measured on DR11-south: Inchausti grade-A 0.54 → 0.87, Storfer grade-A (hard) 0.32 → 0.825.</a:t>
            </a:r>
          </a:p>
          <a:p>
            <a:pPr/>
            <a:r>
              <a:rPr sz="1700">
                <a:solidFill>
                  <a:srgbClr val="222222"/>
                </a:solidFill>
              </a:rPr>
              <a:t>• But: the v3 DR10 sweep produced zero net-new lenses; the v3 DR11 campaign produced three after HSC vetting; and v4's 134,078 new candidates are not yet vetted at all.</a:t>
            </a:r>
          </a:p>
          <a:p>
            <a:pPr/>
            <a:r>
              <a:rPr sz="1700">
                <a:solidFill>
                  <a:srgbClr val="222222"/>
                </a:solidFill>
              </a:rPr>
              <a:t>• On the one independent, unbiased test — Euclid grade-A-vs-C AUC — all four model generations tie within one standard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Recall went up a lot, and we can prove it. Discovery went up a little, and only where higher-resolution pixels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Where we started: the Huang lineage and its sweeps</a:t>
            </a:r>
          </a:p>
        </p:txBody>
      </p:sp>
      <p:pic>
        <p:nvPicPr>
          <p:cNvPr id="3" name="Picture 2" descr="fig1_lineage_swe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72" y="1051560"/>
            <a:ext cx="917257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Eight years, 8.6× more galaxies scanned, and candidate yield did not follow — while the vetting bar rose from by-eye grading to HSC tier-2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The negative result that started ClaudeNet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Reproduced, controlled comparison — architecture is not the bottleneck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81328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011680"/>
                <a:gridCol w="3749039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params (reproduced)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test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role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shielded 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194,501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base model 1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EfficientNetV2-S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20,543,145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base model 2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FWLS meta-learner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stacked combiner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simple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the meta-learner's actual behaviour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74552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A 194k-param ResNet ties a 20.5M-param EfficientNet to within ±0.003 AUC — 105× the parameters, no gain.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The combiner had nothing to exploit: both bases saw byte-identical data, so their errors are correlated at ~1.0.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Honest Stage-D baseline to beat (recovery @ matched FPR): meta @1% = 0.908 Storfer / 0.968 Inchausti;  @0.1% = 0.755 / 0.845.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Bigger backbones and a learned combiner bought nothing, because every model saw the same data and made the same mistakes. The levers are elsewhere: diversity, negatives, contaminants,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The metric that makes every number here 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Recovery @ matched false-positive rate — the exact arithmetic of inchausti-2025/22_fpr_operating_point.py, reused verbatim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5577840" cy="2834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AUC saturates near 1.0 and hides the tail; a sweep lives entirely in the tail.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A 45M-cutout sweep at 1% FPR means ~450,000 false positives. Real scans run near 0.01% FPR.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So we report recovery at 1%, 0.1% and 0.01% FPR against held-out Storfer and Inchausti graded lenses.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Same held-out catalogs throughout — and from v4 on, they are excluded from training as both positives and negatives.</a:t>
            </a:r>
          </a:p>
        </p:txBody>
      </p:sp>
      <p:pic>
        <p:nvPicPr>
          <p:cNvPr id="5" name="Picture 4" descr="flagship_operating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06385"/>
            <a:ext cx="5349240" cy="3056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One number, one operating point: recovery at matched FPR. Everything that follows is apples-to-apples against the reproduced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v1 — diversity, not combiner cleverness, is the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852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Five decorrelated members (EfficientNetV2-S ×2, EfficientNet-B3, an AION-1 frozen-embedding probe, shielded-194k ResNet, Lanusse ResNet-46).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Member score correlation: Pearson ~0.31 / Spearman ~0.45, against the lineage's collapsed ~1.0.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Beat the published meta-learner on 4/4 matched-FPR cells — with a naive average, no clever combiner: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Storfer @1% 0.908→0.938,  @0.1% 0.755→0.853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Inchausti @1% 0.968→0.980,  @0.1% 0.845→0.935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Also shipped: certified-FDR conformal selection, and deep-ensemble triage (selective error 0.022 → 0.0002 at 50% coverage).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Honest caveat: the 0.1% threshold was pinned by ~6–7 of only ~6,500 held-out negatives — roughly ±10 pp of noise, no confidence interval.</a:t>
            </a:r>
          </a:p>
        </p:txBody>
      </p:sp>
      <p:pic>
        <p:nvPicPr>
          <p:cNvPr id="4" name="Picture 3" descr="divers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45336"/>
            <a:ext cx="4937760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With decorrelated members even a plain average beats the published correlated-base meta-learner — and the gap is widest at the strict thresholds that control purity.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v2 — an honest eval, and deployment-scale negatives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NegEval-1M: 1,000,000 held-out negatives, so the 0.01% FPR operating point can be measured at all</a:t>
            </a:r>
          </a:p>
        </p:txBody>
      </p:sp>
      <p:pic>
        <p:nvPicPr>
          <p:cNvPr id="4" name="Picture 3" descr="fig2_recovery_matched_f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91043"/>
            <a:ext cx="9235440" cy="4015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The gain grows monotonically as the threshold tightens — +0.34 Storfer / +0.26 Inchausti at 0.01% FPR — which is exactly the regime a 10⁷-galaxy sweep runs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v2's reality check — the score moved, the discoveries did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Full DR9 sweep: 17,290,814 parent galaxies → 29,892 survivors → group-conformal at FDR ≤ 0.05 selects 1,449 (813 new, 737 new-and-unseen).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Known-lens recall into survivors: 47.5% in-coverage. The pipeline works.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Then vetting: of 601 genuinely-new conformal-selected candidates, zero were graded A/B by either independent vetter.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The rejects were overwhelmingly luminous red galaxies with companions, rings, or blends — objects that look like lenses at 0.262″/px.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9476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82C5B"/>
                </a:solidFill>
              </a:rPr>
              <a:t>Diagnosis: the binding constraint is lens-vs-mimic separation and vetting resolution — not architecture, and not AUC.</a:t>
            </a:r>
          </a:p>
          <a:p>
            <a:r>
              <a:rPr sz="1500">
                <a:solidFill>
                  <a:srgbClr val="666666"/>
                </a:solidFill>
              </a:rPr>
              <a:t>This is the pivot that produced v3 (contaminant-aware training) and v4 (release-native adaptation).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A better score produced not one new confirmed lens. The wall is telling real lenses from convincing look-alikes — and, ultimately, pixel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v3 — contaminant-aware training on a typed mimic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Score the models against lens mimics, not random galaxies, and the flattering numbers disappear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4711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920240"/>
                <a:gridCol w="1920240"/>
                <a:gridCol w="3749039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held-out DR10 mimic-eval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v2-lean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v3blend8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mimic-FPR 0.05 (Storfer)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the contaminant metric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mimic-FPR 0.01 (Storfer)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+0.24 at the strict point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random-FPR 0.01 (Storfer)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the deliberate cost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random-FPR 0.01 (Inchausti)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the deliberate cost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20440"/>
            <a:ext cx="11274552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Mimic bank: 148,034 CNN-high DR10 non-lens survivors, morphology-typed via Tractor, 98.3% non-lens purity (118,901 train / 29,724 frozen held-out).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The v2 recipe is held byte-identical; only the negative content changes — half the displaced negatives become typed mimics ("b50").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Ship roster v3blend8 keeps both the v2-hard and the v3-b50 version of each swappable member — 8 members, near-Pareto on both metrics.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Broad-mimic recovery (DR10-eval): 0.598 original CNN → 0.790 v3blend8 → 0.885 with the v3 head re-ranker (deployed only as a φ=0.05 stage-2 re-rank).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Training against typed mimics roughly halves the hard-contaminant miss rate, at a small and deliberate cost on the easy random-FPR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The v3 DR11-south campaign — swept, vetted, and counted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53,809,040 galaxies → 95,104 union survivors → top-500 new → LensJudge v3 cascade → HSC PDR3 tier-2 at 0.168″/px  ($40.38)</a:t>
            </a:r>
          </a:p>
        </p:txBody>
      </p:sp>
      <p:pic>
        <p:nvPicPr>
          <p:cNvPr id="4" name="Picture 3" descr="desi_hsc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7126"/>
            <a:ext cx="4023360" cy="3701491"/>
          </a:xfrm>
          <a:prstGeom prst="rect">
            <a:avLst/>
          </a:prstGeom>
        </p:spPr>
      </p:pic>
      <p:pic>
        <p:nvPicPr>
          <p:cNvPr id="5" name="Picture 4" descr="sugohi_enrich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938528"/>
            <a:ext cx="402336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645920"/>
            <a:ext cx="3108960" cy="3108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222222"/>
                </a:solidFill>
              </a:rPr>
              <a:t>• 500 graded → 350 escalated → 26 reached HSC tier-2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HSC tier-2 grade-A/B: 24  (19 A, 5 B)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of those 24: 0 in DESI finder catalogs, 15 are SuGOHI lenses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9 new-class detections = 8 distinct systems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post-hoc literature crosscheck: 5 of 8 already published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⇒ 3 genuinely new systems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(+ 39 genuinely new among 108 DESI-resolution-only A/B)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A full 53.8M-galaxy sweep plus HSC vetting yielded exactly three genuinely new lenses. The model recovers known systems well; net-new discovery is bounded by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Left: the DESI→HSC resolution flip on the 26 HSC-covered candidates. Right: v3blend8 enriches independent SuGOHI lenses to 2.7× the survivor-median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ClaudeNet v4 — two additive, release-portable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Trigger: on DR11-south, v3blend8's grade-A recall at the per-member 10⁻⁴ operating point appeared to fall 62% → 41% vs DR10</a:t>
            </a:r>
          </a:p>
        </p:txBody>
      </p:sp>
      <p:pic>
        <p:nvPicPr>
          <p:cNvPr id="4" name="Picture 3" descr="fig6_v4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8280"/>
            <a:ext cx="7772400" cy="440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29184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222222"/>
                </a:solidFill>
              </a:rPr>
              <a:t>• v4 is additive — it keeps v3's contaminant-aware members.</a:t>
            </a:r>
          </a:p>
          <a:p>
            <a:pPr/>
            <a:r>
              <a:rPr sz="1300">
                <a:solidFill>
                  <a:srgbClr val="222222"/>
                </a:solidFill>
              </a:rPr>
              <a:t/>
            </a:r>
          </a:p>
          <a:p>
            <a:pPr/>
            <a:r>
              <a:rPr sz="1300">
                <a:solidFill>
                  <a:srgbClr val="222222"/>
                </a:solidFill>
              </a:rPr>
              <a:t>• Lever 1 — calibrated-mean stage-1 selector.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Free. No retraining. Removes DR9→DR11 threshold drift entirely.</a:t>
            </a:r>
          </a:p>
          <a:p>
            <a:pPr/>
            <a:r>
              <a:rPr sz="1300">
                <a:solidFill>
                  <a:srgbClr val="222222"/>
                </a:solidFill>
              </a:rPr>
              <a:t/>
            </a:r>
          </a:p>
          <a:p>
            <a:pPr/>
            <a:r>
              <a:rPr sz="1300">
                <a:solidFill>
                  <a:srgbClr val="222222"/>
                </a:solidFill>
              </a:rPr>
              <a:t>• Lever 2 — release-native warm-start fine-tune.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One short GPU pass on a 13×-expanded DR11-native positive pool.</a:t>
            </a:r>
          </a:p>
          <a:p>
            <a:pPr/>
            <a:r>
              <a:rPr sz="1300">
                <a:solidFill>
                  <a:srgbClr val="222222"/>
                </a:solidFill>
              </a:rPr>
              <a:t/>
            </a:r>
          </a:p>
          <a:p>
            <a:pPr/>
            <a:r>
              <a:rPr sz="1300">
                <a:solidFill>
                  <a:srgbClr val="222222"/>
                </a:solidFill>
              </a:rPr>
              <a:t>• Both levers are the recipe that transfers to the higher-resolution surveys that are the program's endpoint.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v4 doesn't replace v3 — it fixes the selection rule and adapts the weights to the actual data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v4 Lever 1 — the recall collapse was the combiner, not the model</a:t>
            </a:r>
          </a:p>
        </p:txBody>
      </p:sp>
      <p:pic>
        <p:nvPicPr>
          <p:cNvPr id="3" name="Picture 2" descr="recall_recove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0808"/>
            <a:ext cx="5394960" cy="38535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80760" y="1143000"/>
            <a:ext cx="5623560" cy="2148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222222"/>
                </a:solidFill>
              </a:rPr>
              <a:t>• The union over per-member 10⁻⁴ thresholds degrades on deeper DR11 imaging: thresholds tighten, resnet46_C saturates (0.81 → 1.00), and the union ends up dominated by single-member spikes.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Threshold-free AUC of in-parent held-out grade-A vs 2M random DR11 negatives: 0.9955 for the five-member calibrated mean. The model ranks DR11 lenses fine.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The calibrated mean carries no per-release threshold recalibration — it removes the DR9→DR11 drift entirely, and is now the default stage-1 selector.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456432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82C5B"/>
                </a:solidFill>
              </a:rPr>
              <a:t>Denominator discipline — three readings, three denominators: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3931920"/>
          <a:ext cx="56235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08760"/>
                <a:gridCol w="1965960"/>
              </a:tblGrid>
              <a:tr h="37490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denominator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union @10⁻⁴, all grade-A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41%  (37/90)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all 90 grade-A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union @10⁻⁴, searchable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54%  (37/69)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in-parent, in-footprint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calibrated mean @95k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in-parent</a:t>
                      </a:r>
                    </a:p>
                  </a:txBody>
                  <a:tcPr/>
                </a:tc>
              </a:tr>
              <a:tr h="3749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calibrated mean @150k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0.80 (Inch.-A)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position-crossmatch, held out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Swapping the union for a calibrated mean recovers the recall for free — no retraining. The 62%→41% "collapse" was a selection rule, not a broken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v4 Lever 2 — a release-native warm-start fine-tune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400">
                <a:solidFill>
                  <a:srgbClr val="222222"/>
                </a:solidFill>
              </a:rPr>
              <a:t>• v1–v3 trained on 1,961 DR9-pixel lenses. We re-harvested the DR11-south confirmed-lens literature (VizieR/DES/KiDS/HSC, SLACS/BELLS, lensed quasars, SIMBAD, Euclid-Q1 A/B), deduped at 5″ and tiered by confidence: 3,171 net-new high-confidence positives — a ~13× expansion.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Cutouts re-extracted DR11-native (griz, 101 px), tier-subsampled to 5,806; paired with 30k random + 20k hard DR11 negatives (PU-guarded at 10″, and candidate-region-skimmed so real unconfirmed lenses can't poison the negatives).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Three swappable members warm-started from _b50 and fine-tuned 12 epochs @ lr 3×10⁻⁴; effnet_B and zoobot_N stay frozen as random-FPR / diversity anchors.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Storfer and Inchausti held out as both positives and negatives ⇒ the gate measures generalisation, not memorisation.</a:t>
            </a:r>
          </a:p>
        </p:txBody>
      </p:sp>
      <p:pic>
        <p:nvPicPr>
          <p:cNvPr id="4" name="Picture 3" descr="fig3_v4_finetune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731" y="2788920"/>
            <a:ext cx="6662057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One short DR11-native fine-tune cracks the lrg+companion hard residual v3 could not touch (0.544 → 0.796), with no AUC regression.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v4 — the full re-sweep and the candidate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All 53,809,040 DR11-south galaxies re-scored with the fine-tuned ensemble (original parent cutouts reused); top 150k by mean</a:t>
            </a:r>
          </a:p>
        </p:txBody>
      </p:sp>
      <p:pic>
        <p:nvPicPr>
          <p:cNvPr id="4" name="Picture 3" descr="fig4_selector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642" y="1463040"/>
            <a:ext cx="8414236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Status: the v4 candidate set is recall-richer but PENDING VETTING. The completed, HSC-vetted catalogue remains the v3blend8 as-run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C5B"/>
                </a:solidFill>
              </a:rPr>
              <a:t>Best recall of any configuration by a wide margin — and 89% of the top-150k is territory the union sweep never surfaced.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What the DR11 sweep discovered — and the tension to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7A3C"/>
                </a:solidFill>
              </a:rPr>
              <a:t>Recall / recovery — large, CI'd,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36192"/>
            <a:ext cx="548640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400">
                <a:solidFill>
                  <a:srgbClr val="222222"/>
                </a:solidFill>
              </a:rPr>
              <a:t>• v2-lean over v1 @0.01% FPR (paired bootstrap, 10,000 reps, 1M negatives):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Storfer  +0.340  [+0.306, +0.381]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Inchausti  +0.256  [+0.217, +0.301]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v4 re-sweep, held out and training-excluded: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Inchausti grade-A  0.54 → 0.87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Storfer grade-A (hard)  0.32 → 0.825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v4 fine-tune gate passes on all three held-out sets, AUC 0.996 → 0.998.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Every one of these is a measured, interval-bearing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0972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63A3A"/>
                </a:solidFill>
              </a:rPr>
              <a:t>Discovery — small, resolution-bounded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36192"/>
            <a:ext cx="539496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400">
                <a:solidFill>
                  <a:srgbClr val="222222"/>
                </a:solidFill>
              </a:rPr>
              <a:t>• v3 DR10 sweep: zero net-new lenses. The four "new" grade-A survivors are all previously published — Huang+2020 DESI-038.2078−03.3906, CSWA 1 (the Cosmic Horseshoe), DES J0352−3825, AGEL J221912−434835.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v3's headline 49 cross-validated A/B are recoveries of published Euclid-Q1 lenses, not discoveries.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v3 DR11 campaign: 3 genuinely new systems after HSC tier-2 vetting.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v4: 134,078 new candidates, none vetted yet.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"No net-new lens is established from DECaLS pixels alone." The resolution lever converts overlap candidates; it does not manufacture discoveries.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We got dramatically better at ranking lenses and only marginally better at confirming new ones — because the two are limited by different things: the combiner and the weights vs. the pixel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How confident are we? (I) The hardest test says the models tie</a:t>
            </a:r>
          </a:p>
        </p:txBody>
      </p:sp>
      <p:pic>
        <p:nvPicPr>
          <p:cNvPr id="3" name="Picture 2" descr="fig5_confidence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37181"/>
            <a:ext cx="7360920" cy="3212038"/>
          </a:xfrm>
          <a:prstGeom prst="rect">
            <a:avLst/>
          </a:prstGeom>
        </p:spPr>
      </p:pic>
      <p:pic>
        <p:nvPicPr>
          <p:cNvPr id="4" name="Picture 3" descr="euclid_f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775" y="1097280"/>
            <a:ext cx="372121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11274552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222222"/>
                </a:solidFill>
              </a:rPr>
              <a:t>• Retracted: the seed mimic-FPR metric is selection-biased — the seed bank is precisely what the v2/v3 ensemble scored high — so any "N× over the original published models" claim read off it is invalid. We do not make it.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Still solid: broad-mimic recovery 0.598 → 0.885 across the four generations (right panel), and the LensJudge escalation flip (median p_lens 0.03 → 0.70 at 0.1″ on 134 real objects, ~90% agreement with Euclid experts on grade-A).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On the one truly independent test, all four generations tie within a standard error. Resolution breaks the lens-vs-mimic tie; models don't.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How confident are we? (II) Solid vs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Tense discipline: what is measured, what is vetted, what is merely promising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81328"/>
          <a:ext cx="1127455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834640"/>
                <a:gridCol w="2148840"/>
                <a:gridCol w="960120"/>
                <a:gridCol w="1947672"/>
              </a:tblGrid>
              <a:tr h="4914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vetted?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2C5B"/>
                          </a:solidFill>
                        </a:rPr>
                        <a:t>status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v2-lean ≫ v1 ≫ published meta at matched 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NegEval-1M, 1M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paired bootstrap 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SOLID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v4 fine-tune gate: +0.09 / +0.30 / 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held-out, training-excluded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 CI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SOLID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v4 re-sweep recall 0.87 / 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position-crossmatch, held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 CI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SOLID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 genuinely new lens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LensJudge + HSC tier-2 + literature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CONFIRMED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v4's 134,078 new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stage-1 mean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PENDING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"N× better than the published models"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seed mimic-FPR (selection-biased)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RETRACTED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conformal-certified selection at DR11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group-conformal 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power floor reached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CERTIFIES NOTHING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The recall gains are established and v3's confirmed lenses are real. v4's new pool is promising but unvetted — so we make no discovery claim for it today.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Honest scope — what ClaudeNet fixed, and what it cannot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1274552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222222"/>
                </a:solidFill>
              </a:rPr>
              <a:t>• v4 remains DECam-specific: the BASS/MzLS north still under-scores systematically (v3's DR11-north top-30 contained zero Euclid A/B).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The 0.262″/px ceiling is unchanged, and ~40% of Euclid grade-A/B lenses are not even in the DESI parent — too faint or too small for any DESI model.</a:t>
            </a:r>
          </a:p>
          <a:p>
            <a:pPr/>
            <a:r>
              <a:rPr sz="1300">
                <a:solidFill>
                  <a:srgbClr val="222222"/>
                </a:solidFill>
              </a:rPr>
              <a:t>• Robustness holds: replacing the legacy residual with a signed χ=(data−model)/σ runs ~2× hotter at tier-1 (raw A/B 90→135), but the HSC tier-2 gate absorbs it (24→27) and all 9 new-class systems survive.</a:t>
            </a:r>
          </a:p>
        </p:txBody>
      </p:sp>
      <p:pic>
        <p:nvPicPr>
          <p:cNvPr id="4" name="Picture 3" descr="fig7_bottleneck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5194"/>
            <a:ext cx="5577840" cy="3067812"/>
          </a:xfrm>
          <a:prstGeom prst="rect">
            <a:avLst/>
          </a:prstGeom>
        </p:spPr>
      </p:pic>
      <p:pic>
        <p:nvPicPr>
          <p:cNvPr id="5" name="Picture 4" descr="residual_robust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991" y="2606040"/>
            <a:ext cx="4707978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Two structural limits remain — the northern instrument and the DECam pixel scale — and neither is fixed by a better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Future work — the levers, in priority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766560" cy="4709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400">
                <a:solidFill>
                  <a:srgbClr val="222222"/>
                </a:solidFill>
              </a:rPr>
              <a:t>1.  Euclid pre-screening — the decisive discovery lever. v4 pre-screens DESI; Euclid confirms at 0.1″.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Q1's ~63 deg² over three Deep Fields overlaps only ~0.5% of a DESI-south sweep — which is exactly why net-new yield is bounded there. Euclid DR1 (wide-area) inverts this.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Ready action: a targeted sweep restricted to the Euclid-overlap sky, where every candidate is escalatable.</a:t>
            </a:r>
          </a:p>
          <a:p>
            <a:pPr/>
            <a:r>
              <a:rPr sz="1400">
                <a:solidFill>
                  <a:srgbClr val="222222"/>
                </a:solidFill>
              </a:rPr>
              <a:t>2.  BASS/MzLS-north retraining — mine a north-native mimic bank and retrain. The recipe is instrument-agnostic; only the negatives change. ~3× the addressable footprint.</a:t>
            </a:r>
          </a:p>
          <a:p>
            <a:pPr/>
            <a:r>
              <a:rPr sz="1400">
                <a:solidFill>
                  <a:srgbClr val="222222"/>
                </a:solidFill>
              </a:rPr>
              <a:t>3.  i-band / foundation-model revival for small θ_E — re-test the deferred AION/i-band lever under the narrower lens-vs-mimic task, not the random-FPR task where it failed in v2.</a:t>
            </a:r>
          </a:p>
          <a:p>
            <a:pPr/>
            <a:r>
              <a:rPr sz="1400">
                <a:solidFill>
                  <a:srgbClr val="222222"/>
                </a:solidFill>
              </a:rPr>
              <a:t>4.  A pixel-level lens-vs-mimic head — the logistic head on member scores overfits the strict tail and doesn't generalise to Euclid; train a small CNN on pixels as a post-conformal re-ranker.</a:t>
            </a:r>
          </a:p>
          <a:p>
            <a:pPr/>
            <a:r>
              <a:rPr sz="1400">
                <a:solidFill>
                  <a:srgbClr val="222222"/>
                </a:solidFill>
              </a:rPr>
              <a:t>5.  The active-learning loop — LensJudge exports confident-D rejections (true mimics, not resolution-flips) as fresh typed hard negatives: mine → grade → retrain.</a:t>
            </a:r>
          </a:p>
        </p:txBody>
      </p:sp>
      <p:pic>
        <p:nvPicPr>
          <p:cNvPr id="4" name="Picture 3" descr="euclid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3744"/>
            <a:ext cx="4297680" cy="1719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The next real discoveries come from where we vet, not from what we train. Euclid-overlap sweeps and north-native retraining are the two highest-leverage moves.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Next step, and what to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63A3A"/>
                </a:solidFill>
              </a:rPr>
              <a:t>Immediate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36192"/>
            <a:ext cx="11274552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Run the LensJudge v3 HSC tier-2 cascade on the v4 NEW shortlist (134,078 candidates). This fills sections 4–5 of the dr11-campaign-v4 report, which are still a TODO scaffold.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It is the one action that could convert v4's measured recall gain into an actual vetted yield. Reference cost: the v3 campaign vetted 500 candidates for $40.38.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C5B"/>
                </a:solidFill>
              </a:rPr>
              <a:t>Deployment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02152"/>
            <a:ext cx="11274552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DR11-south: ship v4 — the release-native fine-tuned ensemble with the calibrated-mean stage-1 selector.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DR10-south and the Euclid cross-validation: retain v3blend8.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In all cases combine with the score mean, not the learned head — it does not generalise past φ = 0.05 — and vet with the LensJudge cascade.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This keeps v2-lean's lens recall, adds v3's contaminant rejection and v4's release-native gain on the hard residual, and routes the resolution-breaking confirmation to exactly the candidates with higher-resolution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Ship v4 with the mean selector for DR11-south now; vet its 134k new candidates next. That is the step that could turn a recall gain into new lenses.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2788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500">
                <a:solidFill>
                  <a:srgbClr val="222222"/>
                </a:solidFill>
              </a:rPr>
              <a:t>• The lineage's ceiling was never architecture — a 194k ResNet ties a 20.5M EfficientNet, and the published meta-learner was a simple average in disguise.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ClaudeNet's levers, in the order each exposed the next: diversity (v1) → honest deployment-scale negatives (v2) → contaminant awareness (v3) → release-native adaptation (v4).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v4 = v3's members + a calibrated-mean selector (free) + a DR11-native fine-tune (one GPU pass). Best recall of any configuration: Inchausti grade-A 0.54 → 0.87.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The honest split: recall gains are large and CI'd; net-new discovery is three confirmed systems from the v3 DR11 campaign, and v4's 134,078 new candidates remain unvetted.</a:t>
            </a:r>
          </a:p>
          <a:p>
            <a:pPr/>
            <a:r>
              <a:rPr sz="1500">
                <a:solidFill>
                  <a:srgbClr val="222222"/>
                </a:solidFill>
              </a:rPr>
              <a:t>• On the one independent test, all four generations tie within one standard error. The frontier is resolution-bounded.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77639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6666"/>
                </a:solidFill>
              </a:rPr>
              <a:t>3 confirmed  ·  134,078 pending — the three genuinely new systems (DESI grz, HSC grizy)</a:t>
            </a:r>
          </a:p>
        </p:txBody>
      </p:sp>
      <p:pic>
        <p:nvPicPr>
          <p:cNvPr id="5" name="Picture 4" descr="cand_s_327526_9059_d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343400"/>
            <a:ext cx="1280160" cy="1280160"/>
          </a:xfrm>
          <a:prstGeom prst="rect">
            <a:avLst/>
          </a:prstGeom>
        </p:spPr>
      </p:pic>
      <p:pic>
        <p:nvPicPr>
          <p:cNvPr id="6" name="Picture 5" descr="cand_s_327526_9059_h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4343400"/>
            <a:ext cx="128016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5669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s_327526_9059</a:t>
            </a:r>
          </a:p>
        </p:txBody>
      </p:sp>
      <p:pic>
        <p:nvPicPr>
          <p:cNvPr id="8" name="Picture 7" descr="cand_s_340971_2860_des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43400"/>
            <a:ext cx="1280160" cy="1280160"/>
          </a:xfrm>
          <a:prstGeom prst="rect">
            <a:avLst/>
          </a:prstGeom>
        </p:spPr>
      </p:pic>
      <p:pic>
        <p:nvPicPr>
          <p:cNvPr id="9" name="Picture 8" descr="cand_s_340971_2860_h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343400"/>
            <a:ext cx="1280160" cy="1280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0600" y="5669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s_340971_2860</a:t>
            </a:r>
          </a:p>
        </p:txBody>
      </p:sp>
      <p:pic>
        <p:nvPicPr>
          <p:cNvPr id="11" name="Picture 10" descr="cand_s_325163_2981_de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343400"/>
            <a:ext cx="1280160" cy="1280160"/>
          </a:xfrm>
          <a:prstGeom prst="rect">
            <a:avLst/>
          </a:prstGeom>
        </p:spPr>
      </p:pic>
      <p:pic>
        <p:nvPicPr>
          <p:cNvPr id="12" name="Picture 11" descr="cand_s_325163_2981_hs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0" y="4343400"/>
            <a:ext cx="128016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760" y="56692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s_325163_2981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08192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63A3A"/>
                </a:solidFill>
              </a:rPr>
              <a:t>We built a demonstrably better lens-ranker — and drew a clean line between what that proves (recall) and what it does not yet prove (discovery). The path forward is resolution, not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
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148840"/>
            <a:ext cx="2011680" cy="38100"/>
          </a:xfrm>
          <a:prstGeom prst="rect">
            <a:avLst/>
          </a:prstGeom>
          <a:solidFill>
            <a:srgbClr val="56B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377440"/>
            <a:ext cx="9997135" cy="2011680"/>
          </a:xfrm>
          <a:prstGeom prst="rect">
            <a:avLst/>
          </a:prstGeom>
          <a:noFill/>
        </p:spPr>
        <p:txBody>
          <a:bodyPr wrap="square" anchor="t" lIns="0" rIns="0" tIns="0" bIns="0">
            <a:spAutoFit/>
          </a:bodyPr>
          <a:lstStyle/>
          <a:p>
            <a:pPr algn="l">
              <a:spcAft>
                <a:spcPts val="1400"/>
              </a:spcAft>
            </a:pPr>
            <a:r>
              <a:rPr sz="4400" b="1" i="0">
                <a:solidFill>
                  <a:srgbClr val="F2F3F7"/>
                </a:solidFill>
                <a:latin typeface="Helvetica Neue"/>
              </a:rPr>
              <a:t>AstroMark</a:t>
            </a:r>
          </a:p>
          <a:p>
            <a:pPr algn="l">
              <a:spcAft>
                <a:spcPts val="1000"/>
              </a:spcAft>
            </a:pPr>
            <a:r>
              <a:rPr sz="2000" b="0" i="0">
                <a:solidFill>
                  <a:srgbClr val="9AA0AE"/>
                </a:solidFill>
                <a:latin typeface="Helvetica Neue"/>
              </a:rPr>
              <a:t>A symbolic notation and metadata format for annotating astronomical images</a:t>
            </a:r>
          </a:p>
          <a:p>
            <a:pPr algn="l">
              <a:spcAft>
                <a:spcPts val="600"/>
              </a:spcAft>
            </a:pPr>
            <a:r>
              <a:rPr sz="1300" b="0" i="0">
                <a:solidFill>
                  <a:srgbClr val="9AA0AE"/>
                </a:solidFill>
                <a:latin typeface="Helvetica Neue"/>
              </a:rPr>
              <a:t>Research, proposals and recommendations  ·  3 September 2026  ·  Nothing here is adopted — this is for the team to choose from</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was asked, and what is here</a:t>
            </a:r>
          </a:p>
          <a:p>
            <a:pPr algn="l">
              <a:spcAft>
                <a:spcPts val="600"/>
              </a:spcAft>
            </a:pPr>
            <a:r>
              <a:rPr sz="1300" b="0" i="0">
                <a:solidFill>
                  <a:srgbClr val="9AA0AE"/>
                </a:solidFill>
                <a:latin typeface="Helvetica Neue"/>
              </a:rPr>
              <a:t>formats/AstroMark/research/</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a:t>
            </a:r>
            <a:r>
              <a:rPr sz="1500" b="1" i="0">
                <a:solidFill>
                  <a:srgbClr val="F2F3F7"/>
                </a:solidFill>
                <a:latin typeface="Helvetica Neue"/>
              </a:rPr>
              <a:t>The ask.</a:t>
            </a:r>
            <a:r>
              <a:rPr sz="1500" b="0" i="0">
                <a:solidFill>
                  <a:srgbClr val="F2F3F7"/>
                </a:solidFill>
                <a:latin typeface="Helvetica Neue"/>
              </a:rPr>
              <a:t> A concise but descriptive notation, useful to humans and to models, for marking features in telescope images. Lenses first, astronomy generally later.</a:t>
            </a:r>
          </a:p>
          <a:p>
            <a:pPr algn="l">
              <a:spcAft>
                <a:spcPts val="500"/>
              </a:spcAft>
            </a:pPr>
            <a:r>
              <a:rPr sz="1300" b="0" i="0">
                <a:solidFill>
                  <a:srgbClr val="9AA0AE"/>
                </a:solidFill>
                <a:latin typeface="Helvetica Neue"/>
              </a:rPr>
              <a:t>Three specific questions: should it be accessible without colour? can the symbols be thin but readable? can marks be resized for emphasis?</a:t>
            </a:r>
          </a:p>
          <a:p>
            <a:pPr algn="l">
              <a:spcAft>
                <a:spcPts val="900"/>
              </a:spcAft>
            </a:pPr>
            <a:r>
              <a:rPr sz="1500" b="0" i="0">
                <a:solidFill>
                  <a:srgbClr val="F2F3F7"/>
                </a:solidFill>
                <a:latin typeface="Helvetica Neue"/>
              </a:rPr>
              <a:t>– </a:t>
            </a:r>
            <a:r>
              <a:rPr sz="1500" b="1" i="0">
                <a:solidFill>
                  <a:srgbClr val="F2F3F7"/>
                </a:solidFill>
                <a:latin typeface="Helvetica Neue"/>
              </a:rPr>
              <a:t>The work.</a:t>
            </a:r>
            <a:r>
              <a:rPr sz="1500" b="0" i="0">
                <a:solidFill>
                  <a:srgbClr val="F2F3F7"/>
                </a:solidFill>
                <a:latin typeface="Helvetica Neue"/>
              </a:rPr>
              <a:t> 66 formats surveyed across 8 domains. Four visual notations designed, prototyped and measured. Six metadata architectures encoded and compared. A draft spec for the recommendation.</a:t>
            </a:r>
          </a:p>
          <a:p>
            <a:pPr algn="l">
              <a:spcAft>
                <a:spcPts val="900"/>
              </a:spcAft>
            </a:pPr>
            <a:r>
              <a:rPr sz="1500" b="0" i="0">
                <a:solidFill>
                  <a:srgbClr val="F2F3F7"/>
                </a:solidFill>
                <a:latin typeface="Helvetica Neue"/>
              </a:rPr>
              <a:t>– </a:t>
            </a:r>
            <a:r>
              <a:rPr sz="1500" b="1" i="0">
                <a:solidFill>
                  <a:srgbClr val="F2F3F7"/>
                </a:solidFill>
                <a:latin typeface="Helvetica Neue"/>
              </a:rPr>
              <a:t>The evidence.</a:t>
            </a:r>
            <a:r>
              <a:rPr sz="1500" b="0" i="0">
                <a:solidFill>
                  <a:srgbClr val="F2F3F7"/>
                </a:solidFill>
                <a:latin typeface="Helvetica Neue"/>
              </a:rPr>
              <a:t> Working code, deterministic from a seed: a synthetic reference scene, a prototype renderer, colour-vision simulation, a measurement harness, and worked examples on real JWST data.</a:t>
            </a:r>
          </a:p>
          <a:p>
            <a:pPr algn="l">
              <a:spcAft>
                <a:spcPts val="900"/>
              </a:spcAft>
            </a:pPr>
            <a:r>
              <a:rPr sz="1500" b="0" i="0">
                <a:solidFill>
                  <a:srgbClr val="9AA0AE"/>
                </a:solidFill>
                <a:latin typeface="Helvetica Neue"/>
              </a:rPr>
              <a:t>– </a:t>
            </a:r>
            <a:r>
              <a:rPr sz="1500" b="1" i="0">
                <a:solidFill>
                  <a:srgbClr val="9AA0AE"/>
                </a:solidFill>
                <a:latin typeface="Helvetica Neue"/>
              </a:rPr>
              <a:t>The status.</a:t>
            </a:r>
            <a:r>
              <a:rPr sz="1500" b="0" i="0">
                <a:solidFill>
                  <a:srgbClr val="9AA0AE"/>
                </a:solidFill>
                <a:latin typeface="Helvetica Neue"/>
              </a:rPr>
              <a:t> Recommendations, not decisions. Where the evidence is thin, the slides say so.</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recommendation, in one table</a:t>
            </a:r>
          </a:p>
        </p:txBody>
      </p:sp>
      <p:graphicFrame>
        <p:nvGraphicFramePr>
          <p:cNvPr id="3" name="Table 2"/>
          <p:cNvGraphicFramePr>
            <a:graphicFrameLocks noGrp="1"/>
          </p:cNvGraphicFramePr>
          <p:nvPr/>
        </p:nvGraphicFramePr>
        <p:xfrm>
          <a:off x="548640" y="1188720"/>
          <a:ext cx="11094414" cy="2633472"/>
        </p:xfrm>
        <a:graphic>
          <a:graphicData uri="http://schemas.openxmlformats.org/drawingml/2006/table">
            <a:tbl>
              <a:tblPr firstRow="1" bandRow="1">
                <a:tableStyleId>{5C22544A-7EE6-4342-B048-85BDC9FD1C3A}</a:tableStyleId>
              </a:tblPr>
              <a:tblGrid>
                <a:gridCol w="1775106"/>
                <a:gridCol w="3772101"/>
                <a:gridCol w="5547207"/>
              </a:tblGrid>
              <a:tr h="329184">
                <a:tc>
                  <a:txBody>
                    <a:bodyPr/>
                    <a:lstStyle/>
                    <a:p>
                      <a:r>
                        <a:rPr sz="1200" b="1">
                          <a:solidFill>
                            <a:srgbClr val="56B4E9"/>
                          </a:solidFill>
                          <a:latin typeface="Helvetica Neue"/>
                        </a:rPr>
                        <a:t/>
                      </a:r>
                    </a:p>
                  </a:txBody>
                  <a:tcPr anchor="ctr">
                    <a:solidFill>
                      <a:srgbClr val="1A1E28"/>
                    </a:solidFill>
                  </a:tcPr>
                </a:tc>
                <a:tc>
                  <a:txBody>
                    <a:bodyPr/>
                    <a:lstStyle/>
                    <a:p>
                      <a:r>
                        <a:rPr sz="1200" b="1">
                          <a:solidFill>
                            <a:srgbClr val="56B4E9"/>
                          </a:solidFill>
                          <a:latin typeface="Helvetica Neue"/>
                        </a:rPr>
                        <a:t>Pick</a:t>
                      </a:r>
                    </a:p>
                  </a:txBody>
                  <a:tcPr anchor="ctr">
                    <a:solidFill>
                      <a:srgbClr val="1A1E28"/>
                    </a:solidFill>
                  </a:tcPr>
                </a:tc>
                <a:tc>
                  <a:txBody>
                    <a:bodyPr/>
                    <a:lstStyle/>
                    <a:p>
                      <a:r>
                        <a:rPr sz="1200" b="1">
                          <a:solidFill>
                            <a:srgbClr val="56B4E9"/>
                          </a:solidFill>
                          <a:latin typeface="Helvetica Neue"/>
                        </a:rPr>
                        <a:t>Why</a:t>
                      </a:r>
                    </a:p>
                  </a:txBody>
                  <a:tcPr anchor="ctr">
                    <a:solidFill>
                      <a:srgbClr val="1A1E28"/>
                    </a:solidFill>
                  </a:tcPr>
                </a:tc>
              </a:tr>
              <a:tr h="329184">
                <a:tc>
                  <a:txBody>
                    <a:bodyPr/>
                    <a:lstStyle/>
                    <a:p>
                      <a:r>
                        <a:rPr sz="1200" b="1">
                          <a:solidFill>
                            <a:srgbClr val="E69F00"/>
                          </a:solidFill>
                          <a:latin typeface="Helvetica Neue"/>
                        </a:rPr>
                        <a:t>Notation</a:t>
                      </a:r>
                    </a:p>
                  </a:txBody>
                  <a:tcPr anchor="ctr">
                    <a:solidFill>
                      <a:srgbClr val="161A24"/>
                    </a:solidFill>
                  </a:tcPr>
                </a:tc>
                <a:tc>
                  <a:txBody>
                    <a:bodyPr/>
                    <a:lstStyle/>
                    <a:p>
                      <a:r>
                        <a:rPr sz="1200" b="1">
                          <a:solidFill>
                            <a:srgbClr val="E69F00"/>
                          </a:solidFill>
                          <a:latin typeface="Helvetica Neue"/>
                        </a:rPr>
                        <a:t>N1 Terminator alphabet</a:t>
                      </a:r>
                      <a:r>
                        <a:rPr sz="1200" b="1">
                          <a:solidFill>
                            <a:srgbClr val="E69F00"/>
                          </a:solidFill>
                          <a:latin typeface="Helvetica Neue"/>
                        </a:rPr>
                        <a:t>, with N4 prototyped beside it</a:t>
                      </a:r>
                    </a:p>
                  </a:txBody>
                  <a:tcPr anchor="ctr">
                    <a:solidFill>
                      <a:srgbClr val="161A24"/>
                    </a:solidFill>
                  </a:tcPr>
                </a:tc>
                <a:tc>
                  <a:txBody>
                    <a:bodyPr/>
                    <a:lstStyle/>
                    <a:p>
                      <a:r>
                        <a:rPr sz="1200" b="1">
                          <a:solidFill>
                            <a:srgbClr val="E69F00"/>
                          </a:solidFill>
                          <a:latin typeface="Helvetica Neue"/>
                        </a:rPr>
                        <a:t>N1 keeps the arrow and costs least; N4 is the only one that fixes the named defect</a:t>
                      </a:r>
                    </a:p>
                  </a:txBody>
                  <a:tcPr anchor="ctr">
                    <a:solidFill>
                      <a:srgbClr val="161A24"/>
                    </a:solidFill>
                  </a:tcPr>
                </a:tc>
              </a:tr>
              <a:tr h="329184">
                <a:tc>
                  <a:txBody>
                    <a:bodyPr/>
                    <a:lstStyle/>
                    <a:p>
                      <a:r>
                        <a:rPr sz="1200" b="1">
                          <a:solidFill>
                            <a:srgbClr val="E69F00"/>
                          </a:solidFill>
                          <a:latin typeface="Helvetica Neue"/>
                        </a:rPr>
                        <a:t>Container</a:t>
                      </a:r>
                    </a:p>
                  </a:txBody>
                  <a:tcPr anchor="ctr">
                    <a:solidFill>
                      <a:srgbClr val="11141C"/>
                    </a:solidFill>
                  </a:tcPr>
                </a:tc>
                <a:tc>
                  <a:txBody>
                    <a:bodyPr/>
                    <a:lstStyle/>
                    <a:p>
                      <a:r>
                        <a:rPr sz="1200" b="1">
                          <a:solidFill>
                            <a:srgbClr val="E69F00"/>
                          </a:solidFill>
                          <a:latin typeface="Helvetica Neue"/>
                        </a:rPr>
                        <a:t>P1 evolved bespoke</a:t>
                      </a:r>
                    </a:p>
                  </a:txBody>
                  <a:tcPr anchor="ctr">
                    <a:solidFill>
                      <a:srgbClr val="11141C"/>
                    </a:solidFill>
                  </a:tcPr>
                </a:tc>
                <a:tc>
                  <a:txBody>
                    <a:bodyPr/>
                    <a:lstStyle/>
                    <a:p>
                      <a:r>
                        <a:rPr sz="1200" b="1">
                          <a:solidFill>
                            <a:srgbClr val="E69F00"/>
                          </a:solidFill>
                          <a:latin typeface="Helvetica Neue"/>
                        </a:rPr>
                        <a:t>the cheapest decision — converters are 57–161 lines</a:t>
                      </a:r>
                    </a:p>
                  </a:txBody>
                  <a:tcPr anchor="ctr">
                    <a:solidFill>
                      <a:srgbClr val="11141C"/>
                    </a:solidFill>
                  </a:tcPr>
                </a:tc>
              </a:tr>
              <a:tr h="329184">
                <a:tc>
                  <a:txBody>
                    <a:bodyPr/>
                    <a:lstStyle/>
                    <a:p>
                      <a:r>
                        <a:rPr sz="1200" b="1">
                          <a:solidFill>
                            <a:srgbClr val="E69F00"/>
                          </a:solidFill>
                          <a:latin typeface="Helvetica Neue"/>
                        </a:rPr>
                        <a:t>Identity</a:t>
                      </a:r>
                    </a:p>
                  </a:txBody>
                  <a:tcPr anchor="ctr">
                    <a:solidFill>
                      <a:srgbClr val="161A24"/>
                    </a:solidFill>
                  </a:tcPr>
                </a:tc>
                <a:tc>
                  <a:txBody>
                    <a:bodyPr/>
                    <a:lstStyle/>
                    <a:p>
                      <a:r>
                        <a:rPr sz="1200" b="1">
                          <a:solidFill>
                            <a:srgbClr val="E69F00"/>
                          </a:solidFill>
                          <a:latin typeface="Helvetica Neue"/>
                        </a:rPr>
                        <a:t>prefixed terms in one vocabulary file</a:t>
                      </a:r>
                    </a:p>
                  </a:txBody>
                  <a:tcPr anchor="ctr">
                    <a:solidFill>
                      <a:srgbClr val="161A24"/>
                    </a:solidFill>
                  </a:tcPr>
                </a:tc>
                <a:tc>
                  <a:txBody>
                    <a:bodyPr/>
                    <a:lstStyle/>
                    <a:p>
                      <a:r>
                        <a:rPr sz="1200" b="1">
                          <a:solidFill>
                            <a:srgbClr val="E69F00"/>
                          </a:solidFill>
                          <a:latin typeface="Helvetica Neue"/>
                        </a:rPr>
                        <a:t>this is where every actual problem is</a:t>
                      </a:r>
                    </a:p>
                  </a:txBody>
                  <a:tcPr anchor="ctr">
                    <a:solidFill>
                      <a:srgbClr val="161A24"/>
                    </a:solidFill>
                  </a:tcPr>
                </a:tc>
              </a:tr>
              <a:tr h="329184">
                <a:tc>
                  <a:txBody>
                    <a:bodyPr/>
                    <a:lstStyle/>
                    <a:p>
                      <a:r>
                        <a:rPr sz="1200" b="1">
                          <a:solidFill>
                            <a:srgbClr val="E69F00"/>
                          </a:solidFill>
                          <a:latin typeface="Helvetica Neue"/>
                        </a:rPr>
                        <a:t>Model surfaces</a:t>
                      </a:r>
                    </a:p>
                  </a:txBody>
                  <a:tcPr anchor="ctr">
                    <a:solidFill>
                      <a:srgbClr val="11141C"/>
                    </a:solidFill>
                  </a:tcPr>
                </a:tc>
                <a:tc>
                  <a:txBody>
                    <a:bodyPr/>
                    <a:lstStyle/>
                    <a:p>
                      <a:r>
                        <a:rPr sz="1200" b="1">
                          <a:solidFill>
                            <a:srgbClr val="E69F00"/>
                          </a:solidFill>
                          <a:latin typeface="Helvetica Neue"/>
                        </a:rPr>
                        <a:t>read</a:t>
                      </a:r>
                      <a:r>
                        <a:rPr sz="1200" b="1">
                          <a:solidFill>
                            <a:srgbClr val="E69F00"/>
                          </a:solidFill>
                          <a:latin typeface="Helvetica Neue"/>
                        </a:rPr>
                        <a:t> the line form, </a:t>
                      </a:r>
                      <a:r>
                        <a:rPr sz="1200" b="1">
                          <a:solidFill>
                            <a:srgbClr val="E69F00"/>
                          </a:solidFill>
                          <a:latin typeface="Helvetica Neue"/>
                        </a:rPr>
                        <a:t>write</a:t>
                      </a:r>
                      <a:r>
                        <a:rPr sz="1200" b="1">
                          <a:solidFill>
                            <a:srgbClr val="E69F00"/>
                          </a:solidFill>
                          <a:latin typeface="Helvetica Neue"/>
                        </a:rPr>
                        <a:t> JSON</a:t>
                      </a:r>
                    </a:p>
                  </a:txBody>
                  <a:tcPr anchor="ctr">
                    <a:solidFill>
                      <a:srgbClr val="11141C"/>
                    </a:solidFill>
                  </a:tcPr>
                </a:tc>
                <a:tc>
                  <a:txBody>
                    <a:bodyPr/>
                    <a:lstStyle/>
                    <a:p>
                      <a:r>
                        <a:rPr sz="1200" b="1">
                          <a:solidFill>
                            <a:srgbClr val="E69F00"/>
                          </a:solidFill>
                          <a:latin typeface="Helvetica Neue"/>
                        </a:rPr>
                        <a:t>the only arrangement satisfying both the schema rule and the token budget</a:t>
                      </a:r>
                    </a:p>
                  </a:txBody>
                  <a:tcPr anchor="ctr">
                    <a:solidFill>
                      <a:srgbClr val="11141C"/>
                    </a:solidFill>
                  </a:tcPr>
                </a:tc>
              </a:tr>
              <a:tr h="329184">
                <a:tc>
                  <a:txBody>
                    <a:bodyPr/>
                    <a:lstStyle/>
                    <a:p>
                      <a:r>
                        <a:rPr sz="1200" b="1">
                          <a:solidFill>
                            <a:srgbClr val="E69F00"/>
                          </a:solidFill>
                          <a:latin typeface="Helvetica Neue"/>
                        </a:rPr>
                        <a:t>Portrayal</a:t>
                      </a:r>
                    </a:p>
                  </a:txBody>
                  <a:tcPr anchor="ctr">
                    <a:solidFill>
                      <a:srgbClr val="161A24"/>
                    </a:solidFill>
                  </a:tcPr>
                </a:tc>
                <a:tc>
                  <a:txBody>
                    <a:bodyPr/>
                    <a:lstStyle/>
                    <a:p>
                      <a:r>
                        <a:rPr sz="1200" b="1">
                          <a:solidFill>
                            <a:srgbClr val="E69F00"/>
                          </a:solidFill>
                          <a:latin typeface="Helvetica Neue"/>
                        </a:rPr>
                        <a:t>out of the record</a:t>
                      </a:r>
                    </a:p>
                  </a:txBody>
                  <a:tcPr anchor="ctr">
                    <a:solidFill>
                      <a:srgbClr val="161A24"/>
                    </a:solidFill>
                  </a:tcPr>
                </a:tc>
                <a:tc>
                  <a:txBody>
                    <a:bodyPr/>
                    <a:lstStyle/>
                    <a:p>
                      <a:r>
                        <a:rPr sz="1200" b="1">
                          <a:solidFill>
                            <a:srgbClr val="E69F00"/>
                          </a:solidFill>
                          <a:latin typeface="Helvetica Neue"/>
                        </a:rPr>
                        <a:t>so no field can carry meaning by appearance</a:t>
                      </a:r>
                    </a:p>
                  </a:txBody>
                  <a:tcPr anchor="ctr">
                    <a:solidFill>
                      <a:srgbClr val="161A24"/>
                    </a:solidFill>
                  </a:tcPr>
                </a:tc>
              </a:tr>
              <a:tr h="329184">
                <a:tc>
                  <a:txBody>
                    <a:bodyPr/>
                    <a:lstStyle/>
                    <a:p>
                      <a:r>
                        <a:rPr sz="1200" b="1">
                          <a:solidFill>
                            <a:srgbClr val="E69F00"/>
                          </a:solidFill>
                          <a:latin typeface="Helvetica Neue"/>
                        </a:rPr>
                        <a:t>Accessibility</a:t>
                      </a:r>
                    </a:p>
                  </a:txBody>
                  <a:tcPr anchor="ctr">
                    <a:solidFill>
                      <a:srgbClr val="11141C"/>
                    </a:solidFill>
                  </a:tcPr>
                </a:tc>
                <a:tc>
                  <a:txBody>
                    <a:bodyPr/>
                    <a:lstStyle/>
                    <a:p>
                      <a:r>
                        <a:rPr sz="1200" b="1">
                          <a:solidFill>
                            <a:srgbClr val="E69F00"/>
                          </a:solidFill>
                          <a:latin typeface="Helvetica Neue"/>
                        </a:rPr>
                        <a:t>hard constraint</a:t>
                      </a:r>
                      <a:r>
                        <a:rPr sz="1200" b="1">
                          <a:solidFill>
                            <a:srgbClr val="E69F00"/>
                          </a:solidFill>
                          <a:latin typeface="Helvetica Neue"/>
                        </a:rPr>
                        <a:t>, tested</a:t>
                      </a:r>
                    </a:p>
                  </a:txBody>
                  <a:tcPr anchor="ctr">
                    <a:solidFill>
                      <a:srgbClr val="11141C"/>
                    </a:solidFill>
                  </a:tcPr>
                </a:tc>
                <a:tc>
                  <a:txBody>
                    <a:bodyPr/>
                    <a:lstStyle/>
                    <a:p>
                      <a:r>
                        <a:rPr sz="1200" b="1">
                          <a:solidFill>
                            <a:srgbClr val="E69F00"/>
                          </a:solidFill>
                          <a:latin typeface="Helvetica Neue"/>
                        </a:rPr>
                        <a:t>role by shape, polarity by texture</a:t>
                      </a:r>
                    </a:p>
                  </a:txBody>
                  <a:tcPr anchor="ctr">
                    <a:solidFill>
                      <a:srgbClr val="11141C"/>
                    </a:solidFill>
                  </a:tcPr>
                </a:tc>
              </a:tr>
              <a:tr h="329184">
                <a:tc>
                  <a:txBody>
                    <a:bodyPr/>
                    <a:lstStyle/>
                    <a:p>
                      <a:r>
                        <a:rPr sz="1200" b="1">
                          <a:solidFill>
                            <a:srgbClr val="E69F00"/>
                          </a:solidFill>
                          <a:latin typeface="Helvetica Neue"/>
                        </a:rPr>
                        <a:t>Do first</a:t>
                      </a:r>
                    </a:p>
                  </a:txBody>
                  <a:tcPr anchor="ctr">
                    <a:solidFill>
                      <a:srgbClr val="161A24"/>
                    </a:solidFill>
                  </a:tcPr>
                </a:tc>
                <a:tc>
                  <a:txBody>
                    <a:bodyPr/>
                    <a:lstStyle/>
                    <a:p>
                      <a:r>
                        <a:rPr sz="1200" b="1">
                          <a:solidFill>
                            <a:srgbClr val="E69F00"/>
                          </a:solidFill>
                          <a:latin typeface="Helvetica Neue"/>
                        </a:rPr>
                        <a:t>build the vocabulary file</a:t>
                      </a:r>
                    </a:p>
                  </a:txBody>
                  <a:tcPr anchor="ctr">
                    <a:solidFill>
                      <a:srgbClr val="161A24"/>
                    </a:solidFill>
                  </a:tcPr>
                </a:tc>
                <a:tc>
                  <a:txBody>
                    <a:bodyPr/>
                    <a:lstStyle/>
                    <a:p>
                      <a:r>
                        <a:rPr sz="1200" b="1">
                          <a:solidFill>
                            <a:srgbClr val="E69F00"/>
                          </a:solidFill>
                          <a:latin typeface="Helvetica Neue"/>
                        </a:rPr>
                        <a:t>the only artifact every proposal shares</a:t>
                      </a:r>
                    </a:p>
                  </a:txBody>
                  <a:tcPr anchor="ctr">
                    <a:solidFill>
                      <a:srgbClr val="161A24"/>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Detail in 07-recommendation.md</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468880"/>
            <a:ext cx="1005840" cy="381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97480"/>
            <a:ext cx="9997135" cy="2194560"/>
          </a:xfrm>
          <a:prstGeom prst="rect">
            <a:avLst/>
          </a:prstGeom>
          <a:noFill/>
        </p:spPr>
        <p:txBody>
          <a:bodyPr wrap="square" anchor="t" lIns="0" rIns="0" tIns="0" bIns="0">
            <a:spAutoFit/>
          </a:bodyPr>
          <a:lstStyle/>
          <a:p>
            <a:pPr algn="l">
              <a:spcAft>
                <a:spcPts val="1200"/>
              </a:spcAft>
            </a:pPr>
            <a:r>
              <a:rPr sz="1300" b="1" i="0">
                <a:solidFill>
                  <a:srgbClr val="E69F00"/>
                </a:solidFill>
                <a:latin typeface="Helvetica Neue"/>
              </a:rPr>
              <a:t>PART ONE</a:t>
            </a:r>
          </a:p>
          <a:p>
            <a:pPr algn="l">
              <a:spcAft>
                <a:spcPts val="1200"/>
              </a:spcAft>
            </a:pPr>
            <a:r>
              <a:rPr sz="3400" b="1" i="0">
                <a:solidFill>
                  <a:srgbClr val="F2F3F7"/>
                </a:solidFill>
                <a:latin typeface="Helvetica Neue"/>
              </a:rPr>
              <a:t>The problem</a:t>
            </a:r>
          </a:p>
          <a:p>
            <a:pPr algn="l">
              <a:spcAft>
                <a:spcPts val="600"/>
              </a:spcAft>
            </a:pPr>
            <a:r>
              <a:rPr sz="1500" b="0" i="0">
                <a:solidFill>
                  <a:srgbClr val="9AA0AE"/>
                </a:solidFill>
                <a:latin typeface="Helvetica Neue"/>
              </a:rPr>
              <a:t>What the current format is, and what is actually wrong with it</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Four things were competing for one name</a:t>
            </a:r>
          </a:p>
          <a:p>
            <a:pPr algn="l">
              <a:spcAft>
                <a:spcPts val="600"/>
              </a:spcAft>
            </a:pPr>
            <a:r>
              <a:rPr sz="1300" b="0" i="0">
                <a:solidFill>
                  <a:srgbClr val="9AA0AE"/>
                </a:solidFill>
                <a:latin typeface="Helvetica Neue"/>
              </a:rPr>
              <a:t>This is why the naming conversation went in circles</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a:t>
            </a:r>
            <a:r>
              <a:rPr sz="1500" b="1" i="0">
                <a:solidFill>
                  <a:srgbClr val="F2F3F7"/>
                </a:solidFill>
                <a:latin typeface="Helvetica Neue"/>
              </a:rPr>
              <a:t>The app</a:t>
            </a:r>
            <a:r>
              <a:rPr sz="1500" b="0" i="0">
                <a:solidFill>
                  <a:srgbClr val="F2F3F7"/>
                </a:solidFill>
                <a:latin typeface="Helvetica Neue"/>
              </a:rPr>
              <a:t> — hand, model and voice annotation.  Named: LensMark.</a:t>
            </a:r>
          </a:p>
          <a:p>
            <a:pPr algn="l">
              <a:spcAft>
                <a:spcPts val="900"/>
              </a:spcAft>
            </a:pPr>
            <a:r>
              <a:rPr sz="1500" b="0" i="0">
                <a:solidFill>
                  <a:srgbClr val="F2F3F7"/>
                </a:solidFill>
                <a:latin typeface="Helvetica Neue"/>
              </a:rPr>
              <a:t>– </a:t>
            </a:r>
            <a:r>
              <a:rPr sz="1500" b="1" i="0">
                <a:solidFill>
                  <a:srgbClr val="F2F3F7"/>
                </a:solidFill>
                <a:latin typeface="Helvetica Neue"/>
              </a:rPr>
              <a:t>The symbolic notation</a:t>
            </a:r>
            <a:r>
              <a:rPr sz="1500" b="0" i="0">
                <a:solidFill>
                  <a:srgbClr val="F2F3F7"/>
                </a:solidFill>
                <a:latin typeface="Helvetica Neue"/>
              </a:rPr>
              <a:t> — what the marks mean.  Unnamed.</a:t>
            </a:r>
          </a:p>
          <a:p>
            <a:pPr algn="l">
              <a:spcAft>
                <a:spcPts val="900"/>
              </a:spcAft>
            </a:pPr>
            <a:r>
              <a:rPr sz="1500" b="0" i="0">
                <a:solidFill>
                  <a:srgbClr val="F2F3F7"/>
                </a:solidFill>
                <a:latin typeface="Helvetica Neue"/>
              </a:rPr>
              <a:t>– </a:t>
            </a:r>
            <a:r>
              <a:rPr sz="1500" b="1" i="0">
                <a:solidFill>
                  <a:srgbClr val="F2F3F7"/>
                </a:solidFill>
                <a:latin typeface="Helvetica Neue"/>
              </a:rPr>
              <a:t>The metadata format</a:t>
            </a:r>
            <a:r>
              <a:rPr sz="1500" b="0" i="0">
                <a:solidFill>
                  <a:srgbClr val="F2F3F7"/>
                </a:solidFill>
                <a:latin typeface="Helvetica Neue"/>
              </a:rPr>
              <a:t> — vector JSON, provenance, render contract.  Unnamed.</a:t>
            </a:r>
          </a:p>
          <a:p>
            <a:pPr algn="l">
              <a:spcAft>
                <a:spcPts val="900"/>
              </a:spcAft>
            </a:pPr>
            <a:r>
              <a:rPr sz="1500" b="0" i="0">
                <a:solidFill>
                  <a:srgbClr val="F2F3F7"/>
                </a:solidFill>
                <a:latin typeface="Helvetica Neue"/>
              </a:rPr>
              <a:t>– </a:t>
            </a:r>
            <a:r>
              <a:rPr sz="1500" b="1" i="0">
                <a:solidFill>
                  <a:srgbClr val="F2F3F7"/>
                </a:solidFill>
                <a:latin typeface="Helvetica Neue"/>
              </a:rPr>
              <a:t>The standard as a whole</a:t>
            </a:r>
            <a:r>
              <a:rPr sz="1500" b="0" i="0">
                <a:solidFill>
                  <a:srgbClr val="F2F3F7"/>
                </a:solidFill>
                <a:latin typeface="Helvetica Neue"/>
              </a:rPr>
              <a:t> — what gets published and adopted.  Unnamed.</a:t>
            </a:r>
          </a:p>
          <a:p>
            <a:pPr algn="l">
              <a:spcAft>
                <a:spcPts val="900"/>
              </a:spcAft>
            </a:pPr>
            <a:r>
              <a:rPr sz="1500" b="0" i="0">
                <a:solidFill>
                  <a:srgbClr val="56B4E9"/>
                </a:solidFill>
                <a:latin typeface="Helvetica Neue"/>
              </a:rPr>
              <a:t>– Naming the fourth separately is what unlocks the rest: a general core with domain profiles, so the lens work becomes </a:t>
            </a:r>
            <a:r>
              <a:rPr sz="1500" b="0" i="0">
                <a:solidFill>
                  <a:srgbClr val="56B4E9"/>
                </a:solidFill>
                <a:latin typeface="Menlo"/>
              </a:rPr>
              <a:t>astromark/lens/1.0</a:t>
            </a:r>
            <a:r>
              <a:rPr sz="1500" b="0" i="0">
                <a:solidFill>
                  <a:srgbClr val="56B4E9"/>
                </a:solidFill>
                <a:latin typeface="Helvetica Neue"/>
              </a:rPr>
              <a:t> rather than the whole thing, and LensMark keeps its name as the reference implementation.</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naming-study.md</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the current record looks like</a:t>
            </a:r>
          </a:p>
          <a:p>
            <a:pPr algn="l">
              <a:spcAft>
                <a:spcPts val="600"/>
              </a:spcAft>
            </a:pPr>
            <a:r>
              <a:rPr sz="1300" b="0" i="0">
                <a:solidFill>
                  <a:srgbClr val="9AA0AE"/>
                </a:solidFill>
                <a:latin typeface="Helvetica Neue"/>
              </a:rPr>
              <a:t>lensmark/1.0 — 11,184 characters per deck on average, across 19 real decks</a:t>
            </a:r>
          </a:p>
        </p:txBody>
      </p:sp>
      <p:sp>
        <p:nvSpPr>
          <p:cNvPr id="3" name="Rounded Rectangle 2"/>
          <p:cNvSpPr/>
          <p:nvPr/>
        </p:nvSpPr>
        <p:spPr>
          <a:xfrm>
            <a:off x="548640" y="1417320"/>
            <a:ext cx="11094415" cy="4069074"/>
          </a:xfrm>
          <a:prstGeom prst="roundRect">
            <a:avLst/>
          </a:prstGeom>
          <a:solidFill>
            <a:srgbClr val="16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545775" cy="3611874"/>
          </a:xfrm>
          <a:prstGeom prst="rect">
            <a:avLst/>
          </a:prstGeom>
          <a:noFill/>
        </p:spPr>
        <p:txBody>
          <a:bodyPr wrap="square" anchor="t" lIns="0" rIns="0" tIns="0" bIns="0">
            <a:spAutoFit/>
          </a:bodyPr>
          <a:lstStyle/>
          <a:p>
            <a:pPr algn="l">
              <a:spcAft>
                <a:spcPts val="300"/>
              </a:spcAft>
            </a:pPr>
            <a:r>
              <a:rPr sz="1200" b="0" i="0">
                <a:solidFill>
                  <a:srgbClr val="F2F3F7"/>
                </a:solidFill>
                <a:latin typeface="Menlo"/>
              </a:rPr>
              <a:t>{</a:t>
            </a:r>
          </a:p>
          <a:p>
            <a:pPr algn="l">
              <a:spcAft>
                <a:spcPts val="300"/>
              </a:spcAft>
            </a:pPr>
            <a:r>
              <a:rPr sz="1200" b="0" i="0">
                <a:solidFill>
                  <a:srgbClr val="F2F3F7"/>
                </a:solidFill>
                <a:latin typeface="Menlo"/>
              </a:rPr>
              <a:t>  "schema_version": "lensmark/1.0",</a:t>
            </a:r>
          </a:p>
          <a:p>
            <a:pPr algn="l">
              <a:spcAft>
                <a:spcPts val="300"/>
              </a:spcAft>
            </a:pPr>
            <a:r>
              <a:rPr sz="1200" b="0" i="0">
                <a:solidFill>
                  <a:srgbClr val="F2F3F7"/>
                </a:solidFill>
                <a:latin typeface="Menlo"/>
              </a:rPr>
              <a:t>  "image":  { "sha256": …, "cutout_arcsec": 16.0, "pixel_scale_arcsec": 0.0397, … },</a:t>
            </a:r>
          </a:p>
          <a:p>
            <a:pPr algn="l">
              <a:spcAft>
                <a:spcPts val="300"/>
              </a:spcAft>
            </a:pPr>
            <a:r>
              <a:rPr sz="1200" b="0" i="0">
                <a:solidFill>
                  <a:srgbClr val="F2F3F7"/>
                </a:solidFill>
                <a:latin typeface="Menlo"/>
              </a:rPr>
              <a:t>  "system": { "grade": "A", "theta_e": { "value_arcsec": 1.45, "method": "geometric" },</a:t>
            </a:r>
          </a:p>
          <a:p>
            <a:pPr algn="l">
              <a:spcAft>
                <a:spcPts val="300"/>
              </a:spcAft>
            </a:pPr>
            <a:r>
              <a:rPr sz="1200" b="0" i="0">
                <a:solidFill>
                  <a:srgbClr val="F2F3F7"/>
                </a:solidFill>
                <a:latin typeface="Menlo"/>
              </a:rPr>
              <a:t>              "verdict": "likely_lens", "description": "free text …" },</a:t>
            </a:r>
          </a:p>
          <a:p>
            <a:pPr algn="l">
              <a:spcAft>
                <a:spcPts val="300"/>
              </a:spcAft>
            </a:pPr>
            <a:r>
              <a:rPr sz="1200" b="0" i="0">
                <a:solidFill>
                  <a:srgbClr val="F2F3F7"/>
                </a:solidFill>
                <a:latin typeface="Menlo"/>
              </a:rPr>
              <a:t>  "style_defaults": { … the whole style table, copied into every file … },</a:t>
            </a:r>
          </a:p>
          <a:p>
            <a:pPr algn="l">
              <a:spcAft>
                <a:spcPts val="300"/>
              </a:spcAft>
            </a:pPr>
            <a:r>
              <a:rPr sz="1200" b="0" i="0">
                <a:solidFill>
                  <a:srgbClr val="F2F3F7"/>
                </a:solidFill>
                <a:latin typeface="Menlo"/>
              </a:rPr>
              <a:t>  "items": [</a:t>
            </a:r>
          </a:p>
          <a:p>
            <a:pPr algn="l">
              <a:spcAft>
                <a:spcPts val="300"/>
              </a:spcAft>
            </a:pPr>
            <a:r>
              <a:rPr sz="1200" b="0" i="0">
                <a:solidFill>
                  <a:srgbClr val="F2F3F7"/>
                </a:solidFill>
                <a:latin typeface="Menlo"/>
              </a:rPr>
              <a:t>    { "type": "arrow", "tail": [.40,.30], "head": [.46,.40],</a:t>
            </a:r>
          </a:p>
          <a:p>
            <a:pPr algn="l">
              <a:spcAft>
                <a:spcPts val="300"/>
              </a:spcAft>
            </a:pPr>
            <a:r>
              <a:rPr sz="1200" b="0" i="0">
                <a:solidFill>
                  <a:srgbClr val="F2F3F7"/>
                </a:solidFill>
                <a:latin typeface="Menlo"/>
              </a:rPr>
              <a:t>      "label": "arc", "color": "cyan" },</a:t>
            </a:r>
          </a:p>
          <a:p>
            <a:pPr algn="l">
              <a:spcAft>
                <a:spcPts val="300"/>
              </a:spcAft>
            </a:pPr>
            <a:r>
              <a:rPr sz="1200" b="0" i="0">
                <a:solidFill>
                  <a:srgbClr val="F2F3F7"/>
                </a:solidFill>
                <a:latin typeface="Menlo"/>
              </a:rPr>
              <a:t>    { "type": "mask_circle", "center": [.80,.20], "radius_arcsec": 0.9,</a:t>
            </a:r>
          </a:p>
          <a:p>
            <a:pPr algn="l">
              <a:spcAft>
                <a:spcPts val="300"/>
              </a:spcAft>
            </a:pPr>
            <a:r>
              <a:rPr sz="1200" b="0" i="0">
                <a:solidFill>
                  <a:srgbClr val="F2F3F7"/>
                </a:solidFill>
                <a:latin typeface="Menlo"/>
              </a:rPr>
              <a:t>      "kind": "galaxy", "color": "mask_red" },</a:t>
            </a:r>
          </a:p>
          <a:p>
            <a:pPr algn="l">
              <a:spcAft>
                <a:spcPts val="300"/>
              </a:spcAft>
            </a:pPr>
            <a:r>
              <a:rPr sz="1200" b="0" i="0">
                <a:solidFill>
                  <a:srgbClr val="F2F3F7"/>
                </a:solidFill>
                <a:latin typeface="Menlo"/>
              </a:rPr>
              <a:t>    { "type": "einstein_ring", "center_ref": "…", "theta_e_arcsec": 1.45 }</a:t>
            </a:r>
          </a:p>
          <a:p>
            <a:pPr algn="l">
              <a:spcAft>
                <a:spcPts val="300"/>
              </a:spcAft>
            </a:pPr>
            <a:r>
              <a:rPr sz="1200" b="0" i="0">
                <a:solidFill>
                  <a:srgbClr val="F2F3F7"/>
                </a:solidFill>
                <a:latin typeface="Menlo"/>
              </a:rPr>
              <a:t>  ]</a:t>
            </a:r>
          </a:p>
          <a:p>
            <a:pPr algn="l">
              <a:spcAft>
                <a:spcPts val="300"/>
              </a:spcAft>
            </a:pPr>
            <a:r>
              <a:rPr sz="1200" b="0" i="0">
                <a:solidFill>
                  <a:srgbClr val="F2F3F7"/>
                </a:solidFill>
                <a:latin typeface="Menlo"/>
              </a:rPr>
              <a:t>}</a:t>
            </a:r>
          </a:p>
        </p:txBody>
      </p:sp>
      <p:sp>
        <p:nvSpPr>
          <p:cNvPr id="5" name="TextBox 4"/>
          <p:cNvSpPr txBox="1"/>
          <p:nvPr/>
        </p:nvSpPr>
        <p:spPr>
          <a:xfrm>
            <a:off x="548640" y="5714994"/>
            <a:ext cx="11094415" cy="685806"/>
          </a:xfrm>
          <a:prstGeom prst="rect">
            <a:avLst/>
          </a:prstGeom>
          <a:noFill/>
        </p:spPr>
        <p:txBody>
          <a:bodyPr wrap="square" anchor="t" lIns="0" rIns="0" tIns="0" bIns="0">
            <a:spAutoFit/>
          </a:bodyPr>
          <a:lstStyle/>
          <a:p>
            <a:pPr algn="l">
              <a:spcAft>
                <a:spcPts val="600"/>
              </a:spcAft>
            </a:pPr>
            <a:r>
              <a:rPr sz="1400" b="0" i="0">
                <a:solidFill>
                  <a:srgbClr val="9AA0AE"/>
                </a:solidFill>
                <a:latin typeface="Helvetica Neue"/>
              </a:rPr>
              <a:t>Geometry is normalized [u, v]; sizes are arcsec; the render is already deterministic and pinned by nine golden hashes. The bones are good.</a:t>
            </a:r>
          </a:p>
        </p:txBody>
      </p:sp>
      <p:sp>
        <p:nvSpPr>
          <p:cNvPr id="6" name="TextBox 5"/>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7" name="TextBox 6"/>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Nine structural problems — and what each one really is</a:t>
            </a:r>
          </a:p>
          <a:p>
            <a:pPr algn="l">
              <a:spcAft>
                <a:spcPts val="600"/>
              </a:spcAft>
            </a:pPr>
            <a:r>
              <a:rPr sz="1300" b="0" i="0">
                <a:solidFill>
                  <a:srgbClr val="9AA0AE"/>
                </a:solidFill>
                <a:latin typeface="Helvetica Neue"/>
              </a:rPr>
              <a:t>Audited against the codebase, not inferred</a:t>
            </a:r>
          </a:p>
        </p:txBody>
      </p:sp>
      <p:graphicFrame>
        <p:nvGraphicFramePr>
          <p:cNvPr id="3" name="Table 2"/>
          <p:cNvGraphicFramePr>
            <a:graphicFrameLocks noGrp="1"/>
          </p:cNvGraphicFramePr>
          <p:nvPr/>
        </p:nvGraphicFramePr>
        <p:xfrm>
          <a:off x="548640" y="1417320"/>
          <a:ext cx="11094414" cy="3291840"/>
        </p:xfrm>
        <a:graphic>
          <a:graphicData uri="http://schemas.openxmlformats.org/drawingml/2006/table">
            <a:tbl>
              <a:tblPr firstRow="1" bandRow="1">
                <a:tableStyleId>{5C22544A-7EE6-4342-B048-85BDC9FD1C3A}</a:tableStyleId>
              </a:tblPr>
              <a:tblGrid>
                <a:gridCol w="5769095"/>
                <a:gridCol w="5325319"/>
              </a:tblGrid>
              <a:tr h="329184">
                <a:tc>
                  <a:txBody>
                    <a:bodyPr/>
                    <a:lstStyle/>
                    <a:p>
                      <a:r>
                        <a:rPr sz="1200" b="1">
                          <a:solidFill>
                            <a:srgbClr val="56B4E9"/>
                          </a:solidFill>
                          <a:latin typeface="Helvetica Neue"/>
                        </a:rPr>
                        <a:t>Symptom</a:t>
                      </a:r>
                    </a:p>
                  </a:txBody>
                  <a:tcPr anchor="ctr">
                    <a:solidFill>
                      <a:srgbClr val="1A1E28"/>
                    </a:solidFill>
                  </a:tcPr>
                </a:tc>
                <a:tc>
                  <a:txBody>
                    <a:bodyPr/>
                    <a:lstStyle/>
                    <a:p>
                      <a:r>
                        <a:rPr sz="1200" b="1">
                          <a:solidFill>
                            <a:srgbClr val="56B4E9"/>
                          </a:solidFill>
                          <a:latin typeface="Helvetica Neue"/>
                        </a:rPr>
                        <a:t>What it actually is</a:t>
                      </a:r>
                    </a:p>
                  </a:txBody>
                  <a:tcPr anchor="ctr">
                    <a:solidFill>
                      <a:srgbClr val="1A1E28"/>
                    </a:solidFill>
                  </a:tcPr>
                </a:tc>
              </a:tr>
              <a:tr h="329184">
                <a:tc>
                  <a:txBody>
                    <a:bodyPr/>
                    <a:lstStyle/>
                    <a:p>
                      <a:r>
                        <a:rPr sz="1200" b="0">
                          <a:solidFill>
                            <a:srgbClr val="F2F3F7"/>
                          </a:solidFill>
                          <a:latin typeface="Helvetica Neue"/>
                        </a:rPr>
                        <a:t>Enums defined in </a:t>
                      </a:r>
                      <a:r>
                        <a:rPr sz="1200" b="1">
                          <a:solidFill>
                            <a:srgbClr val="F2F3F7"/>
                          </a:solidFill>
                          <a:latin typeface="Helvetica Neue"/>
                        </a:rPr>
                        <a:t>six</a:t>
                      </a:r>
                      <a:r>
                        <a:rPr sz="1200" b="0">
                          <a:solidFill>
                            <a:srgbClr val="F2F3F7"/>
                          </a:solidFill>
                          <a:latin typeface="Helvetica Neue"/>
                        </a:rPr>
                        <a:t> uncoordinated places</a:t>
                      </a:r>
                    </a:p>
                  </a:txBody>
                  <a:tcPr anchor="ctr">
                    <a:solidFill>
                      <a:srgbClr val="161A24"/>
                    </a:solidFill>
                  </a:tcPr>
                </a:tc>
                <a:tc>
                  <a:txBody>
                    <a:bodyPr/>
                    <a:lstStyle/>
                    <a:p>
                      <a:r>
                        <a:rPr sz="1200" b="0">
                          <a:solidFill>
                            <a:srgbClr val="F2F3F7"/>
                          </a:solidFill>
                          <a:latin typeface="Helvetica Neue"/>
                        </a:rPr>
                        <a:t>term identity, unowned</a:t>
                      </a:r>
                    </a:p>
                  </a:txBody>
                  <a:tcPr anchor="ctr">
                    <a:solidFill>
                      <a:srgbClr val="161A24"/>
                    </a:solidFill>
                  </a:tcPr>
                </a:tc>
              </a:tr>
              <a:tr h="329184">
                <a:tc>
                  <a:txBody>
                    <a:bodyPr/>
                    <a:lstStyle/>
                    <a:p>
                      <a:r>
                        <a:rPr sz="1200" b="0">
                          <a:solidFill>
                            <a:srgbClr val="F2F3F7"/>
                          </a:solidFill>
                          <a:latin typeface="Helvetica Neue"/>
                        </a:rPr>
                        <a:t>θ_E stored twice and unlinked</a:t>
                      </a:r>
                    </a:p>
                  </a:txBody>
                  <a:tcPr anchor="ctr">
                    <a:solidFill>
                      <a:srgbClr val="11141C"/>
                    </a:solidFill>
                  </a:tcPr>
                </a:tc>
                <a:tc>
                  <a:txBody>
                    <a:bodyPr/>
                    <a:lstStyle/>
                    <a:p>
                      <a:r>
                        <a:rPr sz="1200" b="0">
                          <a:solidFill>
                            <a:srgbClr val="F2F3F7"/>
                          </a:solidFill>
                          <a:latin typeface="Helvetica Neue"/>
                        </a:rPr>
                        <a:t>identity of a *measured quantity*</a:t>
                      </a:r>
                    </a:p>
                  </a:txBody>
                  <a:tcPr anchor="ctr">
                    <a:solidFill>
                      <a:srgbClr val="11141C"/>
                    </a:solidFill>
                  </a:tcPr>
                </a:tc>
              </a:tr>
              <a:tr h="329184">
                <a:tc>
                  <a:txBody>
                    <a:bodyPr/>
                    <a:lstStyle/>
                    <a:p>
                      <a:r>
                        <a:rPr sz="1200" b="0">
                          <a:solidFill>
                            <a:srgbClr val="56B4E9"/>
                          </a:solidFill>
                          <a:latin typeface="Menlo"/>
                        </a:rPr>
                        <a:t>theta_e.method</a:t>
                      </a:r>
                      <a:r>
                        <a:rPr sz="1200" b="0">
                          <a:solidFill>
                            <a:srgbClr val="F2F3F7"/>
                          </a:solidFill>
                          <a:latin typeface="Helvetica Neue"/>
                        </a:rPr>
                        <a:t> a free string despite three named rules</a:t>
                      </a:r>
                    </a:p>
                  </a:txBody>
                  <a:tcPr anchor="ctr">
                    <a:solidFill>
                      <a:srgbClr val="161A24"/>
                    </a:solidFill>
                  </a:tcPr>
                </a:tc>
                <a:tc>
                  <a:txBody>
                    <a:bodyPr/>
                    <a:lstStyle/>
                    <a:p>
                      <a:r>
                        <a:rPr sz="1200" b="0">
                          <a:solidFill>
                            <a:srgbClr val="F2F3F7"/>
                          </a:solidFill>
                          <a:latin typeface="Helvetica Neue"/>
                        </a:rPr>
                        <a:t>a term with no vocabulary</a:t>
                      </a:r>
                    </a:p>
                  </a:txBody>
                  <a:tcPr anchor="ctr">
                    <a:solidFill>
                      <a:srgbClr val="161A24"/>
                    </a:solidFill>
                  </a:tcPr>
                </a:tc>
              </a:tr>
              <a:tr h="329184">
                <a:tc>
                  <a:txBody>
                    <a:bodyPr/>
                    <a:lstStyle/>
                    <a:p>
                      <a:r>
                        <a:rPr sz="1200" b="0">
                          <a:solidFill>
                            <a:srgbClr val="F2F3F7"/>
                          </a:solidFill>
                          <a:latin typeface="Helvetica Neue"/>
                        </a:rPr>
                        <a:t>green = deflector; colours reserved by item type</a:t>
                      </a:r>
                    </a:p>
                  </a:txBody>
                  <a:tcPr anchor="ctr">
                    <a:solidFill>
                      <a:srgbClr val="11141C"/>
                    </a:solidFill>
                  </a:tcPr>
                </a:tc>
                <a:tc>
                  <a:txBody>
                    <a:bodyPr/>
                    <a:lstStyle/>
                    <a:p>
                      <a:r>
                        <a:rPr sz="1200" b="0">
                          <a:solidFill>
                            <a:srgbClr val="F2F3F7"/>
                          </a:solidFill>
                          <a:latin typeface="Helvetica Neue"/>
                        </a:rPr>
                        <a:t>a term smuggled into portrayal</a:t>
                      </a:r>
                    </a:p>
                  </a:txBody>
                  <a:tcPr anchor="ctr">
                    <a:solidFill>
                      <a:srgbClr val="11141C"/>
                    </a:solidFill>
                  </a:tcPr>
                </a:tc>
              </a:tr>
              <a:tr h="329184">
                <a:tc>
                  <a:txBody>
                    <a:bodyPr/>
                    <a:lstStyle/>
                    <a:p>
                      <a:r>
                        <a:rPr sz="1200" b="0">
                          <a:solidFill>
                            <a:srgbClr val="F2F3F7"/>
                          </a:solidFill>
                          <a:latin typeface="Helvetica Neue"/>
                        </a:rPr>
                        <a:t>prose refers to arrows *by colour*</a:t>
                      </a:r>
                    </a:p>
                  </a:txBody>
                  <a:tcPr anchor="ctr">
                    <a:solidFill>
                      <a:srgbClr val="161A24"/>
                    </a:solidFill>
                  </a:tcPr>
                </a:tc>
                <a:tc>
                  <a:txBody>
                    <a:bodyPr/>
                    <a:lstStyle/>
                    <a:p>
                      <a:r>
                        <a:rPr sz="1200" b="0">
                          <a:solidFill>
                            <a:srgbClr val="F2F3F7"/>
                          </a:solidFill>
                          <a:latin typeface="Helvetica Neue"/>
                        </a:rPr>
                        <a:t>a term with no referenceable id</a:t>
                      </a:r>
                    </a:p>
                  </a:txBody>
                  <a:tcPr anchor="ctr">
                    <a:solidFill>
                      <a:srgbClr val="161A24"/>
                    </a:solidFill>
                  </a:tcPr>
                </a:tc>
              </a:tr>
              <a:tr h="329184">
                <a:tc>
                  <a:txBody>
                    <a:bodyPr/>
                    <a:lstStyle/>
                    <a:p>
                      <a:r>
                        <a:rPr sz="1200" b="0">
                          <a:solidFill>
                            <a:srgbClr val="F2F3F7"/>
                          </a:solidFill>
                          <a:latin typeface="Helvetica Neue"/>
                        </a:rPr>
                        <a:t>the style table copied into every data file</a:t>
                      </a:r>
                    </a:p>
                  </a:txBody>
                  <a:tcPr anchor="ctr">
                    <a:solidFill>
                      <a:srgbClr val="11141C"/>
                    </a:solidFill>
                  </a:tcPr>
                </a:tc>
                <a:tc>
                  <a:txBody>
                    <a:bodyPr/>
                    <a:lstStyle/>
                    <a:p>
                      <a:r>
                        <a:rPr sz="1200" b="0">
                          <a:solidFill>
                            <a:srgbClr val="F2F3F7"/>
                          </a:solidFill>
                          <a:latin typeface="Helvetica Neue"/>
                        </a:rPr>
                        <a:t>portrayal had no identity, so it was inlined</a:t>
                      </a:r>
                    </a:p>
                  </a:txBody>
                  <a:tcPr anchor="ctr">
                    <a:solidFill>
                      <a:srgbClr val="11141C"/>
                    </a:solidFill>
                  </a:tcPr>
                </a:tc>
              </a:tr>
              <a:tr h="329184">
                <a:tc>
                  <a:txBody>
                    <a:bodyPr/>
                    <a:lstStyle/>
                    <a:p>
                      <a:r>
                        <a:rPr sz="1200" b="0">
                          <a:solidFill>
                            <a:srgbClr val="F2F3F7"/>
                          </a:solidFill>
                          <a:latin typeface="Helvetica Neue"/>
                        </a:rPr>
                        <a:t>no role field — semantics in a 40-char label</a:t>
                      </a:r>
                    </a:p>
                  </a:txBody>
                  <a:tcPr anchor="ctr">
                    <a:solidFill>
                      <a:srgbClr val="161A24"/>
                    </a:solidFill>
                  </a:tcPr>
                </a:tc>
                <a:tc>
                  <a:txBody>
                    <a:bodyPr/>
                    <a:lstStyle/>
                    <a:p>
                      <a:r>
                        <a:rPr sz="1200" b="0">
                          <a:solidFill>
                            <a:srgbClr val="F2F3F7"/>
                          </a:solidFill>
                          <a:latin typeface="Helvetica Neue"/>
                        </a:rPr>
                        <a:t>a term hidden in free text</a:t>
                      </a:r>
                    </a:p>
                  </a:txBody>
                  <a:tcPr anchor="ctr">
                    <a:solidFill>
                      <a:srgbClr val="161A24"/>
                    </a:solidFill>
                  </a:tcPr>
                </a:tc>
              </a:tr>
              <a:tr h="329184">
                <a:tc>
                  <a:txBody>
                    <a:bodyPr/>
                    <a:lstStyle/>
                    <a:p>
                      <a:r>
                        <a:rPr sz="1200" b="0">
                          <a:solidFill>
                            <a:srgbClr val="F2F3F7"/>
                          </a:solidFill>
                          <a:latin typeface="Helvetica Neue"/>
                        </a:rPr>
                        <a:t>no polarity</a:t>
                      </a:r>
                    </a:p>
                  </a:txBody>
                  <a:tcPr anchor="ctr">
                    <a:solidFill>
                      <a:srgbClr val="11141C"/>
                    </a:solidFill>
                  </a:tcPr>
                </a:tc>
                <a:tc>
                  <a:txBody>
                    <a:bodyPr/>
                    <a:lstStyle/>
                    <a:p>
                      <a:r>
                        <a:rPr sz="1200" b="0">
                          <a:solidFill>
                            <a:srgbClr val="F2F3F7"/>
                          </a:solidFill>
                          <a:latin typeface="Helvetica Neue"/>
                        </a:rPr>
                        <a:t>a missing term</a:t>
                      </a:r>
                    </a:p>
                  </a:txBody>
                  <a:tcPr anchor="ctr">
                    <a:solidFill>
                      <a:srgbClr val="11141C"/>
                    </a:solidFill>
                  </a:tcPr>
                </a:tc>
              </a:tr>
              <a:tr h="329184">
                <a:tc>
                  <a:txBody>
                    <a:bodyPr/>
                    <a:lstStyle/>
                    <a:p>
                      <a:r>
                        <a:rPr sz="1200" b="0">
                          <a:solidFill>
                            <a:srgbClr val="F2F3F7"/>
                          </a:solidFill>
                          <a:latin typeface="Helvetica Neue"/>
                        </a:rPr>
                        <a:t>no polygon, no secondary ring, no source grouping</a:t>
                      </a:r>
                    </a:p>
                  </a:txBody>
                  <a:tcPr anchor="ctr">
                    <a:solidFill>
                      <a:srgbClr val="161A24"/>
                    </a:solidFill>
                  </a:tcPr>
                </a:tc>
                <a:tc>
                  <a:txBody>
                    <a:bodyPr/>
                    <a:lstStyle/>
                    <a:p>
                      <a:r>
                        <a:rPr sz="1200" b="0">
                          <a:solidFill>
                            <a:srgbClr val="F2F3F7"/>
                          </a:solidFill>
                          <a:latin typeface="Helvetica Neue"/>
                        </a:rPr>
                        <a:t>missing terms, and a missing grouping term</a:t>
                      </a:r>
                    </a:p>
                  </a:txBody>
                  <a:tcPr anchor="ctr">
                    <a:solidFill>
                      <a:srgbClr val="161A24"/>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04-metadata-proposals.md §0</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E69F00"/>
                </a:solidFill>
                <a:latin typeface="Helvetica Neue"/>
              </a:rPr>
              <a:t>NINE FOR NINE</a:t>
            </a:r>
          </a:p>
          <a:p>
            <a:pPr algn="l">
              <a:spcAft>
                <a:spcPts val="1800"/>
              </a:spcAft>
            </a:pPr>
            <a:r>
              <a:rPr sz="3000" b="1" i="0">
                <a:solidFill>
                  <a:srgbClr val="F2F3F7"/>
                </a:solidFill>
                <a:latin typeface="Helvetica Neue"/>
              </a:rPr>
              <a:t>They are all vocabulary-identity problems.</a:t>
            </a:r>
          </a:p>
          <a:p>
            <a:pPr algn="l">
              <a:spcAft>
                <a:spcPts val="600"/>
              </a:spcAft>
            </a:pPr>
            <a:r>
              <a:rPr sz="1500" b="0" i="0">
                <a:solidFill>
                  <a:srgbClr val="9AA0AE"/>
                </a:solidFill>
                <a:latin typeface="Helvetica Neue"/>
              </a:rPr>
              <a:t>Not one would have been prevented by GeoJSON, by Web Annotation, or by tables.
So: choose the container for cheapness. Put the rigour in the vocabulary.</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sharpest instance</a:t>
            </a:r>
          </a:p>
          <a:p>
            <a:pPr algn="l">
              <a:spcAft>
                <a:spcPts val="600"/>
              </a:spcAft>
            </a:pPr>
            <a:r>
              <a:rPr sz="1300" b="0" i="0">
                <a:solidFill>
                  <a:srgbClr val="9AA0AE"/>
                </a:solidFill>
                <a:latin typeface="Helvetica Neue"/>
              </a:rPr>
              <a:t>How the current system decides what is a lens galaxy</a:t>
            </a:r>
          </a:p>
        </p:txBody>
      </p:sp>
      <p:sp>
        <p:nvSpPr>
          <p:cNvPr id="3" name="Rounded Rectangle 2"/>
          <p:cNvSpPr/>
          <p:nvPr/>
        </p:nvSpPr>
        <p:spPr>
          <a:xfrm>
            <a:off x="548640" y="1417320"/>
            <a:ext cx="11094415" cy="2633472"/>
          </a:xfrm>
          <a:prstGeom prst="roundRect">
            <a:avLst/>
          </a:prstGeom>
          <a:solidFill>
            <a:srgbClr val="16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545775" cy="2176272"/>
          </a:xfrm>
          <a:prstGeom prst="rect">
            <a:avLst/>
          </a:prstGeom>
          <a:noFill/>
        </p:spPr>
        <p:txBody>
          <a:bodyPr wrap="square" anchor="t" lIns="0" rIns="0" tIns="0" bIns="0">
            <a:spAutoFit/>
          </a:bodyPr>
          <a:lstStyle/>
          <a:p>
            <a:pPr algn="l">
              <a:spcAft>
                <a:spcPts val="300"/>
              </a:spcAft>
            </a:pPr>
            <a:r>
              <a:rPr sz="1500" b="0" i="0">
                <a:solidFill>
                  <a:srgbClr val="9AA0AE"/>
                </a:solidFill>
                <a:latin typeface="Menlo"/>
              </a:rPr>
              <a:t># lensmark/validate.py:75  — and again, independently, in frontend/src/geometry.ts</a:t>
            </a:r>
          </a:p>
          <a:p>
            <a:pPr algn="l">
              <a:spcAft>
                <a:spcPts val="300"/>
              </a:spcAft>
            </a:pPr>
            <a:r>
              <a:rPr sz="1500" b="0" i="0">
                <a:solidFill>
                  <a:srgbClr val="F2F3F7"/>
                </a:solidFill>
                <a:latin typeface="Menlo"/>
              </a:rPr>
              <a:t> </a:t>
            </a:r>
          </a:p>
          <a:p>
            <a:pPr algn="l">
              <a:spcAft>
                <a:spcPts val="300"/>
              </a:spcAft>
            </a:pPr>
            <a:r>
              <a:rPr sz="1500" b="0" i="0">
                <a:solidFill>
                  <a:srgbClr val="F2F3F7"/>
                </a:solidFill>
                <a:latin typeface="Menlo"/>
              </a:rPr>
              <a:t>def _is_deflector(label):</a:t>
            </a:r>
          </a:p>
          <a:p>
            <a:pPr algn="l">
              <a:spcAft>
                <a:spcPts val="300"/>
              </a:spcAft>
            </a:pPr>
            <a:r>
              <a:rPr sz="1500" b="0" i="0">
                <a:solidFill>
                  <a:srgbClr val="F2F3F7"/>
                </a:solidFill>
                <a:latin typeface="Menlo"/>
              </a:rPr>
              <a:t>    return bool(label) and "deflector" in label.lower()</a:t>
            </a:r>
          </a:p>
          <a:p>
            <a:pPr algn="l">
              <a:spcAft>
                <a:spcPts val="300"/>
              </a:spcAft>
            </a:pPr>
            <a:r>
              <a:rPr sz="1500" b="0" i="0">
                <a:solidFill>
                  <a:srgbClr val="F2F3F7"/>
                </a:solidFill>
                <a:latin typeface="Menlo"/>
              </a:rPr>
              <a:t> </a:t>
            </a:r>
          </a:p>
          <a:p>
            <a:pPr algn="l">
              <a:spcAft>
                <a:spcPts val="300"/>
              </a:spcAft>
            </a:pPr>
            <a:r>
              <a:rPr sz="1500" b="0" i="0">
                <a:solidFill>
                  <a:srgbClr val="9AA0AE"/>
                </a:solidFill>
                <a:latin typeface="Menlo"/>
              </a:rPr>
              <a:t># so this label renders GREEN — the colour that means lens mass:</a:t>
            </a:r>
          </a:p>
          <a:p>
            <a:pPr algn="l">
              <a:spcAft>
                <a:spcPts val="300"/>
              </a:spcAft>
            </a:pPr>
            <a:r>
              <a:rPr sz="1500" b="0" i="0">
                <a:solidFill>
                  <a:srgbClr val="D55E00"/>
                </a:solidFill>
                <a:latin typeface="Menlo"/>
              </a:rPr>
              <a:t>    "spiral arm, NOT a deflector"</a:t>
            </a:r>
          </a:p>
        </p:txBody>
      </p:sp>
      <p:sp>
        <p:nvSpPr>
          <p:cNvPr id="5" name="TextBox 4"/>
          <p:cNvSpPr txBox="1"/>
          <p:nvPr/>
        </p:nvSpPr>
        <p:spPr>
          <a:xfrm>
            <a:off x="548640" y="4279392"/>
            <a:ext cx="11094415" cy="2121408"/>
          </a:xfrm>
          <a:prstGeom prst="rect">
            <a:avLst/>
          </a:prstGeom>
          <a:noFill/>
        </p:spPr>
        <p:txBody>
          <a:bodyPr wrap="square" anchor="t" lIns="0" rIns="0" tIns="0" bIns="0">
            <a:spAutoFit/>
          </a:bodyPr>
          <a:lstStyle/>
          <a:p>
            <a:pPr algn="l">
              <a:spcAft>
                <a:spcPts val="600"/>
              </a:spcAft>
            </a:pPr>
            <a:r>
              <a:rPr sz="1400" b="0" i="0">
                <a:solidFill>
                  <a:srgbClr val="9AA0AE"/>
                </a:solidFill>
                <a:latin typeface="Helvetica Neue"/>
              </a:rPr>
              <a:t>The semantics of the standard ride on substring-matching an optional 40-character string, in two languages, with no shared definition.</a:t>
            </a:r>
          </a:p>
        </p:txBody>
      </p:sp>
      <p:sp>
        <p:nvSpPr>
          <p:cNvPr id="6" name="TextBox 5"/>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7" name="TextBox 6"/>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the best annotations so far look like</a:t>
            </a:r>
          </a:p>
          <a:p>
            <a:pPr algn="l">
              <a:spcAft>
                <a:spcPts val="600"/>
              </a:spcAft>
            </a:pPr>
            <a:r>
              <a:rPr sz="1300" b="0" i="0">
                <a:solidFill>
                  <a:srgbClr val="9AA0AE"/>
                </a:solidFill>
                <a:latin typeface="Helvetica Neue"/>
              </a:rPr>
              <a:t>The agent campaign the room preferred — reproduced here at its own constants</a:t>
            </a:r>
          </a:p>
        </p:txBody>
      </p:sp>
      <p:pic>
        <p:nvPicPr>
          <p:cNvPr id="3" name="Picture 2" descr="r-campaign.png"/>
          <p:cNvPicPr>
            <a:picLocks noChangeAspect="1"/>
          </p:cNvPicPr>
          <p:nvPr/>
        </p:nvPicPr>
        <p:blipFill>
          <a:blip r:embed="rId2"/>
          <a:stretch>
            <a:fillRect/>
          </a:stretch>
        </p:blipFill>
        <p:spPr>
          <a:xfrm>
            <a:off x="1493096" y="1417320"/>
            <a:ext cx="4267743" cy="4754880"/>
          </a:xfrm>
          <a:prstGeom prst="rect">
            <a:avLst/>
          </a:prstGeom>
        </p:spPr>
      </p:pic>
      <p:sp>
        <p:nvSpPr>
          <p:cNvPr id="4" name="TextBox 3"/>
          <p:cNvSpPr txBox="1"/>
          <p:nvPr/>
        </p:nvSpPr>
        <p:spPr>
          <a:xfrm>
            <a:off x="6218039" y="1417320"/>
            <a:ext cx="4480560" cy="4754880"/>
          </a:xfrm>
          <a:prstGeom prst="rect">
            <a:avLst/>
          </a:prstGeom>
          <a:noFill/>
        </p:spPr>
        <p:txBody>
          <a:bodyPr wrap="square" anchor="t" lIns="0" rIns="0" tIns="0" bIns="0">
            <a:spAutoFit/>
          </a:bodyPr>
          <a:lstStyle/>
          <a:p>
            <a:pPr algn="l">
              <a:spcAft>
                <a:spcPts val="1200"/>
              </a:spcAft>
            </a:pPr>
            <a:r>
              <a:rPr sz="1500" b="1" i="0">
                <a:solidFill>
                  <a:srgbClr val="56B4E9"/>
                </a:solidFill>
                <a:latin typeface="Helvetica Neue"/>
              </a:rPr>
              <a:t>Why it was liked, and where it stops</a:t>
            </a:r>
          </a:p>
          <a:p>
            <a:pPr algn="l">
              <a:spcAft>
                <a:spcPts val="1000"/>
              </a:spcAft>
            </a:pPr>
            <a:r>
              <a:rPr sz="1300" b="1" i="0">
                <a:solidFill>
                  <a:srgbClr val="F2F3F7"/>
                </a:solidFill>
                <a:latin typeface="Helvetica Neue"/>
              </a:rPr>
              <a:t>Measured strengths.</a:t>
            </a:r>
            <a:r>
              <a:rPr sz="1300" b="0" i="0">
                <a:solidFill>
                  <a:srgbClr val="F2F3F7"/>
                </a:solidFill>
                <a:latin typeface="Helvetica Neue"/>
              </a:rPr>
              <a:t> 1.2–2.3% ink inside the image. Arrows never overlap the feature. Line style separates the measured ring from galaxy and star masks. Every mask numbered and keyed to a table. The key sits below the image.</a:t>
            </a:r>
          </a:p>
          <a:p>
            <a:pPr algn="l">
              <a:spcAft>
                <a:spcPts val="1000"/>
              </a:spcAft>
            </a:pPr>
            <a:r>
              <a:rPr sz="1300" b="1" i="0">
                <a:solidFill>
                  <a:srgbClr val="E69F00"/>
                </a:solidFill>
                <a:latin typeface="Helvetica Neue"/>
              </a:rPr>
              <a:t>Measured weaknesses.</a:t>
            </a:r>
          </a:p>
          <a:p>
            <a:pPr algn="l">
              <a:spcAft>
                <a:spcPts val="1000"/>
              </a:spcAft>
            </a:pPr>
            <a:r>
              <a:rPr sz="1300" b="0" i="0">
                <a:solidFill>
                  <a:srgbClr val="F2F3F7"/>
                </a:solidFill>
                <a:latin typeface="Helvetica Neue"/>
              </a:rPr>
              <a:t>The colour key is only partly consistent: red and green are locked, four colours are opportunistic, and cyan flips between “unrelated field object” and “lensed feature” *within the same nine-panel set*.</a:t>
            </a:r>
          </a:p>
          <a:p>
            <a:pPr algn="l">
              <a:spcAft>
                <a:spcPts val="1000"/>
              </a:spcAft>
            </a:pPr>
            <a:r>
              <a:rPr sz="1300" b="0" i="0">
                <a:solidFill>
                  <a:srgbClr val="F2F3F7"/>
                </a:solidFill>
                <a:latin typeface="Helvetica Neue"/>
              </a:rPr>
              <a:t>Uncertainty is text only — a question mark, “would-be”, a parenthetical range.</a:t>
            </a:r>
          </a:p>
          <a:p>
            <a:pPr algn="l">
              <a:spcAft>
                <a:spcPts val="1000"/>
              </a:spcAft>
            </a:pPr>
            <a:r>
              <a:rPr sz="1300" b="1" i="0">
                <a:solidFill>
                  <a:srgbClr val="D55E00"/>
                </a:solidFill>
                <a:latin typeface="Helvetica Neue"/>
              </a:rPr>
              <a:t>Negative evidence has no visual channel at all.</a:t>
            </a:r>
            <a:r>
              <a:rPr sz="1300" b="0" i="0">
                <a:solidFill>
                  <a:srgbClr val="D55E00"/>
                </a:solidFill>
                <a:latin typeface="Helvetica Neue"/>
              </a:rPr>
              <a:t> Flipping through nine panels, you cannot tell which one is the non-lens from the marks.</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03-notation-proposals.md</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468880"/>
            <a:ext cx="1005840" cy="381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97480"/>
            <a:ext cx="9997135" cy="2194560"/>
          </a:xfrm>
          <a:prstGeom prst="rect">
            <a:avLst/>
          </a:prstGeom>
          <a:noFill/>
        </p:spPr>
        <p:txBody>
          <a:bodyPr wrap="square" anchor="t" lIns="0" rIns="0" tIns="0" bIns="0">
            <a:spAutoFit/>
          </a:bodyPr>
          <a:lstStyle/>
          <a:p>
            <a:pPr algn="l">
              <a:spcAft>
                <a:spcPts val="1200"/>
              </a:spcAft>
            </a:pPr>
            <a:r>
              <a:rPr sz="1300" b="1" i="0">
                <a:solidFill>
                  <a:srgbClr val="E69F00"/>
                </a:solidFill>
                <a:latin typeface="Helvetica Neue"/>
              </a:rPr>
              <a:t>PART TWO</a:t>
            </a:r>
          </a:p>
          <a:p>
            <a:pPr algn="l">
              <a:spcAft>
                <a:spcPts val="1200"/>
              </a:spcAft>
            </a:pPr>
            <a:r>
              <a:rPr sz="3400" b="1" i="0">
                <a:solidFill>
                  <a:srgbClr val="F2F3F7"/>
                </a:solidFill>
                <a:latin typeface="Helvetica Neue"/>
              </a:rPr>
              <a:t>How other fields solved this</a:t>
            </a:r>
          </a:p>
          <a:p>
            <a:pPr algn="l">
              <a:spcAft>
                <a:spcPts val="600"/>
              </a:spcAft>
            </a:pPr>
            <a:r>
              <a:rPr sz="1500" b="0" i="0">
                <a:solidFill>
                  <a:srgbClr val="9AA0AE"/>
                </a:solidFill>
                <a:latin typeface="Helvetica Neue"/>
              </a:rPr>
              <a:t>66 formats across 8 domains. Medicine solved this thirty years ago; astronomy largely has not.</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survey</a:t>
            </a:r>
          </a:p>
          <a:p>
            <a:pPr algn="l">
              <a:spcAft>
                <a:spcPts val="600"/>
              </a:spcAft>
            </a:pPr>
            <a:r>
              <a:rPr sz="1300" b="0" i="0">
                <a:solidFill>
                  <a:srgbClr val="9AA0AE"/>
                </a:solidFill>
                <a:latin typeface="Helvetica Neue"/>
              </a:rPr>
              <a:t>01-prior-art/</a:t>
            </a:r>
          </a:p>
        </p:txBody>
      </p:sp>
      <p:sp>
        <p:nvSpPr>
          <p:cNvPr id="3" name="TextBox 2"/>
          <p:cNvSpPr txBox="1"/>
          <p:nvPr/>
        </p:nvSpPr>
        <p:spPr>
          <a:xfrm>
            <a:off x="548640" y="1874520"/>
            <a:ext cx="2567863" cy="2743200"/>
          </a:xfrm>
          <a:prstGeom prst="rect">
            <a:avLst/>
          </a:prstGeom>
          <a:noFill/>
        </p:spPr>
        <p:txBody>
          <a:bodyPr wrap="square" anchor="t" lIns="0" rIns="0" tIns="0" bIns="0">
            <a:spAutoFit/>
          </a:bodyPr>
          <a:lstStyle/>
          <a:p>
            <a:pPr algn="l">
              <a:spcAft>
                <a:spcPts val="1000"/>
              </a:spcAft>
            </a:pPr>
            <a:r>
              <a:rPr sz="4600" b="1" i="0">
                <a:solidFill>
                  <a:srgbClr val="56B4E9"/>
                </a:solidFill>
                <a:latin typeface="Helvetica Neue"/>
              </a:rPr>
              <a:t>66</a:t>
            </a:r>
          </a:p>
          <a:p>
            <a:pPr algn="l">
              <a:spcAft>
                <a:spcPts val="600"/>
              </a:spcAft>
            </a:pPr>
            <a:r>
              <a:rPr sz="1300" b="0" i="0">
                <a:solidFill>
                  <a:srgbClr val="9AA0AE"/>
                </a:solidFill>
                <a:latin typeface="Helvetica Neue"/>
              </a:rPr>
              <a:t>formats examined, primary sources where reachable</a:t>
            </a:r>
          </a:p>
        </p:txBody>
      </p:sp>
      <p:sp>
        <p:nvSpPr>
          <p:cNvPr id="4" name="TextBox 3"/>
          <p:cNvSpPr txBox="1"/>
          <p:nvPr/>
        </p:nvSpPr>
        <p:spPr>
          <a:xfrm>
            <a:off x="3390823" y="1874520"/>
            <a:ext cx="2567863" cy="2743200"/>
          </a:xfrm>
          <a:prstGeom prst="rect">
            <a:avLst/>
          </a:prstGeom>
          <a:noFill/>
        </p:spPr>
        <p:txBody>
          <a:bodyPr wrap="square" anchor="t" lIns="0" rIns="0" tIns="0" bIns="0">
            <a:spAutoFit/>
          </a:bodyPr>
          <a:lstStyle/>
          <a:p>
            <a:pPr algn="l">
              <a:spcAft>
                <a:spcPts val="1000"/>
              </a:spcAft>
            </a:pPr>
            <a:r>
              <a:rPr sz="4600" b="1" i="0">
                <a:solidFill>
                  <a:srgbClr val="009E73"/>
                </a:solidFill>
                <a:latin typeface="Helvetica Neue"/>
              </a:rPr>
              <a:t>8</a:t>
            </a:r>
          </a:p>
          <a:p>
            <a:pPr algn="l">
              <a:spcAft>
                <a:spcPts val="600"/>
              </a:spcAft>
            </a:pPr>
            <a:r>
              <a:rPr sz="1300" b="0" i="0">
                <a:solidFill>
                  <a:srgbClr val="9AA0AE"/>
                </a:solidFill>
                <a:latin typeface="Helvetica Neue"/>
              </a:rPr>
              <a:t>domains: radiology, medical vocabularies, computer vision,
web and geospatial, astronomy overlays, astronomy metadata,
notation theory, accessibility</a:t>
            </a:r>
          </a:p>
        </p:txBody>
      </p:sp>
      <p:sp>
        <p:nvSpPr>
          <p:cNvPr id="5" name="TextBox 4"/>
          <p:cNvSpPr txBox="1"/>
          <p:nvPr/>
        </p:nvSpPr>
        <p:spPr>
          <a:xfrm>
            <a:off x="6233007" y="1874520"/>
            <a:ext cx="2567863" cy="2743200"/>
          </a:xfrm>
          <a:prstGeom prst="rect">
            <a:avLst/>
          </a:prstGeom>
          <a:noFill/>
        </p:spPr>
        <p:txBody>
          <a:bodyPr wrap="square" anchor="t" lIns="0" rIns="0" tIns="0" bIns="0">
            <a:spAutoFit/>
          </a:bodyPr>
          <a:lstStyle/>
          <a:p>
            <a:pPr algn="l">
              <a:spcAft>
                <a:spcPts val="1000"/>
              </a:spcAft>
            </a:pPr>
            <a:r>
              <a:rPr sz="4600" b="1" i="0">
                <a:solidFill>
                  <a:srgbClr val="E69F00"/>
                </a:solidFill>
                <a:latin typeface="Helvetica Neue"/>
              </a:rPr>
              <a:t>9</a:t>
            </a:r>
          </a:p>
          <a:p>
            <a:pPr algn="l">
              <a:spcAft>
                <a:spcPts val="600"/>
              </a:spcAft>
            </a:pPr>
            <a:r>
              <a:rPr sz="1300" b="0" i="0">
                <a:solidFill>
                  <a:srgbClr val="9AA0AE"/>
                </a:solidFill>
                <a:latin typeface="Helvetica Neue"/>
              </a:rPr>
              <a:t>mechanisms independently arrived at by 6–10 domains</a:t>
            </a:r>
          </a:p>
        </p:txBody>
      </p:sp>
      <p:sp>
        <p:nvSpPr>
          <p:cNvPr id="6" name="TextBox 5"/>
          <p:cNvSpPr txBox="1"/>
          <p:nvPr/>
        </p:nvSpPr>
        <p:spPr>
          <a:xfrm>
            <a:off x="9075191" y="1874520"/>
            <a:ext cx="2567863" cy="2743200"/>
          </a:xfrm>
          <a:prstGeom prst="rect">
            <a:avLst/>
          </a:prstGeom>
          <a:noFill/>
        </p:spPr>
        <p:txBody>
          <a:bodyPr wrap="square" anchor="t" lIns="0" rIns="0" tIns="0" bIns="0">
            <a:spAutoFit/>
          </a:bodyPr>
          <a:lstStyle/>
          <a:p>
            <a:pPr algn="l">
              <a:spcAft>
                <a:spcPts val="1000"/>
              </a:spcAft>
            </a:pPr>
            <a:r>
              <a:rPr sz="4600" b="1" i="0">
                <a:solidFill>
                  <a:srgbClr val="D55E00"/>
                </a:solidFill>
                <a:latin typeface="Helvetica Neue"/>
              </a:rPr>
              <a:t>8</a:t>
            </a:r>
          </a:p>
          <a:p>
            <a:pPr algn="l">
              <a:spcAft>
                <a:spcPts val="600"/>
              </a:spcAft>
            </a:pPr>
            <a:r>
              <a:rPr sz="1300" b="0" i="0">
                <a:solidFill>
                  <a:srgbClr val="9AA0AE"/>
                </a:solidFill>
                <a:latin typeface="Helvetica Neue"/>
              </a:rPr>
              <a:t>well-designed standards that died anyway</a:t>
            </a:r>
          </a:p>
        </p:txBody>
      </p:sp>
      <p:sp>
        <p:nvSpPr>
          <p:cNvPr id="7" name="TextBox 6"/>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8" name="TextBox 7"/>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Radiology's foundational move: a term is never a string</a:t>
            </a:r>
          </a:p>
          <a:p>
            <a:pPr algn="l">
              <a:spcAft>
                <a:spcPts val="600"/>
              </a:spcAft>
            </a:pPr>
            <a:r>
              <a:rPr sz="1300" b="0" i="0">
                <a:solidFill>
                  <a:srgbClr val="9AA0AE"/>
                </a:solidFill>
                <a:latin typeface="Helvetica Neue"/>
              </a:rPr>
              <a:t>DICOM PS3.3 §8.3</a:t>
            </a:r>
          </a:p>
        </p:txBody>
      </p:sp>
      <p:sp>
        <p:nvSpPr>
          <p:cNvPr id="3" name="Rounded Rectangle 2"/>
          <p:cNvSpPr/>
          <p:nvPr/>
        </p:nvSpPr>
        <p:spPr>
          <a:xfrm>
            <a:off x="548640" y="1417320"/>
            <a:ext cx="11094415" cy="4069080"/>
          </a:xfrm>
          <a:prstGeom prst="roundRect">
            <a:avLst/>
          </a:prstGeom>
          <a:solidFill>
            <a:srgbClr val="16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545775" cy="3611880"/>
          </a:xfrm>
          <a:prstGeom prst="rect">
            <a:avLst/>
          </a:prstGeom>
          <a:noFill/>
        </p:spPr>
        <p:txBody>
          <a:bodyPr wrap="square" anchor="t" lIns="0" rIns="0" tIns="0" bIns="0">
            <a:spAutoFit/>
          </a:bodyPr>
          <a:lstStyle/>
          <a:p>
            <a:pPr algn="l">
              <a:spcAft>
                <a:spcPts val="300"/>
              </a:spcAft>
            </a:pPr>
            <a:r>
              <a:rPr sz="1300" b="0" i="0">
                <a:solidFill>
                  <a:srgbClr val="9AA0AE"/>
                </a:solidFill>
                <a:latin typeface="Menlo"/>
              </a:rPr>
              <a:t># DICOM coded entry — three mandatory fields plus an optional version</a:t>
            </a:r>
          </a:p>
          <a:p>
            <a:pPr algn="l">
              <a:spcAft>
                <a:spcPts val="300"/>
              </a:spcAft>
            </a:pPr>
            <a:r>
              <a:rPr sz="1300" b="0" i="0">
                <a:solidFill>
                  <a:srgbClr val="F2F3F7"/>
                </a:solidFill>
                <a:latin typeface="Menlo"/>
              </a:rPr>
              <a:t> </a:t>
            </a:r>
          </a:p>
          <a:p>
            <a:pPr algn="l">
              <a:spcAft>
                <a:spcPts val="300"/>
              </a:spcAft>
            </a:pPr>
            <a:r>
              <a:rPr sz="1300" b="0" i="0">
                <a:solidFill>
                  <a:srgbClr val="F2F3F7"/>
                </a:solidFill>
                <a:latin typeface="Menlo"/>
              </a:rPr>
              <a:t>  Code Value              (0008,0100)   the opaque, stable identity</a:t>
            </a:r>
          </a:p>
          <a:p>
            <a:pPr algn="l">
              <a:spcAft>
                <a:spcPts val="300"/>
              </a:spcAft>
            </a:pPr>
            <a:r>
              <a:rPr sz="1300" b="0" i="0">
                <a:solidFill>
                  <a:srgbClr val="F2F3F7"/>
                </a:solidFill>
                <a:latin typeface="Menlo"/>
              </a:rPr>
              <a:t>  Coding Scheme Designator(0008,0102)   which vocabulary it came from</a:t>
            </a:r>
          </a:p>
          <a:p>
            <a:pPr algn="l">
              <a:spcAft>
                <a:spcPts val="300"/>
              </a:spcAft>
            </a:pPr>
            <a:r>
              <a:rPr sz="1300" b="0" i="0">
                <a:solidFill>
                  <a:srgbClr val="F2F3F7"/>
                </a:solidFill>
                <a:latin typeface="Menlo"/>
              </a:rPr>
              <a:t>  Code Meaning            (0008,0104)   the human-readable string</a:t>
            </a:r>
          </a:p>
          <a:p>
            <a:pPr algn="l">
              <a:spcAft>
                <a:spcPts val="300"/>
              </a:spcAft>
            </a:pPr>
            <a:r>
              <a:rPr sz="1300" b="0" i="0">
                <a:solidFill>
                  <a:srgbClr val="F2F3F7"/>
                </a:solidFill>
                <a:latin typeface="Menlo"/>
              </a:rPr>
              <a:t> </a:t>
            </a:r>
          </a:p>
          <a:p>
            <a:pPr algn="l">
              <a:spcAft>
                <a:spcPts val="300"/>
              </a:spcAft>
            </a:pPr>
            <a:r>
              <a:rPr sz="1300" b="0" i="0">
                <a:solidFill>
                  <a:srgbClr val="9AA0AE"/>
                </a:solidFill>
                <a:latin typeface="Menlo"/>
              </a:rPr>
              <a:t># and the rule that makes it work, from PS3.3 §8.3, normative:</a:t>
            </a:r>
          </a:p>
          <a:p>
            <a:pPr algn="l">
              <a:spcAft>
                <a:spcPts val="300"/>
              </a:spcAft>
            </a:pPr>
            <a:r>
              <a:rPr sz="1300" b="0" i="0">
                <a:solidFill>
                  <a:srgbClr val="F2F3F7"/>
                </a:solidFill>
                <a:latin typeface="Menlo"/>
              </a:rPr>
              <a:t> </a:t>
            </a:r>
          </a:p>
          <a:p>
            <a:pPr algn="l">
              <a:spcAft>
                <a:spcPts val="300"/>
              </a:spcAft>
            </a:pPr>
            <a:r>
              <a:rPr sz="1300" b="0" i="0">
                <a:solidFill>
                  <a:srgbClr val="F2F3F7"/>
                </a:solidFill>
                <a:latin typeface="Menlo"/>
              </a:rPr>
              <a:t>  "the Value of Code Meaning shall NEVER be used as a key, index or</a:t>
            </a:r>
          </a:p>
          <a:p>
            <a:pPr algn="l">
              <a:spcAft>
                <a:spcPts val="300"/>
              </a:spcAft>
            </a:pPr>
            <a:r>
              <a:rPr sz="1300" b="0" i="0">
                <a:solidFill>
                  <a:srgbClr val="F2F3F7"/>
                </a:solidFill>
                <a:latin typeface="Menlo"/>
              </a:rPr>
              <a:t>   decision value ... Code Meaning is a purely annotative, descriptive</a:t>
            </a:r>
          </a:p>
          <a:p>
            <a:pPr algn="l">
              <a:spcAft>
                <a:spcPts val="300"/>
              </a:spcAft>
            </a:pPr>
            <a:r>
              <a:rPr sz="1300" b="0" i="0">
                <a:solidFill>
                  <a:srgbClr val="F2F3F7"/>
                </a:solidFill>
                <a:latin typeface="Menlo"/>
              </a:rPr>
              <a:t>   Attribute."   ... "This does not imply that Code Meaning can be</a:t>
            </a:r>
          </a:p>
          <a:p>
            <a:pPr algn="l">
              <a:spcAft>
                <a:spcPts val="300"/>
              </a:spcAft>
            </a:pPr>
            <a:r>
              <a:rPr sz="1300" b="0" i="0">
                <a:solidFill>
                  <a:srgbClr val="F2F3F7"/>
                </a:solidFill>
                <a:latin typeface="Menlo"/>
              </a:rPr>
              <a:t>   filled with arbitrary free text."</a:t>
            </a:r>
          </a:p>
        </p:txBody>
      </p:sp>
      <p:sp>
        <p:nvSpPr>
          <p:cNvPr id="5" name="TextBox 4"/>
          <p:cNvSpPr txBox="1"/>
          <p:nvPr/>
        </p:nvSpPr>
        <p:spPr>
          <a:xfrm>
            <a:off x="548640" y="5715000"/>
            <a:ext cx="11094415" cy="685800"/>
          </a:xfrm>
          <a:prstGeom prst="rect">
            <a:avLst/>
          </a:prstGeom>
          <a:noFill/>
        </p:spPr>
        <p:txBody>
          <a:bodyPr wrap="square" anchor="t" lIns="0" rIns="0" tIns="0" bIns="0">
            <a:spAutoFit/>
          </a:bodyPr>
          <a:lstStyle/>
          <a:p>
            <a:pPr algn="l">
              <a:spcAft>
                <a:spcPts val="600"/>
              </a:spcAft>
            </a:pPr>
            <a:r>
              <a:rPr sz="1400" b="0" i="0">
                <a:solidFill>
                  <a:srgbClr val="9AA0AE"/>
                </a:solidFill>
                <a:latin typeface="Helvetica Neue"/>
              </a:rPr>
              <a:t>LensMark's 40-character substring-matched label is precisely the anti-pattern that sentence exists to forbid.</a:t>
            </a:r>
          </a:p>
        </p:txBody>
      </p:sp>
      <p:sp>
        <p:nvSpPr>
          <p:cNvPr id="6" name="TextBox 5"/>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7" name="TextBox 6"/>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else radiology settled</a:t>
            </a:r>
          </a:p>
          <a:p>
            <a:pPr algn="l">
              <a:spcAft>
                <a:spcPts val="600"/>
              </a:spcAft>
            </a:pPr>
            <a:r>
              <a:rPr sz="1300" b="0" i="0">
                <a:solidFill>
                  <a:srgbClr val="9AA0AE"/>
                </a:solidFill>
                <a:latin typeface="Helvetica Neue"/>
              </a:rPr>
              <a:t>DICOM SR, GSPS, RT Structure Sets, SEG</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a:t>
            </a:r>
            <a:r>
              <a:rPr sz="1500" b="1" i="0">
                <a:solidFill>
                  <a:srgbClr val="F2F3F7"/>
                </a:solidFill>
                <a:latin typeface="Helvetica Neue"/>
              </a:rPr>
              <a:t>Portrayal is a separate object.</a:t>
            </a:r>
            <a:r>
              <a:rPr sz="1500" b="0" i="0">
                <a:solidFill>
                  <a:srgbClr val="F2F3F7"/>
                </a:solidFill>
                <a:latin typeface="Helvetica Neue"/>
              </a:rPr>
              <a:t> A Presentation State is its own instance that *references* images; the pixels are never modified. Standardised in 1999.</a:t>
            </a:r>
          </a:p>
          <a:p>
            <a:pPr algn="l">
              <a:spcAft>
                <a:spcPts val="500"/>
              </a:spcAft>
            </a:pPr>
            <a:r>
              <a:rPr sz="1300" b="0" i="0">
                <a:solidFill>
                  <a:srgbClr val="9AA0AE"/>
                </a:solidFill>
                <a:latin typeface="Helvetica Neue"/>
              </a:rPr>
              <a:t>Meaning rides on a graphic layer, and every layer carries a greyscale value </a:t>
            </a:r>
            <a:r>
              <a:rPr sz="1300" b="1" i="0">
                <a:solidFill>
                  <a:srgbClr val="9AA0AE"/>
                </a:solidFill>
                <a:latin typeface="Helvetica Neue"/>
              </a:rPr>
              <a:t>and</a:t>
            </a:r>
            <a:r>
              <a:rPr sz="1300" b="0" i="0">
                <a:solidFill>
                  <a:srgbClr val="9AA0AE"/>
                </a:solidFill>
                <a:latin typeface="Helvetica Neue"/>
              </a:rPr>
              <a:t> a CIELab colour. Redundant achromatic encoding is in the data model, not bolted on.</a:t>
            </a:r>
          </a:p>
          <a:p>
            <a:pPr algn="l">
              <a:spcAft>
                <a:spcPts val="900"/>
              </a:spcAft>
            </a:pPr>
            <a:r>
              <a:rPr sz="1500" b="0" i="0">
                <a:solidFill>
                  <a:srgbClr val="F2F3F7"/>
                </a:solidFill>
                <a:latin typeface="Helvetica Neue"/>
              </a:rPr>
              <a:t>– </a:t>
            </a:r>
            <a:r>
              <a:rPr sz="1500" b="1" i="0">
                <a:solidFill>
                  <a:srgbClr val="F2F3F7"/>
                </a:solidFill>
                <a:latin typeface="Helvetica Neue"/>
              </a:rPr>
              <a:t>The measurement is primary; the geometry is inferred from it.</a:t>
            </a:r>
            <a:r>
              <a:rPr sz="1500" b="0" i="0">
                <a:solidFill>
                  <a:srgbClr val="F2F3F7"/>
                </a:solidFill>
                <a:latin typeface="Helvetica Neue"/>
              </a:rPr>
              <a:t> The shape is a witness, not a second copy — which is exactly the fix for θ_E stored twice.</a:t>
            </a:r>
          </a:p>
          <a:p>
            <a:pPr algn="l">
              <a:spcAft>
                <a:spcPts val="900"/>
              </a:spcAft>
            </a:pPr>
            <a:r>
              <a:rPr sz="1500" b="0" i="0">
                <a:solidFill>
                  <a:srgbClr val="F2F3F7"/>
                </a:solidFill>
                <a:latin typeface="Helvetica Neue"/>
              </a:rPr>
              <a:t>– </a:t>
            </a:r>
            <a:r>
              <a:rPr sz="1500" b="1" i="0">
                <a:solidFill>
                  <a:srgbClr val="F2F3F7"/>
                </a:solidFill>
                <a:latin typeface="Helvetica Neue"/>
              </a:rPr>
              <a:t>Presence is three-valued and coded:</a:t>
            </a:r>
            <a:r>
              <a:rPr sz="1500" b="0" i="0">
                <a:solidFill>
                  <a:srgbClr val="F2F3F7"/>
                </a:solidFill>
                <a:latin typeface="Helvetica Neue"/>
              </a:rPr>
              <a:t> present, absent, </a:t>
            </a:r>
            <a:r>
              <a:rPr sz="1500" b="1" i="0">
                <a:solidFill>
                  <a:srgbClr val="F2F3F7"/>
                </a:solidFill>
                <a:latin typeface="Helvetica Neue"/>
              </a:rPr>
              <a:t>undetermined</a:t>
            </a:r>
            <a:r>
              <a:rPr sz="1500" b="0" i="0">
                <a:solidFill>
                  <a:srgbClr val="F2F3F7"/>
                </a:solidFill>
                <a:latin typeface="Helvetica Neue"/>
              </a:rPr>
              <a:t>. AIM used a boolean and the standard records why that was wrong: a boolean cannot say “undetermined”.</a:t>
            </a:r>
          </a:p>
          <a:p>
            <a:pPr algn="l">
              <a:spcAft>
                <a:spcPts val="900"/>
              </a:spcAft>
            </a:pPr>
            <a:r>
              <a:rPr sz="1500" b="0" i="0">
                <a:solidFill>
                  <a:srgbClr val="F2F3F7"/>
                </a:solidFill>
                <a:latin typeface="Helvetica Neue"/>
              </a:rPr>
              <a:t>– </a:t>
            </a:r>
            <a:r>
              <a:rPr sz="1500" b="1" i="0">
                <a:solidFill>
                  <a:srgbClr val="F2F3F7"/>
                </a:solidFill>
                <a:latin typeface="Helvetica Neue"/>
              </a:rPr>
              <a:t>Generation method is three-valued:</a:t>
            </a:r>
            <a:r>
              <a:rPr sz="1500" b="0" i="0">
                <a:solidFill>
                  <a:srgbClr val="F2F3F7"/>
                </a:solidFill>
                <a:latin typeface="Helvetica Neue"/>
              </a:rPr>
              <a:t> automatic, semiautomatic, manual. The middle value is the one everyone omits and everyone needs — a model-proposed arc that a human nudged is neither.</a:t>
            </a:r>
          </a:p>
          <a:p>
            <a:pPr algn="l">
              <a:spcAft>
                <a:spcPts val="900"/>
              </a:spcAft>
            </a:pPr>
            <a:r>
              <a:rPr sz="1500" b="0" i="0">
                <a:solidFill>
                  <a:srgbClr val="F2F3F7"/>
                </a:solidFill>
                <a:latin typeface="Helvetica Neue"/>
              </a:rPr>
              <a:t>– </a:t>
            </a:r>
            <a:r>
              <a:rPr sz="1500" b="1" i="0">
                <a:solidFill>
                  <a:srgbClr val="F2F3F7"/>
                </a:solidFill>
                <a:latin typeface="Helvetica Neue"/>
              </a:rPr>
              <a:t>Two identities per mark:</a:t>
            </a:r>
            <a:r>
              <a:rPr sz="1500" b="0" i="0">
                <a:solidFill>
                  <a:srgbClr val="F2F3F7"/>
                </a:solidFill>
                <a:latin typeface="Helvetica Neue"/>
              </a:rPr>
              <a:t> this mark, and the physical thing it is of. Grouping then becomes emergent rather than structural.</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01-prior-art/medical-imaging.md</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D55E00"/>
                </a:solidFill>
                <a:latin typeface="Helvetica Neue"/>
              </a:rPr>
              <a:t>THE CAUTIONARY TALE</a:t>
            </a:r>
          </a:p>
          <a:p>
            <a:pPr algn="l">
              <a:spcAft>
                <a:spcPts val="1800"/>
              </a:spcAft>
            </a:pPr>
            <a:r>
              <a:rPr sz="3000" b="1" i="0">
                <a:solidFill>
                  <a:srgbClr val="F2F3F7"/>
                </a:solidFill>
                <a:latin typeface="Helvetica Neue"/>
              </a:rPr>
              <a:t>NCI's AIM got the central abstraction exactly right, and died.</a:t>
            </a:r>
          </a:p>
          <a:p>
            <a:pPr algn="l">
              <a:spcAft>
                <a:spcPts val="600"/>
              </a:spcAft>
            </a:pPr>
            <a:r>
              <a:rPr sz="1500" b="0" i="0">
                <a:solidFill>
                  <a:srgbClr val="9AA0AE"/>
                </a:solidFill>
                <a:latin typeface="Helvetica Neue"/>
              </a:rPr>
              <a:t>It invented the markup-versus-annotation split in 2008 — the same architecture this project arrived at independently. Its reference repository is archived; the last substantive commit was 29 April 2014.
Three verifiable reasons: it put lineColor and lineThickness on its own geometry class, violating its own thesis in its own schema; 58 of its 124 types were relationship classes with names like ImagingObservationEntityIsIdentifiedByTwoDimensionGeometricShapeEntityStatement; and it imported ISO datatype machinery because it looked rigorous.</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This is why the recommendation takes AIM's identity and leaves AIM's ceremony</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Graded assessment: BI-RADS has the answer to the grade problem</a:t>
            </a:r>
          </a:p>
          <a:p>
            <a:pPr algn="l">
              <a:spcAft>
                <a:spcPts val="600"/>
              </a:spcAft>
            </a:pPr>
            <a:r>
              <a:rPr sz="1300" b="0" i="0">
                <a:solidFill>
                  <a:srgbClr val="9AA0AE"/>
                </a:solidFill>
                <a:latin typeface="Helvetica Neue"/>
              </a:rPr>
              <a:t>The most actionable unclaimed idea in the survey</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a:t>
            </a:r>
            <a:r>
              <a:rPr sz="1500" b="1" i="0">
                <a:solidFill>
                  <a:srgbClr val="F2F3F7"/>
                </a:solidFill>
                <a:latin typeface="Helvetica Neue"/>
              </a:rPr>
              <a:t>BI-RADS defines its scale as a three-column table:</a:t>
            </a:r>
            <a:r>
              <a:rPr sz="1500" b="0" i="0">
                <a:solidFill>
                  <a:srgbClr val="F2F3F7"/>
                </a:solidFill>
                <a:latin typeface="Helvetica Neue"/>
              </a:rPr>
              <a:t> ordinal category · numeric probability band · </a:t>
            </a:r>
            <a:r>
              <a:rPr sz="1500" b="1" i="0">
                <a:solidFill>
                  <a:srgbClr val="F2F3F7"/>
                </a:solidFill>
                <a:latin typeface="Helvetica Neue"/>
              </a:rPr>
              <a:t>the specific next observation that would settle it</a:t>
            </a:r>
            <a:r>
              <a:rPr sz="1500" b="0" i="0">
                <a:solidFill>
                  <a:srgbClr val="F2F3F7"/>
                </a:solidFill>
                <a:latin typeface="Helvetica Neue"/>
              </a:rPr>
              <a:t> — plus a published expected prevalence per grade.</a:t>
            </a:r>
          </a:p>
          <a:p>
            <a:pPr algn="l">
              <a:spcAft>
                <a:spcPts val="900"/>
              </a:spcAft>
            </a:pPr>
            <a:r>
              <a:rPr sz="1500" b="0" i="0">
                <a:solidFill>
                  <a:srgbClr val="F2F3F7"/>
                </a:solidFill>
                <a:latin typeface="Helvetica Neue"/>
              </a:rPr>
              <a:t>– </a:t>
            </a:r>
            <a:r>
              <a:rPr sz="1500" b="1" i="0">
                <a:solidFill>
                  <a:srgbClr val="F2F3F7"/>
                </a:solidFill>
                <a:latin typeface="Helvetica Neue"/>
              </a:rPr>
              <a:t>PI-RADS goes further and DERIVES the grade</a:t>
            </a:r>
            <a:r>
              <a:rPr sz="1500" b="0" i="0">
                <a:solidFill>
                  <a:srgbClr val="F2F3F7"/>
                </a:solidFill>
                <a:latin typeface="Helvetica Neue"/>
              </a:rPr>
              <a:t> from coded component scores by a published lookup table. The evidence is stored; the verdict is computed.</a:t>
            </a:r>
          </a:p>
          <a:p>
            <a:pPr algn="l">
              <a:spcAft>
                <a:spcPts val="900"/>
              </a:spcAft>
            </a:pPr>
            <a:r>
              <a:rPr sz="1500" b="0" i="0">
                <a:solidFill>
                  <a:srgbClr val="56B4E9"/>
                </a:solidFill>
                <a:latin typeface="Helvetica Neue"/>
              </a:rPr>
              <a:t>– For a project whose goal is consistent grading between annotators, the derived model makes disagreement </a:t>
            </a:r>
            <a:r>
              <a:rPr sz="1500" b="1" i="0">
                <a:solidFill>
                  <a:srgbClr val="56B4E9"/>
                </a:solidFill>
                <a:latin typeface="Helvetica Neue"/>
              </a:rPr>
              <a:t>locatable</a:t>
            </a:r>
            <a:r>
              <a:rPr sz="1500" b="0" i="0">
                <a:solidFill>
                  <a:srgbClr val="56B4E9"/>
                </a:solidFill>
                <a:latin typeface="Helvetica Neue"/>
              </a:rPr>
              <a:t>: two graders who differ on the verdict but agree on the evidence have a different problem from two who differ on the evidence.</a:t>
            </a:r>
          </a:p>
          <a:p>
            <a:pPr algn="l">
              <a:spcAft>
                <a:spcPts val="900"/>
              </a:spcAft>
            </a:pPr>
            <a:r>
              <a:rPr sz="1500" b="0" i="0">
                <a:solidFill>
                  <a:srgbClr val="E69F00"/>
                </a:solidFill>
                <a:latin typeface="Helvetica Neue"/>
              </a:rPr>
              <a:t>– Grades A–D are currently used with only the borderline class defined on the record. This is the direct answer, and it is unclaimed.</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01-prior-art/vocabularies-and-grading.md</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Astronomy: DS9 got it wrong and right in the same application</a:t>
            </a:r>
          </a:p>
          <a:p>
            <a:pPr algn="l">
              <a:spcAft>
                <a:spcPts val="600"/>
              </a:spcAft>
            </a:pPr>
            <a:r>
              <a:rPr sz="1300" b="0" i="0">
                <a:solidFill>
                  <a:srgbClr val="9AA0AE"/>
                </a:solidFill>
                <a:latin typeface="Helvetica Neue"/>
              </a:rPr>
              <a:t>The record/portrayal separation, demonstrated by the same authors who got it wrong</a:t>
            </a:r>
          </a:p>
        </p:txBody>
      </p:sp>
      <p:sp>
        <p:nvSpPr>
          <p:cNvPr id="3" name="Rounded Rectangle 2"/>
          <p:cNvSpPr/>
          <p:nvPr/>
        </p:nvSpPr>
        <p:spPr>
          <a:xfrm>
            <a:off x="548640" y="1417320"/>
            <a:ext cx="11094415" cy="3877056"/>
          </a:xfrm>
          <a:prstGeom prst="roundRect">
            <a:avLst/>
          </a:prstGeom>
          <a:solidFill>
            <a:srgbClr val="16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545775" cy="3419856"/>
          </a:xfrm>
          <a:prstGeom prst="rect">
            <a:avLst/>
          </a:prstGeom>
          <a:noFill/>
        </p:spPr>
        <p:txBody>
          <a:bodyPr wrap="square" anchor="t" lIns="0" rIns="0" tIns="0" bIns="0">
            <a:spAutoFit/>
          </a:bodyPr>
          <a:lstStyle/>
          <a:p>
            <a:pPr algn="l">
              <a:spcAft>
                <a:spcPts val="300"/>
              </a:spcAft>
            </a:pPr>
            <a:r>
              <a:rPr sz="1200" b="0" i="0">
                <a:solidFill>
                  <a:srgbClr val="9AA0AE"/>
                </a:solidFill>
                <a:latin typeface="Menlo"/>
              </a:rPr>
              <a:t># a line from DS9's own reference test file —</a:t>
            </a:r>
          </a:p>
          <a:p>
            <a:pPr algn="l">
              <a:spcAft>
                <a:spcPts val="300"/>
              </a:spcAft>
            </a:pPr>
            <a:r>
              <a:rPr sz="1200" b="0" i="0">
                <a:solidFill>
                  <a:srgbClr val="9AA0AE"/>
                </a:solidFill>
                <a:latin typeface="Menlo"/>
              </a:rPr>
              <a:t># 38 characters of geometry, 106 characters of portrayal:</a:t>
            </a:r>
          </a:p>
          <a:p>
            <a:pPr algn="l">
              <a:spcAft>
                <a:spcPts val="300"/>
              </a:spcAft>
            </a:pPr>
            <a:r>
              <a:rPr sz="1200" b="0" i="0">
                <a:solidFill>
                  <a:srgbClr val="F2F3F7"/>
                </a:solidFill>
                <a:latin typeface="Menlo"/>
              </a:rPr>
              <a:t> </a:t>
            </a:r>
          </a:p>
          <a:p>
            <a:pPr algn="l">
              <a:spcAft>
                <a:spcPts val="300"/>
              </a:spcAft>
            </a:pPr>
            <a:r>
              <a:rPr sz="1200" b="0" i="0">
                <a:solidFill>
                  <a:srgbClr val="D55E00"/>
                </a:solidFill>
                <a:latin typeface="Menlo"/>
              </a:rPr>
              <a:t>circle(202.48643,47.208449,3.964") # color=pink width=3 font="times 10"</a:t>
            </a:r>
          </a:p>
          <a:p>
            <a:pPr algn="l">
              <a:spcAft>
                <a:spcPts val="300"/>
              </a:spcAft>
            </a:pPr>
            <a:r>
              <a:rPr sz="1200" b="0" i="0">
                <a:solidFill>
                  <a:srgbClr val="D55E00"/>
                </a:solidFill>
                <a:latin typeface="Menlo"/>
              </a:rPr>
              <a:t>    text={Circle} tag={foo} tag={foo bar} This is a Comment</a:t>
            </a:r>
          </a:p>
          <a:p>
            <a:pPr algn="l">
              <a:spcAft>
                <a:spcPts val="300"/>
              </a:spcAft>
            </a:pPr>
            <a:r>
              <a:rPr sz="1200" b="0" i="0">
                <a:solidFill>
                  <a:srgbClr val="F2F3F7"/>
                </a:solidFill>
                <a:latin typeface="Menlo"/>
              </a:rPr>
              <a:t> </a:t>
            </a:r>
          </a:p>
          <a:p>
            <a:pPr algn="l">
              <a:spcAft>
                <a:spcPts val="300"/>
              </a:spcAft>
            </a:pPr>
            <a:r>
              <a:rPr sz="1200" b="0" i="0">
                <a:solidFill>
                  <a:srgbClr val="9AA0AE"/>
                </a:solidFill>
                <a:latin typeface="Menlo"/>
              </a:rPr>
              <a:t># the DS9 CATALOG TOOL, same program, stores no colour per row —</a:t>
            </a:r>
          </a:p>
          <a:p>
            <a:pPr algn="l">
              <a:spcAft>
                <a:spcPts val="300"/>
              </a:spcAft>
            </a:pPr>
            <a:r>
              <a:rPr sz="1200" b="0" i="0">
                <a:solidFill>
                  <a:srgbClr val="9AA0AE"/>
                </a:solidFill>
                <a:latin typeface="Menlo"/>
              </a:rPr>
              <a:t># it stores a rule evaluated against the data's own columns:</a:t>
            </a:r>
          </a:p>
          <a:p>
            <a:pPr algn="l">
              <a:spcAft>
                <a:spcPts val="300"/>
              </a:spcAft>
            </a:pPr>
            <a:r>
              <a:rPr sz="1200" b="0" i="0">
                <a:solidFill>
                  <a:srgbClr val="F2F3F7"/>
                </a:solidFill>
                <a:latin typeface="Menlo"/>
              </a:rPr>
              <a:t> </a:t>
            </a:r>
          </a:p>
          <a:p>
            <a:pPr algn="l">
              <a:spcAft>
                <a:spcPts val="300"/>
              </a:spcAft>
            </a:pPr>
            <a:r>
              <a:rPr sz="1200" b="0" i="0">
                <a:solidFill>
                  <a:srgbClr val="009E73"/>
                </a:solidFill>
                <a:latin typeface="Menlo"/>
              </a:rPr>
              <a:t>  condition [string equal $Class SNR]  -&gt;  shape diamond, colour red</a:t>
            </a:r>
          </a:p>
          <a:p>
            <a:pPr algn="l">
              <a:spcAft>
                <a:spcPts val="300"/>
              </a:spcAft>
            </a:pPr>
            <a:r>
              <a:rPr sz="1200" b="0" i="0">
                <a:solidFill>
                  <a:srgbClr val="009E73"/>
                </a:solidFill>
                <a:latin typeface="Menlo"/>
              </a:rPr>
              <a:t>  size $Jmag/2.</a:t>
            </a:r>
          </a:p>
        </p:txBody>
      </p:sp>
      <p:sp>
        <p:nvSpPr>
          <p:cNvPr id="5" name="TextBox 4"/>
          <p:cNvSpPr txBox="1"/>
          <p:nvPr/>
        </p:nvSpPr>
        <p:spPr>
          <a:xfrm>
            <a:off x="548640" y="5522976"/>
            <a:ext cx="11094415" cy="877824"/>
          </a:xfrm>
          <a:prstGeom prst="rect">
            <a:avLst/>
          </a:prstGeom>
          <a:noFill/>
        </p:spPr>
        <p:txBody>
          <a:bodyPr wrap="square" anchor="t" lIns="0" rIns="0" tIns="0" bIns="0">
            <a:spAutoFit/>
          </a:bodyPr>
          <a:lstStyle/>
          <a:p>
            <a:pPr algn="l">
              <a:spcAft>
                <a:spcPts val="600"/>
              </a:spcAft>
            </a:pPr>
            <a:r>
              <a:rPr sz="1400" b="0" i="0">
                <a:solidFill>
                  <a:srgbClr val="9AA0AE"/>
                </a:solidFill>
                <a:latin typeface="Helvetica Neue"/>
              </a:rPr>
              <a:t>Root cause: a region file is a serialization of what is ON THE SCREEN, not a record of what is true — so colour, window state and a decorative version string all belong in it, and the image reference does not. And JS9 shows the cost: it grew a boolean query language over colour, which freezes the palette forever.</a:t>
            </a:r>
          </a:p>
        </p:txBody>
      </p:sp>
      <p:sp>
        <p:nvSpPr>
          <p:cNvPr id="6" name="TextBox 5"/>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7" name="TextBox 6"/>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E69F00"/>
                </a:solidFill>
                <a:latin typeface="Helvetica Neue"/>
              </a:rPr>
              <a:t>THE NEAREST NEIGHBOUR</a:t>
            </a:r>
          </a:p>
          <a:p>
            <a:pPr algn="l">
              <a:spcAft>
                <a:spcPts val="1800"/>
              </a:spcAft>
            </a:pPr>
            <a:r>
              <a:rPr sz="3000" b="1" i="0">
                <a:solidFill>
                  <a:srgbClr val="F2F3F7"/>
                </a:solidFill>
                <a:latin typeface="Helvetica Neue"/>
              </a:rPr>
              <a:t>Space Warps encoded “not a lens” as the absence of markers.</a:t>
            </a:r>
          </a:p>
          <a:p>
            <a:pPr algn="l">
              <a:spcAft>
                <a:spcPts val="600"/>
              </a:spcAft>
            </a:pPr>
            <a:r>
              <a:rPr sz="1500" b="0" i="0">
                <a:solidFill>
                  <a:srgbClr val="9AA0AE"/>
                </a:solidFill>
                <a:latin typeface="Helvetica Neue"/>
              </a:rPr>
              <a:t>In a strong-lensing citizen-science project at scale — the closest possible neighbour to this work — a volunteer placing no marks *was* the rejection. The reasoning behind a negative was never recorded, only its outcome.
That is the same gap the workshop identified in the current annotations, reached independently. It is the strongest argument for making negative evidence a first-class mark.</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Nine convergences</a:t>
            </a:r>
          </a:p>
          <a:p>
            <a:pPr algn="l">
              <a:spcAft>
                <a:spcPts val="600"/>
              </a:spcAft>
            </a:pPr>
            <a:r>
              <a:rPr sz="1300" b="0" i="0">
                <a:solidFill>
                  <a:srgbClr val="9AA0AE"/>
                </a:solidFill>
                <a:latin typeface="Helvetica Neue"/>
              </a:rPr>
              <a:t>Mechanisms unrelated domains arrived at independently</a:t>
            </a:r>
          </a:p>
        </p:txBody>
      </p:sp>
      <p:graphicFrame>
        <p:nvGraphicFramePr>
          <p:cNvPr id="3" name="Table 2"/>
          <p:cNvGraphicFramePr>
            <a:graphicFrameLocks noGrp="1"/>
          </p:cNvGraphicFramePr>
          <p:nvPr/>
        </p:nvGraphicFramePr>
        <p:xfrm>
          <a:off x="548640" y="1417320"/>
          <a:ext cx="11094414" cy="3621024"/>
        </p:xfrm>
        <a:graphic>
          <a:graphicData uri="http://schemas.openxmlformats.org/drawingml/2006/table">
            <a:tbl>
              <a:tblPr firstRow="1" bandRow="1">
                <a:tableStyleId>{5C22544A-7EE6-4342-B048-85BDC9FD1C3A}</a:tableStyleId>
              </a:tblPr>
              <a:tblGrid>
                <a:gridCol w="9541196"/>
                <a:gridCol w="1553218"/>
              </a:tblGrid>
              <a:tr h="329184">
                <a:tc>
                  <a:txBody>
                    <a:bodyPr/>
                    <a:lstStyle/>
                    <a:p>
                      <a:r>
                        <a:rPr sz="1300" b="1">
                          <a:solidFill>
                            <a:srgbClr val="56B4E9"/>
                          </a:solidFill>
                          <a:latin typeface="Helvetica Neue"/>
                        </a:rPr>
                        <a:t>Mechanism</a:t>
                      </a:r>
                    </a:p>
                  </a:txBody>
                  <a:tcPr anchor="ctr">
                    <a:solidFill>
                      <a:srgbClr val="1A1E28"/>
                    </a:solidFill>
                  </a:tcPr>
                </a:tc>
                <a:tc>
                  <a:txBody>
                    <a:bodyPr/>
                    <a:lstStyle/>
                    <a:p>
                      <a:r>
                        <a:rPr sz="1300" b="1">
                          <a:solidFill>
                            <a:srgbClr val="56B4E9"/>
                          </a:solidFill>
                          <a:latin typeface="Helvetica Neue"/>
                        </a:rPr>
                        <a:t>Domains</a:t>
                      </a:r>
                    </a:p>
                  </a:txBody>
                  <a:tcPr anchor="ctr">
                    <a:solidFill>
                      <a:srgbClr val="1A1E28"/>
                    </a:solidFill>
                  </a:tcPr>
                </a:tc>
              </a:tr>
              <a:tr h="329184">
                <a:tc>
                  <a:txBody>
                    <a:bodyPr/>
                    <a:lstStyle/>
                    <a:p>
                      <a:r>
                        <a:rPr sz="1300" b="0">
                          <a:solidFill>
                            <a:srgbClr val="F2F3F7"/>
                          </a:solidFill>
                          <a:latin typeface="Helvetica Neue"/>
                        </a:rPr>
                        <a:t>A term is an opaque code; the display string is documentation</a:t>
                      </a:r>
                    </a:p>
                  </a:txBody>
                  <a:tcPr anchor="ctr">
                    <a:solidFill>
                      <a:srgbClr val="161A24"/>
                    </a:solidFill>
                  </a:tcPr>
                </a:tc>
                <a:tc>
                  <a:txBody>
                    <a:bodyPr/>
                    <a:lstStyle/>
                    <a:p>
                      <a:r>
                        <a:rPr sz="1300" b="0">
                          <a:solidFill>
                            <a:srgbClr val="F2F3F7"/>
                          </a:solidFill>
                          <a:latin typeface="Helvetica Neue"/>
                        </a:rPr>
                        <a:t>7</a:t>
                      </a:r>
                    </a:p>
                  </a:txBody>
                  <a:tcPr anchor="ctr">
                    <a:solidFill>
                      <a:srgbClr val="161A24"/>
                    </a:solidFill>
                  </a:tcPr>
                </a:tc>
              </a:tr>
              <a:tr h="329184">
                <a:tc>
                  <a:txBody>
                    <a:bodyPr/>
                    <a:lstStyle/>
                    <a:p>
                      <a:r>
                        <a:rPr sz="1300" b="0">
                          <a:solidFill>
                            <a:srgbClr val="F2F3F7"/>
                          </a:solidFill>
                          <a:latin typeface="Helvetica Neue"/>
                        </a:rPr>
                        <a:t>Record and portrayal are separate, separately versioned artifacts</a:t>
                      </a:r>
                    </a:p>
                  </a:txBody>
                  <a:tcPr anchor="ctr">
                    <a:solidFill>
                      <a:srgbClr val="11141C"/>
                    </a:solidFill>
                  </a:tcPr>
                </a:tc>
                <a:tc>
                  <a:txBody>
                    <a:bodyPr/>
                    <a:lstStyle/>
                    <a:p>
                      <a:r>
                        <a:rPr sz="1300" b="0">
                          <a:solidFill>
                            <a:srgbClr val="F2F3F7"/>
                          </a:solidFill>
                          <a:latin typeface="Helvetica Neue"/>
                        </a:rPr>
                        <a:t>10</a:t>
                      </a:r>
                    </a:p>
                  </a:txBody>
                  <a:tcPr anchor="ctr">
                    <a:solidFill>
                      <a:srgbClr val="11141C"/>
                    </a:solidFill>
                  </a:tcPr>
                </a:tc>
              </a:tr>
              <a:tr h="329184">
                <a:tc>
                  <a:txBody>
                    <a:bodyPr/>
                    <a:lstStyle/>
                    <a:p>
                      <a:r>
                        <a:rPr sz="1300" b="0">
                          <a:solidFill>
                            <a:srgbClr val="F2F3F7"/>
                          </a:solidFill>
                          <a:latin typeface="Helvetica Neue"/>
                        </a:rPr>
                        <a:t>Geometry and meaning are two objects joined by a stable id</a:t>
                      </a:r>
                    </a:p>
                  </a:txBody>
                  <a:tcPr anchor="ctr">
                    <a:solidFill>
                      <a:srgbClr val="161A24"/>
                    </a:solidFill>
                  </a:tcPr>
                </a:tc>
                <a:tc>
                  <a:txBody>
                    <a:bodyPr/>
                    <a:lstStyle/>
                    <a:p>
                      <a:r>
                        <a:rPr sz="1300" b="0">
                          <a:solidFill>
                            <a:srgbClr val="F2F3F7"/>
                          </a:solidFill>
                          <a:latin typeface="Helvetica Neue"/>
                        </a:rPr>
                        <a:t>10</a:t>
                      </a:r>
                    </a:p>
                  </a:txBody>
                  <a:tcPr anchor="ctr">
                    <a:solidFill>
                      <a:srgbClr val="161A24"/>
                    </a:solidFill>
                  </a:tcPr>
                </a:tc>
              </a:tr>
              <a:tr h="329184">
                <a:tc>
                  <a:txBody>
                    <a:bodyPr/>
                    <a:lstStyle/>
                    <a:p>
                      <a:r>
                        <a:rPr sz="1300" b="0">
                          <a:solidFill>
                            <a:srgbClr val="F2F3F7"/>
                          </a:solidFill>
                          <a:latin typeface="Helvetica Neue"/>
                        </a:rPr>
                        <a:t>Never join by ordinal index</a:t>
                      </a:r>
                    </a:p>
                  </a:txBody>
                  <a:tcPr anchor="ctr">
                    <a:solidFill>
                      <a:srgbClr val="11141C"/>
                    </a:solidFill>
                  </a:tcPr>
                </a:tc>
                <a:tc>
                  <a:txBody>
                    <a:bodyPr/>
                    <a:lstStyle/>
                    <a:p>
                      <a:r>
                        <a:rPr sz="1300" b="0">
                          <a:solidFill>
                            <a:srgbClr val="F2F3F7"/>
                          </a:solidFill>
                          <a:latin typeface="Helvetica Neue"/>
                        </a:rPr>
                        <a:t>—</a:t>
                      </a:r>
                    </a:p>
                  </a:txBody>
                  <a:tcPr anchor="ctr">
                    <a:solidFill>
                      <a:srgbClr val="11141C"/>
                    </a:solidFill>
                  </a:tcPr>
                </a:tc>
              </a:tr>
              <a:tr h="329184">
                <a:tc>
                  <a:txBody>
                    <a:bodyPr/>
                    <a:lstStyle/>
                    <a:p>
                      <a:r>
                        <a:rPr sz="1300" b="0">
                          <a:solidFill>
                            <a:srgbClr val="F2F3F7"/>
                          </a:solidFill>
                          <a:latin typeface="Helvetica Neue"/>
                        </a:rPr>
                        <a:t>Absence is not one thing; a missing key is never enough</a:t>
                      </a:r>
                    </a:p>
                  </a:txBody>
                  <a:tcPr anchor="ctr">
                    <a:solidFill>
                      <a:srgbClr val="161A24"/>
                    </a:solidFill>
                  </a:tcPr>
                </a:tc>
                <a:tc>
                  <a:txBody>
                    <a:bodyPr/>
                    <a:lstStyle/>
                    <a:p>
                      <a:r>
                        <a:rPr sz="1300" b="0">
                          <a:solidFill>
                            <a:srgbClr val="F2F3F7"/>
                          </a:solidFill>
                          <a:latin typeface="Helvetica Neue"/>
                        </a:rPr>
                        <a:t>8</a:t>
                      </a:r>
                    </a:p>
                  </a:txBody>
                  <a:tcPr anchor="ctr">
                    <a:solidFill>
                      <a:srgbClr val="161A24"/>
                    </a:solidFill>
                  </a:tcPr>
                </a:tc>
              </a:tr>
              <a:tr h="329184">
                <a:tc>
                  <a:txBody>
                    <a:bodyPr/>
                    <a:lstStyle/>
                    <a:p>
                      <a:r>
                        <a:rPr sz="1300" b="0">
                          <a:solidFill>
                            <a:srgbClr val="F2F3F7"/>
                          </a:solidFill>
                          <a:latin typeface="Helvetica Neue"/>
                        </a:rPr>
                        <a:t>A measurement lives in exactly one place; geometry is derived</a:t>
                      </a:r>
                    </a:p>
                  </a:txBody>
                  <a:tcPr anchor="ctr">
                    <a:solidFill>
                      <a:srgbClr val="11141C"/>
                    </a:solidFill>
                  </a:tcPr>
                </a:tc>
                <a:tc>
                  <a:txBody>
                    <a:bodyPr/>
                    <a:lstStyle/>
                    <a:p>
                      <a:r>
                        <a:rPr sz="1300" b="0">
                          <a:solidFill>
                            <a:srgbClr val="F2F3F7"/>
                          </a:solidFill>
                          <a:latin typeface="Helvetica Neue"/>
                        </a:rPr>
                        <a:t>8</a:t>
                      </a:r>
                    </a:p>
                  </a:txBody>
                  <a:tcPr anchor="ctr">
                    <a:solidFill>
                      <a:srgbClr val="11141C"/>
                    </a:solidFill>
                  </a:tcPr>
                </a:tc>
              </a:tr>
              <a:tr h="329184">
                <a:tc>
                  <a:txBody>
                    <a:bodyPr/>
                    <a:lstStyle/>
                    <a:p>
                      <a:r>
                        <a:rPr sz="1300" b="0">
                          <a:solidFill>
                            <a:srgbClr val="F2F3F7"/>
                          </a:solidFill>
                          <a:latin typeface="Helvetica Neue"/>
                        </a:rPr>
                        <a:t>Deprecate additively, never delete; make the retirement link typed</a:t>
                      </a:r>
                    </a:p>
                  </a:txBody>
                  <a:tcPr anchor="ctr">
                    <a:solidFill>
                      <a:srgbClr val="161A24"/>
                    </a:solidFill>
                  </a:tcPr>
                </a:tc>
                <a:tc>
                  <a:txBody>
                    <a:bodyPr/>
                    <a:lstStyle/>
                    <a:p>
                      <a:r>
                        <a:rPr sz="1300" b="0">
                          <a:solidFill>
                            <a:srgbClr val="F2F3F7"/>
                          </a:solidFill>
                          <a:latin typeface="Helvetica Neue"/>
                        </a:rPr>
                        <a:t>6</a:t>
                      </a:r>
                    </a:p>
                  </a:txBody>
                  <a:tcPr anchor="ctr">
                    <a:solidFill>
                      <a:srgbClr val="161A24"/>
                    </a:solidFill>
                  </a:tcPr>
                </a:tc>
              </a:tr>
              <a:tr h="329184">
                <a:tc>
                  <a:txBody>
                    <a:bodyPr/>
                    <a:lstStyle/>
                    <a:p>
                      <a:r>
                        <a:rPr sz="1300" b="0">
                          <a:solidFill>
                            <a:srgbClr val="F2F3F7"/>
                          </a:solidFill>
                          <a:latin typeface="Helvetica Neue"/>
                        </a:rPr>
                        <a:t>Generate every downstream artifact from one source file</a:t>
                      </a:r>
                    </a:p>
                  </a:txBody>
                  <a:tcPr anchor="ctr">
                    <a:solidFill>
                      <a:srgbClr val="11141C"/>
                    </a:solidFill>
                  </a:tcPr>
                </a:tc>
                <a:tc>
                  <a:txBody>
                    <a:bodyPr/>
                    <a:lstStyle/>
                    <a:p>
                      <a:r>
                        <a:rPr sz="1300" b="0">
                          <a:solidFill>
                            <a:srgbClr val="F2F3F7"/>
                          </a:solidFill>
                          <a:latin typeface="Helvetica Neue"/>
                        </a:rPr>
                        <a:t>7</a:t>
                      </a:r>
                    </a:p>
                  </a:txBody>
                  <a:tcPr anchor="ctr">
                    <a:solidFill>
                      <a:srgbClr val="11141C"/>
                    </a:solidFill>
                  </a:tcPr>
                </a:tc>
              </a:tr>
              <a:tr h="329184">
                <a:tc>
                  <a:txBody>
                    <a:bodyPr/>
                    <a:lstStyle/>
                    <a:p>
                      <a:r>
                        <a:rPr sz="1300" b="0">
                          <a:solidFill>
                            <a:srgbClr val="F2F3F7"/>
                          </a:solidFill>
                          <a:latin typeface="Helvetica Neue"/>
                        </a:rPr>
                        <a:t>Colour is never the only carrier; the achromatic rendering is authored</a:t>
                      </a:r>
                    </a:p>
                  </a:txBody>
                  <a:tcPr anchor="ctr">
                    <a:solidFill>
                      <a:srgbClr val="161A24"/>
                    </a:solidFill>
                  </a:tcPr>
                </a:tc>
                <a:tc>
                  <a:txBody>
                    <a:bodyPr/>
                    <a:lstStyle/>
                    <a:p>
                      <a:r>
                        <a:rPr sz="1300" b="0">
                          <a:solidFill>
                            <a:srgbClr val="F2F3F7"/>
                          </a:solidFill>
                          <a:latin typeface="Helvetica Neue"/>
                        </a:rPr>
                        <a:t>7</a:t>
                      </a:r>
                    </a:p>
                  </a:txBody>
                  <a:tcPr anchor="ctr">
                    <a:solidFill>
                      <a:srgbClr val="161A24"/>
                    </a:solidFill>
                  </a:tcPr>
                </a:tc>
              </a:tr>
              <a:tr h="329184">
                <a:tc>
                  <a:txBody>
                    <a:bodyPr/>
                    <a:lstStyle/>
                    <a:p>
                      <a:r>
                        <a:rPr sz="1300" b="1">
                          <a:solidFill>
                            <a:srgbClr val="E69F00"/>
                          </a:solidFill>
                          <a:latin typeface="Helvetica Neue"/>
                        </a:rPr>
                        <a:t>The rich canonical form needs a flat companion or it does not get written</a:t>
                      </a:r>
                    </a:p>
                  </a:txBody>
                  <a:tcPr anchor="ctr">
                    <a:solidFill>
                      <a:srgbClr val="11141C"/>
                    </a:solidFill>
                  </a:tcPr>
                </a:tc>
                <a:tc>
                  <a:txBody>
                    <a:bodyPr/>
                    <a:lstStyle/>
                    <a:p>
                      <a:r>
                        <a:rPr sz="1300" b="1">
                          <a:solidFill>
                            <a:srgbClr val="E69F00"/>
                          </a:solidFill>
                          <a:latin typeface="Helvetica Neue"/>
                        </a:rPr>
                        <a:t>7</a:t>
                      </a:r>
                    </a:p>
                  </a:txBody>
                  <a:tcPr anchor="ctr">
                    <a:solidFill>
                      <a:srgbClr val="11141C"/>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The last one is independent confirmation of the read/write asymmetry — in four of those seven, the flat companion is what actually shipped</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468880"/>
            <a:ext cx="1005840" cy="381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97480"/>
            <a:ext cx="9997135" cy="2194560"/>
          </a:xfrm>
          <a:prstGeom prst="rect">
            <a:avLst/>
          </a:prstGeom>
          <a:noFill/>
        </p:spPr>
        <p:txBody>
          <a:bodyPr wrap="square" anchor="t" lIns="0" rIns="0" tIns="0" bIns="0">
            <a:spAutoFit/>
          </a:bodyPr>
          <a:lstStyle/>
          <a:p>
            <a:pPr algn="l">
              <a:spcAft>
                <a:spcPts val="1200"/>
              </a:spcAft>
            </a:pPr>
            <a:r>
              <a:rPr sz="1300" b="1" i="0">
                <a:solidFill>
                  <a:srgbClr val="E69F00"/>
                </a:solidFill>
                <a:latin typeface="Helvetica Neue"/>
              </a:rPr>
              <a:t>PART THREE</a:t>
            </a:r>
          </a:p>
          <a:p>
            <a:pPr algn="l">
              <a:spcAft>
                <a:spcPts val="1200"/>
              </a:spcAft>
            </a:pPr>
            <a:r>
              <a:rPr sz="3400" b="1" i="0">
                <a:solidFill>
                  <a:srgbClr val="F2F3F7"/>
                </a:solidFill>
                <a:latin typeface="Helvetica Neue"/>
              </a:rPr>
              <a:t>The three questions you asked</a:t>
            </a:r>
          </a:p>
          <a:p>
            <a:pPr algn="l">
              <a:spcAft>
                <a:spcPts val="600"/>
              </a:spcAft>
            </a:pPr>
            <a:r>
              <a:rPr sz="1500" b="0" i="0">
                <a:solidFill>
                  <a:srgbClr val="9AA0AE"/>
                </a:solidFill>
                <a:latin typeface="Helvetica Neue"/>
              </a:rPr>
              <a:t>Accessibility · thin but readable · resize for emphasis</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009E73"/>
                </a:solidFill>
                <a:latin typeface="Helvetica Neue"/>
              </a:rPr>
              <a:t>QUESTION ONE — ACCESSIBILITY</a:t>
            </a:r>
          </a:p>
          <a:p>
            <a:pPr algn="l">
              <a:spcAft>
                <a:spcPts val="1800"/>
              </a:spcAft>
            </a:pPr>
            <a:r>
              <a:rPr sz="3000" b="1" i="0">
                <a:solidFill>
                  <a:srgbClr val="F2F3F7"/>
                </a:solidFill>
                <a:latin typeface="Helvetica Neue"/>
              </a:rPr>
              <a:t>Yes — and it changes the notation, not just the palette.</a:t>
            </a:r>
          </a:p>
          <a:p>
            <a:pPr algn="l">
              <a:spcAft>
                <a:spcPts val="600"/>
              </a:spcAft>
            </a:pPr>
            <a:r>
              <a:rPr sz="1500" b="0" i="0">
                <a:solidFill>
                  <a:srgbClr val="9AA0AE"/>
                </a:solidFill>
                <a:latin typeface="Helvetica Neue"/>
              </a:rPr>
              <a:t>Role is carried by glyph SHAPE. Polarity by stroke TEXTURE. Colour reinforces and never carries alone (WCAG 2.2 SC 1.4.1).
Two consequences fall out rather than being imposed: size cannot carry emphasis, because size is already spoken for by measurement; and colour cannot carry polarity — which is where the room had independently arrived.</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Accessibility as a test, not an aspiration</a:t>
            </a:r>
          </a:p>
          <a:p>
            <a:pPr algn="l">
              <a:spcAft>
                <a:spcPts val="600"/>
              </a:spcAft>
            </a:pPr>
            <a:r>
              <a:rPr sz="1300" b="0" i="0">
                <a:solidFill>
                  <a:srgbClr val="9AA0AE"/>
                </a:solidFill>
                <a:latin typeface="Helvetica Neue"/>
              </a:rPr>
              <a:t>The same document rendered three times — all positive, all negative, all ambiguous — with every label removed</a:t>
            </a:r>
          </a:p>
        </p:txBody>
      </p:sp>
      <p:pic>
        <p:nvPicPr>
          <p:cNvPr id="3" name="Picture 2" descr="polarity-triad.png"/>
          <p:cNvPicPr>
            <a:picLocks noChangeAspect="1"/>
          </p:cNvPicPr>
          <p:nvPr/>
        </p:nvPicPr>
        <p:blipFill>
          <a:blip r:embed="rId2"/>
          <a:stretch>
            <a:fillRect/>
          </a:stretch>
        </p:blipFill>
        <p:spPr>
          <a:xfrm>
            <a:off x="548640" y="1417320"/>
            <a:ext cx="11094415" cy="4042880"/>
          </a:xfrm>
          <a:prstGeom prst="rect">
            <a:avLst/>
          </a:prstGeom>
        </p:spPr>
      </p:pic>
      <p:sp>
        <p:nvSpPr>
          <p:cNvPr id="4" name="TextBox 3"/>
          <p:cNvSpPr txBox="1"/>
          <p:nvPr/>
        </p:nvSpPr>
        <p:spPr>
          <a:xfrm>
            <a:off x="548640" y="5533352"/>
            <a:ext cx="11094415" cy="365760"/>
          </a:xfrm>
          <a:prstGeom prst="rect">
            <a:avLst/>
          </a:prstGeom>
          <a:noFill/>
        </p:spPr>
        <p:txBody>
          <a:bodyPr wrap="square" anchor="t" lIns="0" rIns="0" tIns="0" bIns="0">
            <a:spAutoFit/>
          </a:bodyPr>
          <a:lstStyle/>
          <a:p>
            <a:pPr algn="l">
              <a:spcAft>
                <a:spcPts val="600"/>
              </a:spcAft>
            </a:pPr>
            <a:r>
              <a:rPr sz="1100" b="0" i="0">
                <a:solidFill>
                  <a:srgbClr val="9AA0AE"/>
                </a:solidFill>
                <a:latin typeface="Helvetica Neue"/>
              </a:rPr>
              <a:t>If this sheet were ambiguous, the polarity channel would have failed.</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05-accessibility-design.md · examples/cvd.py</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gate, and its result</a:t>
            </a:r>
          </a:p>
          <a:p>
            <a:pPr algn="l">
              <a:spcAft>
                <a:spcPts val="600"/>
              </a:spcAft>
            </a:pPr>
            <a:r>
              <a:rPr sz="1300" b="0" i="0">
                <a:solidFill>
                  <a:srgbClr val="9AA0AE"/>
                </a:solidFill>
                <a:latin typeface="Helvetica Neue"/>
              </a:rPr>
              <a:t>For every pair below the ΔE floor, assert that a non-colour channel differs</a:t>
            </a:r>
          </a:p>
        </p:txBody>
      </p:sp>
      <p:sp>
        <p:nvSpPr>
          <p:cNvPr id="3" name="TextBox 2"/>
          <p:cNvSpPr txBox="1"/>
          <p:nvPr/>
        </p:nvSpPr>
        <p:spPr>
          <a:xfrm>
            <a:off x="548640" y="1874520"/>
            <a:ext cx="3515258" cy="2743200"/>
          </a:xfrm>
          <a:prstGeom prst="rect">
            <a:avLst/>
          </a:prstGeom>
          <a:noFill/>
        </p:spPr>
        <p:txBody>
          <a:bodyPr wrap="square" anchor="t" lIns="0" rIns="0" tIns="0" bIns="0">
            <a:spAutoFit/>
          </a:bodyPr>
          <a:lstStyle/>
          <a:p>
            <a:pPr algn="l">
              <a:spcAft>
                <a:spcPts val="1000"/>
              </a:spcAft>
            </a:pPr>
            <a:r>
              <a:rPr sz="4600" b="1" i="0">
                <a:solidFill>
                  <a:srgbClr val="56B4E9"/>
                </a:solidFill>
                <a:latin typeface="Helvetica Neue"/>
              </a:rPr>
              <a:t>136</a:t>
            </a:r>
          </a:p>
          <a:p>
            <a:pPr algn="l">
              <a:spcAft>
                <a:spcPts val="600"/>
              </a:spcAft>
            </a:pPr>
            <a:r>
              <a:rPr sz="1300" b="0" i="0">
                <a:solidFill>
                  <a:srgbClr val="9AA0AE"/>
                </a:solidFill>
                <a:latin typeface="Helvetica Neue"/>
              </a:rPr>
              <a:t>pairs of marks that can share a panel, checked under normal vision,
deuteranopia, protanopia, tritanopia and greyscale</a:t>
            </a:r>
          </a:p>
        </p:txBody>
      </p:sp>
      <p:sp>
        <p:nvSpPr>
          <p:cNvPr id="4" name="TextBox 3"/>
          <p:cNvSpPr txBox="1"/>
          <p:nvPr/>
        </p:nvSpPr>
        <p:spPr>
          <a:xfrm>
            <a:off x="4338218" y="1874520"/>
            <a:ext cx="3515258" cy="2743200"/>
          </a:xfrm>
          <a:prstGeom prst="rect">
            <a:avLst/>
          </a:prstGeom>
          <a:noFill/>
        </p:spPr>
        <p:txBody>
          <a:bodyPr wrap="square" anchor="t" lIns="0" rIns="0" tIns="0" bIns="0">
            <a:spAutoFit/>
          </a:bodyPr>
          <a:lstStyle/>
          <a:p>
            <a:pPr algn="l">
              <a:spcAft>
                <a:spcPts val="1000"/>
              </a:spcAft>
            </a:pPr>
            <a:r>
              <a:rPr sz="4600" b="1" i="0">
                <a:solidFill>
                  <a:srgbClr val="E69F00"/>
                </a:solidFill>
                <a:latin typeface="Helvetica Neue"/>
              </a:rPr>
              <a:t>123</a:t>
            </a:r>
          </a:p>
          <a:p>
            <a:pPr algn="l">
              <a:spcAft>
                <a:spcPts val="600"/>
              </a:spcAft>
            </a:pPr>
            <a:r>
              <a:rPr sz="1300" b="0" i="0">
                <a:solidFill>
                  <a:srgbClr val="9AA0AE"/>
                </a:solidFill>
                <a:latin typeface="Helvetica Neue"/>
              </a:rPr>
              <a:t>of them — 90% — are NOT reliably separable by colour
under some vision condition</a:t>
            </a:r>
          </a:p>
        </p:txBody>
      </p:sp>
      <p:sp>
        <p:nvSpPr>
          <p:cNvPr id="5" name="TextBox 4"/>
          <p:cNvSpPr txBox="1"/>
          <p:nvPr/>
        </p:nvSpPr>
        <p:spPr>
          <a:xfrm>
            <a:off x="8127796" y="1874520"/>
            <a:ext cx="3515258" cy="2743200"/>
          </a:xfrm>
          <a:prstGeom prst="rect">
            <a:avLst/>
          </a:prstGeom>
          <a:noFill/>
        </p:spPr>
        <p:txBody>
          <a:bodyPr wrap="square" anchor="t" lIns="0" rIns="0" tIns="0" bIns="0">
            <a:spAutoFit/>
          </a:bodyPr>
          <a:lstStyle/>
          <a:p>
            <a:pPr algn="l">
              <a:spcAft>
                <a:spcPts val="1000"/>
              </a:spcAft>
            </a:pPr>
            <a:r>
              <a:rPr sz="4600" b="1" i="0">
                <a:solidFill>
                  <a:srgbClr val="009E73"/>
                </a:solidFill>
                <a:latin typeface="Helvetica Neue"/>
              </a:rPr>
              <a:t>0</a:t>
            </a:r>
          </a:p>
          <a:p>
            <a:pPr algn="l">
              <a:spcAft>
                <a:spcPts val="600"/>
              </a:spcAft>
            </a:pPr>
            <a:r>
              <a:rPr sz="1300" b="0" i="0">
                <a:solidFill>
                  <a:srgbClr val="9AA0AE"/>
                </a:solidFill>
                <a:latin typeface="Helvetica Neue"/>
              </a:rPr>
              <a:t>are separated by colour alone.
Every one differs in shape, texture or orientation.</a:t>
            </a:r>
          </a:p>
        </p:txBody>
      </p:sp>
      <p:sp>
        <p:nvSpPr>
          <p:cNvPr id="6" name="TextBox 5"/>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The floor is calibrated, not guessed: pure red against pure green still measures ΔE2000 = 12.9 under deuteranopia — almost all of it lightness — so a floor at 12 would wave through the canonical confusion. It is set at 15.</a:t>
            </a:r>
          </a:p>
        </p:txBody>
      </p:sp>
      <p:sp>
        <p:nvSpPr>
          <p:cNvPr id="7" name="TextBox 6"/>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E69F00"/>
                </a:solidFill>
                <a:latin typeface="Helvetica Neue"/>
              </a:rPr>
              <a:t>QUESTION TWO — THIN BUT READABLE</a:t>
            </a:r>
          </a:p>
          <a:p>
            <a:pPr algn="l">
              <a:spcAft>
                <a:spcPts val="1800"/>
              </a:spcAft>
            </a:pPr>
            <a:r>
              <a:rPr sz="3000" b="1" i="0">
                <a:solidFill>
                  <a:srgbClr val="F2F3F7"/>
                </a:solidFill>
                <a:latin typeface="Helvetica Neue"/>
              </a:rPr>
              <a:t>The problem was misdiagnosed. It was never mainly stroke width.</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Where the ink actually goes</a:t>
            </a:r>
          </a:p>
          <a:p>
            <a:pPr algn="l">
              <a:spcAft>
                <a:spcPts val="600"/>
              </a:spcAft>
            </a:pPr>
            <a:r>
              <a:rPr sz="1300" b="0" i="0">
                <a:solidFill>
                  <a:srgbClr val="9AA0AE"/>
                </a:solidFill>
                <a:latin typeface="Helvetica Neue"/>
              </a:rPr>
              <a:t>Measured on the real renders</a:t>
            </a:r>
          </a:p>
        </p:txBody>
      </p:sp>
      <p:graphicFrame>
        <p:nvGraphicFramePr>
          <p:cNvPr id="3" name="Table 2"/>
          <p:cNvGraphicFramePr>
            <a:graphicFrameLocks noGrp="1"/>
          </p:cNvGraphicFramePr>
          <p:nvPr/>
        </p:nvGraphicFramePr>
        <p:xfrm>
          <a:off x="548640" y="1417320"/>
          <a:ext cx="11094414" cy="1975104"/>
        </p:xfrm>
        <a:graphic>
          <a:graphicData uri="http://schemas.openxmlformats.org/drawingml/2006/table">
            <a:tbl>
              <a:tblPr firstRow="1" bandRow="1">
                <a:tableStyleId>{5C22544A-7EE6-4342-B048-85BDC9FD1C3A}</a:tableStyleId>
              </a:tblPr>
              <a:tblGrid>
                <a:gridCol w="5103430"/>
                <a:gridCol w="2995492"/>
                <a:gridCol w="2995492"/>
              </a:tblGrid>
              <a:tr h="329184">
                <a:tc>
                  <a:txBody>
                    <a:bodyPr/>
                    <a:lstStyle/>
                    <a:p>
                      <a:r>
                        <a:rPr sz="1400" b="1">
                          <a:solidFill>
                            <a:srgbClr val="56B4E9"/>
                          </a:solidFill>
                          <a:latin typeface="Helvetica Neue"/>
                        </a:rPr>
                        <a:t/>
                      </a:r>
                    </a:p>
                  </a:txBody>
                  <a:tcPr anchor="ctr">
                    <a:solidFill>
                      <a:srgbClr val="1A1E28"/>
                    </a:solidFill>
                  </a:tcPr>
                </a:tc>
                <a:tc>
                  <a:txBody>
                    <a:bodyPr/>
                    <a:lstStyle/>
                    <a:p>
                      <a:r>
                        <a:rPr sz="1400" b="1">
                          <a:solidFill>
                            <a:srgbClr val="56B4E9"/>
                          </a:solidFill>
                          <a:latin typeface="Helvetica Neue"/>
                        </a:rPr>
                        <a:t>ink over the panel</a:t>
                      </a:r>
                    </a:p>
                  </a:txBody>
                  <a:tcPr anchor="ctr">
                    <a:solidFill>
                      <a:srgbClr val="1A1E28"/>
                    </a:solidFill>
                  </a:tcPr>
                </a:tc>
                <a:tc>
                  <a:txBody>
                    <a:bodyPr/>
                    <a:lstStyle/>
                    <a:p>
                      <a:r>
                        <a:rPr sz="1400" b="1">
                          <a:solidFill>
                            <a:srgbClr val="56B4E9"/>
                          </a:solidFill>
                          <a:latin typeface="Helvetica Neue"/>
                        </a:rPr>
                        <a:t>of which, the on-image legend plate</a:t>
                      </a:r>
                    </a:p>
                  </a:txBody>
                  <a:tcPr anchor="ctr">
                    <a:solidFill>
                      <a:srgbClr val="1A1E28"/>
                    </a:solidFill>
                  </a:tcPr>
                </a:tc>
              </a:tr>
              <a:tr h="329184">
                <a:tc>
                  <a:txBody>
                    <a:bodyPr/>
                    <a:lstStyle/>
                    <a:p>
                      <a:r>
                        <a:rPr sz="1400" b="0">
                          <a:solidFill>
                            <a:srgbClr val="F2F3F7"/>
                          </a:solidFill>
                          <a:latin typeface="Helvetica Neue"/>
                        </a:rPr>
                        <a:t>LensMark today, deck-01</a:t>
                      </a:r>
                    </a:p>
                  </a:txBody>
                  <a:tcPr anchor="ctr">
                    <a:solidFill>
                      <a:srgbClr val="161A24"/>
                    </a:solidFill>
                  </a:tcPr>
                </a:tc>
                <a:tc>
                  <a:txBody>
                    <a:bodyPr/>
                    <a:lstStyle/>
                    <a:p>
                      <a:r>
                        <a:rPr sz="1400" b="0">
                          <a:solidFill>
                            <a:srgbClr val="F2F3F7"/>
                          </a:solidFill>
                          <a:latin typeface="Helvetica Neue"/>
                        </a:rPr>
                        <a:t>7.7%</a:t>
                      </a:r>
                    </a:p>
                  </a:txBody>
                  <a:tcPr anchor="ctr">
                    <a:solidFill>
                      <a:srgbClr val="161A24"/>
                    </a:solidFill>
                  </a:tcPr>
                </a:tc>
                <a:tc>
                  <a:txBody>
                    <a:bodyPr/>
                    <a:lstStyle/>
                    <a:p>
                      <a:r>
                        <a:rPr sz="1400" b="1">
                          <a:solidFill>
                            <a:srgbClr val="F2F3F7"/>
                          </a:solidFill>
                          <a:latin typeface="Helvetica Neue"/>
                        </a:rPr>
                        <a:t>4.6%</a:t>
                      </a:r>
                    </a:p>
                  </a:txBody>
                  <a:tcPr anchor="ctr">
                    <a:solidFill>
                      <a:srgbClr val="161A24"/>
                    </a:solidFill>
                  </a:tcPr>
                </a:tc>
              </a:tr>
              <a:tr h="329184">
                <a:tc>
                  <a:txBody>
                    <a:bodyPr/>
                    <a:lstStyle/>
                    <a:p>
                      <a:r>
                        <a:rPr sz="1400" b="0">
                          <a:solidFill>
                            <a:srgbClr val="F2F3F7"/>
                          </a:solidFill>
                          <a:latin typeface="Helvetica Neue"/>
                        </a:rPr>
                        <a:t>deck-04</a:t>
                      </a:r>
                    </a:p>
                  </a:txBody>
                  <a:tcPr anchor="ctr">
                    <a:solidFill>
                      <a:srgbClr val="11141C"/>
                    </a:solidFill>
                  </a:tcPr>
                </a:tc>
                <a:tc>
                  <a:txBody>
                    <a:bodyPr/>
                    <a:lstStyle/>
                    <a:p>
                      <a:r>
                        <a:rPr sz="1400" b="0">
                          <a:solidFill>
                            <a:srgbClr val="F2F3F7"/>
                          </a:solidFill>
                          <a:latin typeface="Helvetica Neue"/>
                        </a:rPr>
                        <a:t>10.8%</a:t>
                      </a:r>
                    </a:p>
                  </a:txBody>
                  <a:tcPr anchor="ctr">
                    <a:solidFill>
                      <a:srgbClr val="11141C"/>
                    </a:solidFill>
                  </a:tcPr>
                </a:tc>
                <a:tc>
                  <a:txBody>
                    <a:bodyPr/>
                    <a:lstStyle/>
                    <a:p>
                      <a:r>
                        <a:rPr sz="1400" b="1">
                          <a:solidFill>
                            <a:srgbClr val="F2F3F7"/>
                          </a:solidFill>
                          <a:latin typeface="Helvetica Neue"/>
                        </a:rPr>
                        <a:t>6.6%</a:t>
                      </a:r>
                    </a:p>
                  </a:txBody>
                  <a:tcPr anchor="ctr">
                    <a:solidFill>
                      <a:srgbClr val="11141C"/>
                    </a:solidFill>
                  </a:tcPr>
                </a:tc>
              </a:tr>
              <a:tr h="329184">
                <a:tc>
                  <a:txBody>
                    <a:bodyPr/>
                    <a:lstStyle/>
                    <a:p>
                      <a:r>
                        <a:rPr sz="1400" b="0">
                          <a:solidFill>
                            <a:srgbClr val="F2F3F7"/>
                          </a:solidFill>
                          <a:latin typeface="Helvetica Neue"/>
                        </a:rPr>
                        <a:t>deck-08</a:t>
                      </a:r>
                    </a:p>
                  </a:txBody>
                  <a:tcPr anchor="ctr">
                    <a:solidFill>
                      <a:srgbClr val="161A24"/>
                    </a:solidFill>
                  </a:tcPr>
                </a:tc>
                <a:tc>
                  <a:txBody>
                    <a:bodyPr/>
                    <a:lstStyle/>
                    <a:p>
                      <a:r>
                        <a:rPr sz="1400" b="0">
                          <a:solidFill>
                            <a:srgbClr val="F2F3F7"/>
                          </a:solidFill>
                          <a:latin typeface="Helvetica Neue"/>
                        </a:rPr>
                        <a:t>9.7%</a:t>
                      </a:r>
                    </a:p>
                  </a:txBody>
                  <a:tcPr anchor="ctr">
                    <a:solidFill>
                      <a:srgbClr val="161A24"/>
                    </a:solidFill>
                  </a:tcPr>
                </a:tc>
                <a:tc>
                  <a:txBody>
                    <a:bodyPr/>
                    <a:lstStyle/>
                    <a:p>
                      <a:r>
                        <a:rPr sz="1400" b="1">
                          <a:solidFill>
                            <a:srgbClr val="F2F3F7"/>
                          </a:solidFill>
                          <a:latin typeface="Helvetica Neue"/>
                        </a:rPr>
                        <a:t>5.3%</a:t>
                      </a:r>
                    </a:p>
                  </a:txBody>
                  <a:tcPr anchor="ctr">
                    <a:solidFill>
                      <a:srgbClr val="161A24"/>
                    </a:solidFill>
                  </a:tcPr>
                </a:tc>
              </a:tr>
              <a:tr h="329184">
                <a:tc>
                  <a:txBody>
                    <a:bodyPr/>
                    <a:lstStyle/>
                    <a:p>
                      <a:r>
                        <a:rPr sz="1400" b="0">
                          <a:solidFill>
                            <a:srgbClr val="F2F3F7"/>
                          </a:solidFill>
                          <a:latin typeface="Helvetica Neue"/>
                        </a:rPr>
                        <a:t>deck-07 (legend off)</a:t>
                      </a:r>
                    </a:p>
                  </a:txBody>
                  <a:tcPr anchor="ctr">
                    <a:solidFill>
                      <a:srgbClr val="11141C"/>
                    </a:solidFill>
                  </a:tcPr>
                </a:tc>
                <a:tc>
                  <a:txBody>
                    <a:bodyPr/>
                    <a:lstStyle/>
                    <a:p>
                      <a:r>
                        <a:rPr sz="1400" b="0">
                          <a:solidFill>
                            <a:srgbClr val="F2F3F7"/>
                          </a:solidFill>
                          <a:latin typeface="Helvetica Neue"/>
                        </a:rPr>
                        <a:t>9.0%</a:t>
                      </a:r>
                    </a:p>
                  </a:txBody>
                  <a:tcPr anchor="ctr">
                    <a:solidFill>
                      <a:srgbClr val="11141C"/>
                    </a:solidFill>
                  </a:tcPr>
                </a:tc>
                <a:tc>
                  <a:txBody>
                    <a:bodyPr/>
                    <a:lstStyle/>
                    <a:p>
                      <a:r>
                        <a:rPr sz="1400" b="0">
                          <a:solidFill>
                            <a:srgbClr val="F2F3F7"/>
                          </a:solidFill>
                          <a:latin typeface="Helvetica Neue"/>
                        </a:rPr>
                        <a:t>0%</a:t>
                      </a:r>
                    </a:p>
                  </a:txBody>
                  <a:tcPr anchor="ctr">
                    <a:solidFill>
                      <a:srgbClr val="11141C"/>
                    </a:solidFill>
                  </a:tcPr>
                </a:tc>
              </a:tr>
              <a:tr h="329184">
                <a:tc>
                  <a:txBody>
                    <a:bodyPr/>
                    <a:lstStyle/>
                    <a:p>
                      <a:r>
                        <a:rPr sz="1400" b="1">
                          <a:solidFill>
                            <a:srgbClr val="E69F00"/>
                          </a:solidFill>
                          <a:latin typeface="Helvetica Neue"/>
                        </a:rPr>
                        <a:t>The campaign the room liked</a:t>
                      </a:r>
                    </a:p>
                  </a:txBody>
                  <a:tcPr anchor="ctr">
                    <a:solidFill>
                      <a:srgbClr val="161A24"/>
                    </a:solidFill>
                  </a:tcPr>
                </a:tc>
                <a:tc>
                  <a:txBody>
                    <a:bodyPr/>
                    <a:lstStyle/>
                    <a:p>
                      <a:r>
                        <a:rPr sz="1400" b="1">
                          <a:solidFill>
                            <a:srgbClr val="E69F00"/>
                          </a:solidFill>
                          <a:latin typeface="Helvetica Neue"/>
                        </a:rPr>
                        <a:t>1.2–2.3%</a:t>
                      </a:r>
                    </a:p>
                  </a:txBody>
                  <a:tcPr anchor="ctr">
                    <a:solidFill>
                      <a:srgbClr val="161A24"/>
                    </a:solidFill>
                  </a:tcPr>
                </a:tc>
                <a:tc>
                  <a:txBody>
                    <a:bodyPr/>
                    <a:lstStyle/>
                    <a:p>
                      <a:r>
                        <a:rPr sz="1400" b="1">
                          <a:solidFill>
                            <a:srgbClr val="E69F00"/>
                          </a:solidFill>
                          <a:latin typeface="Helvetica Neue"/>
                        </a:rPr>
                        <a:t>0% — its key sits *below* the image</a:t>
                      </a:r>
                    </a:p>
                  </a:txBody>
                  <a:tcPr anchor="ctr">
                    <a:solidFill>
                      <a:srgbClr val="161A24"/>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The legend plate is roughly half the total ink, and in most decks more than every arrow, circle, ring and label combined. Note deck-07: thirty items, no plate, and still lighter than the eleven-item decks that have one.</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56B4E9"/>
                </a:solidFill>
                <a:latin typeface="Helvetica Neue"/>
              </a:rPr>
              <a:t>THE RULE THAT FOLLOWS</a:t>
            </a:r>
          </a:p>
          <a:p>
            <a:pPr algn="l">
              <a:spcAft>
                <a:spcPts val="1800"/>
              </a:spcAft>
            </a:pPr>
            <a:r>
              <a:rPr sz="3000" b="1" i="0">
                <a:solidFill>
                  <a:srgbClr val="F2F3F7"/>
                </a:solidFill>
                <a:latin typeface="Helvetica Neue"/>
              </a:rPr>
              <a:t>No ink inside the image rectangle that is not about a specific location in it.</a:t>
            </a:r>
          </a:p>
          <a:p>
            <a:pPr algn="l">
              <a:spcAft>
                <a:spcPts val="600"/>
              </a:spcAft>
            </a:pPr>
            <a:r>
              <a:rPr sz="1500" b="0" i="0">
                <a:solidFill>
                  <a:srgbClr val="9AA0AE"/>
                </a:solidFill>
                <a:latin typeface="Helvetica Neue"/>
              </a:rPr>
              <a:t>This settles the apparent contradiction in the record. “Labels go on the object” and “the legend obscured the image” are both true and are about different things: identification belongs on the object, the key belongs below.
The notation key is printed once per SHEET, not once per panel. One principled exception: the scale bar, because a length comparison needs physical adjacency to the pixels being compared.</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009E73"/>
                </a:solidFill>
                <a:latin typeface="Helvetica Neue"/>
              </a:rPr>
              <a:t>QUESTION THREE — RESIZE FOR EMPHASIS</a:t>
            </a:r>
          </a:p>
          <a:p>
            <a:pPr algn="l">
              <a:spcAft>
                <a:spcPts val="1800"/>
              </a:spcAft>
            </a:pPr>
            <a:r>
              <a:rPr sz="3000" b="1" i="0">
                <a:solidFill>
                  <a:srgbClr val="F2F3F7"/>
                </a:solidFill>
                <a:latin typeface="Helvetica Neue"/>
              </a:rPr>
              <a:t>Emphasise the stroke, never the path.</a:t>
            </a:r>
          </a:p>
          <a:p>
            <a:pPr algn="l">
              <a:spcAft>
                <a:spcPts val="600"/>
              </a:spcAft>
            </a:pPr>
            <a:r>
              <a:rPr sz="1500" b="0" i="0">
                <a:solidFill>
                  <a:srgbClr val="9AA0AE"/>
                </a:solidFill>
                <a:latin typeface="Helvetica Neue"/>
              </a:rPr>
              <a:t>The obstacle is that some marks encode a measurement in their size — the ring radius IS θ_E. So every drawn scalar is tagged METRIC or PRESENTATIONAL, and emphasis scales only the presentational ones.
A ring at </a:t>
            </a:r>
            <a:r>
              <a:rPr sz="1500" b="0" i="0">
                <a:solidFill>
                  <a:srgbClr val="56B4E9"/>
                </a:solidFill>
                <a:latin typeface="Menlo"/>
              </a:rPr>
              <a:t>key</a:t>
            </a:r>
            <a:r>
              <a:rPr sz="1500" b="0" i="0">
                <a:solidFill>
                  <a:srgbClr val="9AA0AE"/>
                </a:solidFill>
                <a:latin typeface="Helvetica Neue"/>
              </a:rPr>
              <a:t> gets heavier, closer-spaced dots and a stronger casing — it visibly shouts — while its radius does not move by one pixel.</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partition</a:t>
            </a:r>
          </a:p>
          <a:p>
            <a:pPr algn="l">
              <a:spcAft>
                <a:spcPts val="600"/>
              </a:spcAft>
            </a:pPr>
            <a:r>
              <a:rPr sz="1300" b="0" i="0">
                <a:solidFill>
                  <a:srgbClr val="9AA0AE"/>
                </a:solidFill>
                <a:latin typeface="Helvetica Neue"/>
              </a:rPr>
              <a:t>Three ordinal levels: muted · normal · key</a:t>
            </a:r>
          </a:p>
        </p:txBody>
      </p:sp>
      <p:graphicFrame>
        <p:nvGraphicFramePr>
          <p:cNvPr id="3" name="Table 2"/>
          <p:cNvGraphicFramePr>
            <a:graphicFrameLocks noGrp="1"/>
          </p:cNvGraphicFramePr>
          <p:nvPr/>
        </p:nvGraphicFramePr>
        <p:xfrm>
          <a:off x="548640" y="1417320"/>
          <a:ext cx="11094414" cy="1316736"/>
        </p:xfrm>
        <a:graphic>
          <a:graphicData uri="http://schemas.openxmlformats.org/drawingml/2006/table">
            <a:tbl>
              <a:tblPr firstRow="1" bandRow="1">
                <a:tableStyleId>{5C22544A-7EE6-4342-B048-85BDC9FD1C3A}</a:tableStyleId>
              </a:tblPr>
              <a:tblGrid>
                <a:gridCol w="5547207"/>
                <a:gridCol w="5547207"/>
              </a:tblGrid>
              <a:tr h="329184">
                <a:tc>
                  <a:txBody>
                    <a:bodyPr/>
                    <a:lstStyle/>
                    <a:p>
                      <a:r>
                        <a:rPr sz="1400" b="1">
                          <a:solidFill>
                            <a:srgbClr val="56B4E9"/>
                          </a:solidFill>
                          <a:latin typeface="Helvetica Neue"/>
                        </a:rPr>
                        <a:t>PRESENTATIONAL — emphasis scales these</a:t>
                      </a:r>
                    </a:p>
                  </a:txBody>
                  <a:tcPr anchor="ctr">
                    <a:solidFill>
                      <a:srgbClr val="1A1E28"/>
                    </a:solidFill>
                  </a:tcPr>
                </a:tc>
                <a:tc>
                  <a:txBody>
                    <a:bodyPr/>
                    <a:lstStyle/>
                    <a:p>
                      <a:r>
                        <a:rPr sz="1400" b="1">
                          <a:solidFill>
                            <a:srgbClr val="56B4E9"/>
                          </a:solidFill>
                          <a:latin typeface="Helvetica Neue"/>
                        </a:rPr>
                        <a:t>METRIC — emphasis never touches these</a:t>
                      </a:r>
                    </a:p>
                  </a:txBody>
                  <a:tcPr anchor="ctr">
                    <a:solidFill>
                      <a:srgbClr val="1A1E28"/>
                    </a:solidFill>
                  </a:tcPr>
                </a:tc>
              </a:tr>
              <a:tr h="329184">
                <a:tc>
                  <a:txBody>
                    <a:bodyPr/>
                    <a:lstStyle/>
                    <a:p>
                      <a:r>
                        <a:rPr sz="1400" b="0">
                          <a:solidFill>
                            <a:srgbClr val="F2F3F7"/>
                          </a:solidFill>
                          <a:latin typeface="Helvetica Neue"/>
                        </a:rPr>
                        <a:t>stroke width, glyph size, label size and face</a:t>
                      </a:r>
                    </a:p>
                  </a:txBody>
                  <a:tcPr anchor="ctr">
                    <a:solidFill>
                      <a:srgbClr val="161A24"/>
                    </a:solidFill>
                  </a:tcPr>
                </a:tc>
                <a:tc>
                  <a:txBody>
                    <a:bodyPr/>
                    <a:lstStyle/>
                    <a:p>
                      <a:r>
                        <a:rPr sz="1400" b="0">
                          <a:solidFill>
                            <a:srgbClr val="F2F3F7"/>
                          </a:solidFill>
                          <a:latin typeface="Helvetica Neue"/>
                        </a:rPr>
                        <a:t>circle radius (mask, θ_E, bounds)</a:t>
                      </a:r>
                    </a:p>
                  </a:txBody>
                  <a:tcPr anchor="ctr">
                    <a:solidFill>
                      <a:srgbClr val="161A24"/>
                    </a:solidFill>
                  </a:tcPr>
                </a:tc>
              </a:tr>
              <a:tr h="329184">
                <a:tc>
                  <a:txBody>
                    <a:bodyPr/>
                    <a:lstStyle/>
                    <a:p>
                      <a:r>
                        <a:rPr sz="1400" b="0">
                          <a:solidFill>
                            <a:srgbClr val="F2F3F7"/>
                          </a:solidFill>
                          <a:latin typeface="Helvetica Neue"/>
                        </a:rPr>
                        <a:t>casing width, dot radius and spacing</a:t>
                      </a:r>
                    </a:p>
                  </a:txBody>
                  <a:tcPr anchor="ctr">
                    <a:solidFill>
                      <a:srgbClr val="11141C"/>
                    </a:solidFill>
                  </a:tcPr>
                </a:tc>
                <a:tc>
                  <a:txBody>
                    <a:bodyPr/>
                    <a:lstStyle/>
                    <a:p>
                      <a:r>
                        <a:rPr sz="1400" b="0">
                          <a:solidFill>
                            <a:srgbClr val="F2F3F7"/>
                          </a:solidFill>
                          <a:latin typeface="Helvetica Neue"/>
                        </a:rPr>
                        <a:t>polygon vertices</a:t>
                      </a:r>
                    </a:p>
                  </a:txBody>
                  <a:tcPr anchor="ctr">
                    <a:solidFill>
                      <a:srgbClr val="11141C"/>
                    </a:solidFill>
                  </a:tcPr>
                </a:tc>
              </a:tr>
              <a:tr h="329184">
                <a:tc>
                  <a:txBody>
                    <a:bodyPr/>
                    <a:lstStyle/>
                    <a:p>
                      <a:r>
                        <a:rPr sz="1400" b="0">
                          <a:solidFill>
                            <a:srgbClr val="F2F3F7"/>
                          </a:solidFill>
                          <a:latin typeface="Helvetica Neue"/>
                        </a:rPr>
                        <a:t>layer alpha, shaft length, tail position</a:t>
                      </a:r>
                    </a:p>
                  </a:txBody>
                  <a:tcPr anchor="ctr">
                    <a:solidFill>
                      <a:srgbClr val="161A24"/>
                    </a:solidFill>
                  </a:tcPr>
                </a:tc>
                <a:tc>
                  <a:txBody>
                    <a:bodyPr/>
                    <a:lstStyle/>
                    <a:p>
                      <a:r>
                        <a:rPr sz="1400" b="0">
                          <a:solidFill>
                            <a:srgbClr val="F2F3F7"/>
                          </a:solidFill>
                          <a:latin typeface="Helvetica Neue"/>
                        </a:rPr>
                        <a:t>pointer head position</a:t>
                      </a:r>
                    </a:p>
                  </a:txBody>
                  <a:tcPr anchor="ctr">
                    <a:solidFill>
                      <a:srgbClr val="161A24"/>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Exactly three, and that is a bound rather than a preference: at 3:1 contrast the achievable lightness levels between black and white are 0.000, 0.100 and 0.400 — a fourth would need 1.30, which does not exist.</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Three design decisions inside the emphasis mechanic</a:t>
            </a:r>
          </a:p>
        </p:txBody>
      </p:sp>
      <p:sp>
        <p:nvSpPr>
          <p:cNvPr id="3" name="TextBox 2"/>
          <p:cNvSpPr txBox="1"/>
          <p:nvPr/>
        </p:nvSpPr>
        <p:spPr>
          <a:xfrm>
            <a:off x="548640" y="1188720"/>
            <a:ext cx="11094415" cy="50292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a:t>
            </a:r>
            <a:r>
              <a:rPr sz="1500" b="1" i="0">
                <a:solidFill>
                  <a:srgbClr val="F2F3F7"/>
                </a:solidFill>
                <a:latin typeface="Helvetica Neue"/>
              </a:rPr>
              <a:t>An ordinal enum, not a float.</a:t>
            </a:r>
            <a:r>
              <a:rPr sz="1500" b="0" i="0">
                <a:solidFill>
                  <a:srgbClr val="F2F3F7"/>
                </a:solidFill>
                <a:latin typeface="Helvetica Neue"/>
              </a:rPr>
              <a:t> A float invites </a:t>
            </a:r>
            <a:r>
              <a:rPr sz="1500" b="0" i="0">
                <a:solidFill>
                  <a:srgbClr val="56B4E9"/>
                </a:solidFill>
                <a:latin typeface="Menlo"/>
              </a:rPr>
              <a:t>1.37</a:t>
            </a:r>
            <a:r>
              <a:rPr sz="1500" b="0" i="0">
                <a:solidFill>
                  <a:srgbClr val="F2F3F7"/>
                </a:solidFill>
                <a:latin typeface="Helvetica Neue"/>
              </a:rPr>
              <a:t> and makes cross-panel comparison meaningless.</a:t>
            </a:r>
          </a:p>
          <a:p>
            <a:pPr algn="l">
              <a:spcAft>
                <a:spcPts val="900"/>
              </a:spcAft>
            </a:pPr>
            <a:r>
              <a:rPr sz="1500" b="0" i="0">
                <a:solidFill>
                  <a:srgbClr val="F2F3F7"/>
                </a:solidFill>
                <a:latin typeface="Helvetica Neue"/>
              </a:rPr>
              <a:t>– </a:t>
            </a:r>
            <a:r>
              <a:rPr sz="1500" b="1" i="0">
                <a:solidFill>
                  <a:srgbClr val="F2F3F7"/>
                </a:solidFill>
                <a:latin typeface="Helvetica Neue"/>
              </a:rPr>
              <a:t>The attention mark is corner brackets, not a halo ring.</a:t>
            </a:r>
            <a:r>
              <a:rPr sz="1500" b="0" i="0">
                <a:solidFill>
                  <a:srgbClr val="F2F3F7"/>
                </a:solidFill>
                <a:latin typeface="Helvetica Neue"/>
              </a:rPr>
              <a:t> This notation has already spent circles on measurement; a new circle around a feature reads as another measured radius. A square never does.</a:t>
            </a:r>
          </a:p>
          <a:p>
            <a:pPr algn="l">
              <a:spcAft>
                <a:spcPts val="900"/>
              </a:spcAft>
            </a:pPr>
            <a:r>
              <a:rPr sz="1500" b="0" i="0">
                <a:solidFill>
                  <a:srgbClr val="F2F3F7"/>
                </a:solidFill>
                <a:latin typeface="Helvetica Neue"/>
              </a:rPr>
              <a:t>– </a:t>
            </a:r>
            <a:r>
              <a:rPr sz="1500" b="1" i="0">
                <a:solidFill>
                  <a:srgbClr val="F2F3F7"/>
                </a:solidFill>
                <a:latin typeface="Helvetica Neue"/>
              </a:rPr>
              <a:t>A guard rail:</a:t>
            </a:r>
            <a:r>
              <a:rPr sz="1500" b="0" i="0">
                <a:solidFill>
                  <a:srgbClr val="F2F3F7"/>
                </a:solidFill>
                <a:latin typeface="Helvetica Neue"/>
              </a:rPr>
              <a:t> dot radius capped at 0.08 × radius, because oversized dots bias the radius a reader measures off the ink. A small circle therefore cannot be emphasised past a point — which is correct.</a:t>
            </a:r>
          </a:p>
          <a:p>
            <a:pPr algn="l">
              <a:spcAft>
                <a:spcPts val="900"/>
              </a:spcAft>
            </a:pPr>
            <a:r>
              <a:rPr sz="1500" b="0" i="0">
                <a:solidFill>
                  <a:srgbClr val="F2F3F7"/>
                </a:solidFill>
                <a:latin typeface="Helvetica Neue"/>
              </a:rPr>
              <a:t>– </a:t>
            </a:r>
            <a:r>
              <a:rPr sz="1500" b="1" i="0">
                <a:solidFill>
                  <a:srgbClr val="F2F3F7"/>
                </a:solidFill>
                <a:latin typeface="Helvetica Neue"/>
              </a:rPr>
              <a:t>Per-layer alpha, never per-stroke</a:t>
            </a:r>
            <a:r>
              <a:rPr sz="1500" b="0" i="0">
                <a:solidFill>
                  <a:srgbClr val="F2F3F7"/>
                </a:solidFill>
                <a:latin typeface="Helvetica Neue"/>
              </a:rPr>
              <a:t>, or two overlapping muted strokes double-composite and darken — an order-dependent defect that is painful to reproduce.</a:t>
            </a:r>
          </a:p>
          <a:p>
            <a:pPr algn="l">
              <a:spcAft>
                <a:spcPts val="900"/>
              </a:spcAft>
            </a:pPr>
            <a:r>
              <a:rPr sz="1500" b="0" i="0">
                <a:solidFill>
                  <a:srgbClr val="9AA0AE"/>
                </a:solidFill>
                <a:latin typeface="Helvetica Neue"/>
              </a:rPr>
              <a:t>– Two golden assertions come with it: absent emphasis must render byte-identical to </a:t>
            </a:r>
            <a:r>
              <a:rPr sz="1500" b="0" i="0">
                <a:solidFill>
                  <a:srgbClr val="56B4E9"/>
                </a:solidFill>
                <a:latin typeface="Menlo"/>
              </a:rPr>
              <a:t>normal</a:t>
            </a:r>
            <a:r>
              <a:rPr sz="1500" b="0" i="0">
                <a:solidFill>
                  <a:srgbClr val="9AA0AE"/>
                </a:solidFill>
                <a:latin typeface="Helvetica Neue"/>
              </a:rPr>
              <a:t>, and the radius recovered from the ink must be identical across all three levels to 0.1%. That second one is what catches a multiplier leaking into a metric path.</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468880"/>
            <a:ext cx="1005840" cy="381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97480"/>
            <a:ext cx="9997135" cy="2194560"/>
          </a:xfrm>
          <a:prstGeom prst="rect">
            <a:avLst/>
          </a:prstGeom>
          <a:noFill/>
        </p:spPr>
        <p:txBody>
          <a:bodyPr wrap="square" anchor="t" lIns="0" rIns="0" tIns="0" bIns="0">
            <a:spAutoFit/>
          </a:bodyPr>
          <a:lstStyle/>
          <a:p>
            <a:pPr algn="l">
              <a:spcAft>
                <a:spcPts val="1200"/>
              </a:spcAft>
            </a:pPr>
            <a:r>
              <a:rPr sz="1300" b="1" i="0">
                <a:solidFill>
                  <a:srgbClr val="E69F00"/>
                </a:solidFill>
                <a:latin typeface="Helvetica Neue"/>
              </a:rPr>
              <a:t>PART FOUR</a:t>
            </a:r>
          </a:p>
          <a:p>
            <a:pPr algn="l">
              <a:spcAft>
                <a:spcPts val="1200"/>
              </a:spcAft>
            </a:pPr>
            <a:r>
              <a:rPr sz="3400" b="1" i="0">
                <a:solidFill>
                  <a:srgbClr val="F2F3F7"/>
                </a:solidFill>
                <a:latin typeface="Helvetica Neue"/>
              </a:rPr>
              <a:t>Four notations, prototyped and measured</a:t>
            </a:r>
          </a:p>
          <a:p>
            <a:pPr algn="l">
              <a:spcAft>
                <a:spcPts val="600"/>
              </a:spcAft>
            </a:pPr>
            <a:r>
              <a:rPr sz="1500" b="0" i="0">
                <a:solidFill>
                  <a:srgbClr val="9AA0AE"/>
                </a:solidFill>
                <a:latin typeface="Helvetica Neue"/>
              </a:rPr>
              <a:t>One neutral content file, compiled to each — so the sheets compare notations rather than annotators</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four organising principles</a:t>
            </a:r>
          </a:p>
          <a:p>
            <a:pPr algn="l">
              <a:spcAft>
                <a:spcPts val="600"/>
              </a:spcAft>
            </a:pPr>
            <a:r>
              <a:rPr sz="1300" b="0" i="0">
                <a:solidFill>
                  <a:srgbClr val="9AA0AE"/>
                </a:solidFill>
                <a:latin typeface="Helvetica Neue"/>
              </a:rPr>
              <a:t>All four inherit one substrate, so the comparison has a single variable</a:t>
            </a:r>
          </a:p>
        </p:txBody>
      </p:sp>
      <p:graphicFrame>
        <p:nvGraphicFramePr>
          <p:cNvPr id="3" name="Table 2"/>
          <p:cNvGraphicFramePr>
            <a:graphicFrameLocks noGrp="1"/>
          </p:cNvGraphicFramePr>
          <p:nvPr/>
        </p:nvGraphicFramePr>
        <p:xfrm>
          <a:off x="548640" y="1417320"/>
          <a:ext cx="11094414" cy="1645920"/>
        </p:xfrm>
        <a:graphic>
          <a:graphicData uri="http://schemas.openxmlformats.org/drawingml/2006/table">
            <a:tbl>
              <a:tblPr firstRow="1" bandRow="1">
                <a:tableStyleId>{5C22544A-7EE6-4342-B048-85BDC9FD1C3A}</a:tableStyleId>
              </a:tblPr>
              <a:tblGrid>
                <a:gridCol w="776609"/>
                <a:gridCol w="4770598"/>
                <a:gridCol w="5547207"/>
              </a:tblGrid>
              <a:tr h="329184">
                <a:tc>
                  <a:txBody>
                    <a:bodyPr/>
                    <a:lstStyle/>
                    <a:p>
                      <a:r>
                        <a:rPr sz="1200" b="1">
                          <a:solidFill>
                            <a:srgbClr val="56B4E9"/>
                          </a:solidFill>
                          <a:latin typeface="Helvetica Neue"/>
                        </a:rPr>
                        <a:t/>
                      </a:r>
                    </a:p>
                  </a:txBody>
                  <a:tcPr anchor="ctr">
                    <a:solidFill>
                      <a:srgbClr val="1A1E28"/>
                    </a:solidFill>
                  </a:tcPr>
                </a:tc>
                <a:tc>
                  <a:txBody>
                    <a:bodyPr/>
                    <a:lstStyle/>
                    <a:p>
                      <a:r>
                        <a:rPr sz="1200" b="1">
                          <a:solidFill>
                            <a:srgbClr val="56B4E9"/>
                          </a:solidFill>
                          <a:latin typeface="Helvetica Neue"/>
                        </a:rPr>
                        <a:t>Principle</a:t>
                      </a:r>
                    </a:p>
                  </a:txBody>
                  <a:tcPr anchor="ctr">
                    <a:solidFill>
                      <a:srgbClr val="1A1E28"/>
                    </a:solidFill>
                  </a:tcPr>
                </a:tc>
                <a:tc>
                  <a:txBody>
                    <a:bodyPr/>
                    <a:lstStyle/>
                    <a:p>
                      <a:r>
                        <a:rPr sz="1200" b="1">
                          <a:solidFill>
                            <a:srgbClr val="56B4E9"/>
                          </a:solidFill>
                          <a:latin typeface="Helvetica Neue"/>
                        </a:rPr>
                        <a:t>The idea worth having</a:t>
                      </a:r>
                    </a:p>
                  </a:txBody>
                  <a:tcPr anchor="ctr">
                    <a:solidFill>
                      <a:srgbClr val="1A1E28"/>
                    </a:solidFill>
                  </a:tcPr>
                </a:tc>
              </a:tr>
              <a:tr h="329184">
                <a:tc>
                  <a:txBody>
                    <a:bodyPr/>
                    <a:lstStyle/>
                    <a:p>
                      <a:r>
                        <a:rPr sz="1200" b="1">
                          <a:solidFill>
                            <a:srgbClr val="F2F3F7"/>
                          </a:solidFill>
                          <a:latin typeface="Helvetica Neue"/>
                        </a:rPr>
                        <a:t>N1</a:t>
                      </a:r>
                    </a:p>
                  </a:txBody>
                  <a:tcPr anchor="ctr">
                    <a:solidFill>
                      <a:srgbClr val="161A24"/>
                    </a:solidFill>
                  </a:tcPr>
                </a:tc>
                <a:tc>
                  <a:txBody>
                    <a:bodyPr/>
                    <a:lstStyle/>
                    <a:p>
                      <a:r>
                        <a:rPr sz="1200" b="0">
                          <a:solidFill>
                            <a:srgbClr val="F2F3F7"/>
                          </a:solidFill>
                          <a:latin typeface="Helvetica Neue"/>
                        </a:rPr>
                        <a:t>Terminator alphabet — keep the pointer, move the weight into the shape at the business end</a:t>
                      </a:r>
                    </a:p>
                  </a:txBody>
                  <a:tcPr anchor="ctr">
                    <a:solidFill>
                      <a:srgbClr val="161A24"/>
                    </a:solidFill>
                  </a:tcPr>
                </a:tc>
                <a:tc>
                  <a:txBody>
                    <a:bodyPr/>
                    <a:lstStyle/>
                    <a:p>
                      <a:r>
                        <a:rPr sz="1200" b="0">
                          <a:solidFill>
                            <a:srgbClr val="F2F3F7"/>
                          </a:solidFill>
                          <a:latin typeface="Helvetica Neue"/>
                        </a:rPr>
                        <a:t>families as the thumbnail layer: filled = mass, open = light, bar = obstruction</a:t>
                      </a:r>
                    </a:p>
                  </a:txBody>
                  <a:tcPr anchor="ctr">
                    <a:solidFill>
                      <a:srgbClr val="161A24"/>
                    </a:solidFill>
                  </a:tcPr>
                </a:tc>
              </a:tr>
              <a:tr h="329184">
                <a:tc>
                  <a:txBody>
                    <a:bodyPr/>
                    <a:lstStyle/>
                    <a:p>
                      <a:r>
                        <a:rPr sz="1200" b="1">
                          <a:solidFill>
                            <a:srgbClr val="F2F3F7"/>
                          </a:solidFill>
                          <a:latin typeface="Helvetica Neue"/>
                        </a:rPr>
                        <a:t>N2</a:t>
                      </a:r>
                    </a:p>
                  </a:txBody>
                  <a:tcPr anchor="ctr">
                    <a:solidFill>
                      <a:srgbClr val="11141C"/>
                    </a:solidFill>
                  </a:tcPr>
                </a:tc>
                <a:tc>
                  <a:txBody>
                    <a:bodyPr/>
                    <a:lstStyle/>
                    <a:p>
                      <a:r>
                        <a:rPr sz="1200" b="0">
                          <a:solidFill>
                            <a:srgbClr val="F2F3F7"/>
                          </a:solidFill>
                          <a:latin typeface="Helvetica Neue"/>
                        </a:rPr>
                        <a:t>Bertin ledger — assign each visual variable to exactly one semantic dimension; the table IS the spec</a:t>
                      </a:r>
                    </a:p>
                  </a:txBody>
                  <a:tcPr anchor="ctr">
                    <a:solidFill>
                      <a:srgbClr val="11141C"/>
                    </a:solidFill>
                  </a:tcPr>
                </a:tc>
                <a:tc>
                  <a:txBody>
                    <a:bodyPr/>
                    <a:lstStyle/>
                    <a:p>
                      <a:r>
                        <a:rPr sz="1200" b="0">
                          <a:solidFill>
                            <a:srgbClr val="F2F3F7"/>
                          </a:solidFill>
                          <a:latin typeface="Helvetica Neue"/>
                        </a:rPr>
                        <a:t>orientation derived from the physics: tangential tick = lensed light, radial = mass</a:t>
                      </a:r>
                    </a:p>
                  </a:txBody>
                  <a:tcPr anchor="ctr">
                    <a:solidFill>
                      <a:srgbClr val="11141C"/>
                    </a:solidFill>
                  </a:tcPr>
                </a:tc>
              </a:tr>
              <a:tr h="329184">
                <a:tc>
                  <a:txBody>
                    <a:bodyPr/>
                    <a:lstStyle/>
                    <a:p>
                      <a:r>
                        <a:rPr sz="1200" b="1">
                          <a:solidFill>
                            <a:srgbClr val="F2F3F7"/>
                          </a:solidFill>
                          <a:latin typeface="Helvetica Neue"/>
                        </a:rPr>
                        <a:t>N3</a:t>
                      </a:r>
                    </a:p>
                  </a:txBody>
                  <a:tcPr anchor="ctr">
                    <a:solidFill>
                      <a:srgbClr val="161A24"/>
                    </a:solidFill>
                  </a:tcPr>
                </a:tc>
                <a:tc>
                  <a:txBody>
                    <a:bodyPr/>
                    <a:lstStyle/>
                    <a:p>
                      <a:r>
                        <a:rPr sz="1200" b="0">
                          <a:solidFill>
                            <a:srgbClr val="F2F3F7"/>
                          </a:solidFill>
                          <a:latin typeface="Helvetica Neue"/>
                        </a:rPr>
                        <a:t>Station model — one composite badge per object, one fixation</a:t>
                      </a:r>
                    </a:p>
                  </a:txBody>
                  <a:tcPr anchor="ctr">
                    <a:solidFill>
                      <a:srgbClr val="161A24"/>
                    </a:solidFill>
                  </a:tcPr>
                </a:tc>
                <a:tc>
                  <a:txBody>
                    <a:bodyPr/>
                    <a:lstStyle/>
                    <a:p>
                      <a:r>
                        <a:rPr sz="1200" b="0">
                          <a:solidFill>
                            <a:srgbClr val="F2F3F7"/>
                          </a:solidFill>
                          <a:latin typeface="Helvetica Neue"/>
                        </a:rPr>
                        <a:t>polarity for one stroke; a source index, which nothing today can express</a:t>
                      </a:r>
                    </a:p>
                  </a:txBody>
                  <a:tcPr anchor="ctr">
                    <a:solidFill>
                      <a:srgbClr val="161A24"/>
                    </a:solidFill>
                  </a:tcPr>
                </a:tc>
              </a:tr>
              <a:tr h="329184">
                <a:tc>
                  <a:txBody>
                    <a:bodyPr/>
                    <a:lstStyle/>
                    <a:p>
                      <a:r>
                        <a:rPr sz="1200" b="1">
                          <a:solidFill>
                            <a:srgbClr val="F2F3F7"/>
                          </a:solidFill>
                          <a:latin typeface="Helvetica Neue"/>
                        </a:rPr>
                        <a:t>N4</a:t>
                      </a:r>
                    </a:p>
                  </a:txBody>
                  <a:tcPr anchor="ctr">
                    <a:solidFill>
                      <a:srgbClr val="11141C"/>
                    </a:solidFill>
                  </a:tcPr>
                </a:tc>
                <a:tc>
                  <a:txBody>
                    <a:bodyPr/>
                    <a:lstStyle/>
                    <a:p>
                      <a:r>
                        <a:rPr sz="1200" b="0">
                          <a:solidFill>
                            <a:srgbClr val="F2F3F7"/>
                          </a:solidFill>
                          <a:latin typeface="Helvetica Neue"/>
                        </a:rPr>
                        <a:t>Evidence graph — annotate the argument, not the objects; the primitive is a link</a:t>
                      </a:r>
                    </a:p>
                  </a:txBody>
                  <a:tcPr anchor="ctr">
                    <a:solidFill>
                      <a:srgbClr val="11141C"/>
                    </a:solidFill>
                  </a:tcPr>
                </a:tc>
                <a:tc>
                  <a:txBody>
                    <a:bodyPr/>
                    <a:lstStyle/>
                    <a:p>
                      <a:r>
                        <a:rPr sz="1200" b="0">
                          <a:solidFill>
                            <a:srgbClr val="F2F3F7"/>
                          </a:solidFill>
                          <a:latin typeface="Helvetica Neue"/>
                        </a:rPr>
                        <a:t>the source chord; a struck chord makes the non-lens visible at thumbnail size</a:t>
                      </a:r>
                    </a:p>
                  </a:txBody>
                  <a:tcPr anchor="ctr">
                    <a:solidFill>
                      <a:srgbClr val="11141C"/>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N1  ·  Terminator alphabet</a:t>
            </a:r>
          </a:p>
          <a:p>
            <a:pPr algn="l">
              <a:spcAft>
                <a:spcPts val="600"/>
              </a:spcAft>
            </a:pPr>
            <a:r>
              <a:rPr sz="1300" b="0" i="0">
                <a:solidFill>
                  <a:srgbClr val="9AA0AE"/>
                </a:solidFill>
                <a:latin typeface="Helvetica Neue"/>
              </a:rPr>
              <a:t>ink 3.65%  ·  ink per statement 0.182  ·  occlusion 10.95%  ·  20 statements expressed</a:t>
            </a:r>
          </a:p>
        </p:txBody>
      </p:sp>
      <p:pic>
        <p:nvPicPr>
          <p:cNvPr id="3" name="Picture 2" descr="n1.png"/>
          <p:cNvPicPr>
            <a:picLocks noChangeAspect="1"/>
          </p:cNvPicPr>
          <p:nvPr/>
        </p:nvPicPr>
        <p:blipFill>
          <a:blip r:embed="rId2"/>
          <a:stretch>
            <a:fillRect/>
          </a:stretch>
        </p:blipFill>
        <p:spPr>
          <a:xfrm>
            <a:off x="1568733" y="1417320"/>
            <a:ext cx="4116469" cy="4754880"/>
          </a:xfrm>
          <a:prstGeom prst="rect">
            <a:avLst/>
          </a:prstGeom>
        </p:spPr>
      </p:pic>
      <p:sp>
        <p:nvSpPr>
          <p:cNvPr id="4" name="TextBox 3"/>
          <p:cNvSpPr txBox="1"/>
          <p:nvPr/>
        </p:nvSpPr>
        <p:spPr>
          <a:xfrm>
            <a:off x="6142402" y="1417320"/>
            <a:ext cx="4480560" cy="4754880"/>
          </a:xfrm>
          <a:prstGeom prst="rect">
            <a:avLst/>
          </a:prstGeom>
          <a:noFill/>
        </p:spPr>
        <p:txBody>
          <a:bodyPr wrap="square" anchor="t" lIns="0" rIns="0" tIns="0" bIns="0">
            <a:spAutoFit/>
          </a:bodyPr>
          <a:lstStyle/>
          <a:p>
            <a:pPr algn="l">
              <a:spcAft>
                <a:spcPts val="1000"/>
              </a:spcAft>
            </a:pPr>
            <a:r>
              <a:rPr sz="1300" b="0" i="0">
                <a:solidFill>
                  <a:srgbClr val="F2F3F7"/>
                </a:solidFill>
                <a:latin typeface="Helvetica Neue"/>
              </a:rPr>
              <a:t>Keep the pointer — the one mark the room has consistently endorsed — and move the semantics into the shape at the business end. Lens mass is a filled silhouette, lensed light an open curve, obstruction a bar.</a:t>
            </a:r>
          </a:p>
          <a:p>
            <a:pPr algn="l">
              <a:spcAft>
                <a:spcPts val="1000"/>
              </a:spcAft>
            </a:pPr>
            <a:r>
              <a:rPr sz="1300" b="0" i="0">
                <a:solidFill>
                  <a:srgbClr val="56B4E9"/>
                </a:solidFill>
                <a:latin typeface="Helvetica Neue"/>
              </a:rPr>
              <a:t>Polarity is the shaft texture, reinforced on negatives by a strike through the terminator: two channels, because negative is the rarest and most consequential mark.</a:t>
            </a:r>
          </a:p>
          <a:p>
            <a:pPr algn="l">
              <a:spcAft>
                <a:spcPts val="1000"/>
              </a:spcAft>
            </a:pPr>
            <a:r>
              <a:rPr sz="1300" b="1" i="0">
                <a:solidFill>
                  <a:srgbClr val="009E73"/>
                </a:solidFill>
                <a:latin typeface="Helvetica Neue"/>
              </a:rPr>
              <a:t>Does well:</a:t>
            </a:r>
            <a:r>
              <a:rPr sz="1300" b="0" i="0">
                <a:solidFill>
                  <a:srgbClr val="009E73"/>
                </a:solidFill>
                <a:latin typeface="Helvetica Neue"/>
              </a:rPr>
              <a:t> highest role resolution of the four; evolutionary, so the cheapest to adopt; the terminator sits where the eye already goes.</a:t>
            </a:r>
          </a:p>
          <a:p>
            <a:pPr algn="l">
              <a:spcAft>
                <a:spcPts val="1000"/>
              </a:spcAft>
            </a:pPr>
            <a:r>
              <a:rPr sz="1300" b="1" i="0">
                <a:solidFill>
                  <a:srgbClr val="E69F00"/>
                </a:solidFill>
                <a:latin typeface="Helvetica Neue"/>
              </a:rPr>
              <a:t>Breaks:</a:t>
            </a:r>
            <a:r>
              <a:rPr sz="1300" b="0" i="0">
                <a:solidFill>
                  <a:srgbClr val="E69F00"/>
                </a:solidFill>
                <a:latin typeface="Helvetica Neue"/>
              </a:rPr>
              <a:t> below ~9 px the individual shapes collapse and only the three FAMILIES survive, so the families must be designed as the thumbnail layer.</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Same twenty marks in every arm, compiled from one neutral content file</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N2  ·  Bertin ledger</a:t>
            </a:r>
          </a:p>
          <a:p>
            <a:pPr algn="l">
              <a:spcAft>
                <a:spcPts val="600"/>
              </a:spcAft>
            </a:pPr>
            <a:r>
              <a:rPr sz="1300" b="0" i="0">
                <a:solidFill>
                  <a:srgbClr val="9AA0AE"/>
                </a:solidFill>
                <a:latin typeface="Helvetica Neue"/>
              </a:rPr>
              <a:t>ink 3.16%  ·  ink per statement 0.158  ·  occlusion 11.12%  ·  20 statements expressed</a:t>
            </a:r>
          </a:p>
        </p:txBody>
      </p:sp>
      <p:pic>
        <p:nvPicPr>
          <p:cNvPr id="3" name="Picture 2" descr="n2.png"/>
          <p:cNvPicPr>
            <a:picLocks noChangeAspect="1"/>
          </p:cNvPicPr>
          <p:nvPr/>
        </p:nvPicPr>
        <p:blipFill>
          <a:blip r:embed="rId2"/>
          <a:stretch>
            <a:fillRect/>
          </a:stretch>
        </p:blipFill>
        <p:spPr>
          <a:xfrm>
            <a:off x="1568733" y="1417320"/>
            <a:ext cx="4116469" cy="4754880"/>
          </a:xfrm>
          <a:prstGeom prst="rect">
            <a:avLst/>
          </a:prstGeom>
        </p:spPr>
      </p:pic>
      <p:sp>
        <p:nvSpPr>
          <p:cNvPr id="4" name="TextBox 3"/>
          <p:cNvSpPr txBox="1"/>
          <p:nvPr/>
        </p:nvSpPr>
        <p:spPr>
          <a:xfrm>
            <a:off x="6142402" y="1417320"/>
            <a:ext cx="4480560" cy="4754880"/>
          </a:xfrm>
          <a:prstGeom prst="rect">
            <a:avLst/>
          </a:prstGeom>
          <a:noFill/>
        </p:spPr>
        <p:txBody>
          <a:bodyPr wrap="square" anchor="t" lIns="0" rIns="0" tIns="0" bIns="0">
            <a:spAutoFit/>
          </a:bodyPr>
          <a:lstStyle/>
          <a:p>
            <a:pPr algn="l">
              <a:spcAft>
                <a:spcPts val="1000"/>
              </a:spcAft>
            </a:pPr>
            <a:r>
              <a:rPr sz="1300" b="0" i="0">
                <a:solidFill>
                  <a:srgbClr val="F2F3F7"/>
                </a:solidFill>
                <a:latin typeface="Helvetica Neue"/>
              </a:rPr>
              <a:t>Do not start from a shape catalogue. Assign each of Bertin's seven visual variables to exactly one semantic dimension, forbid any dimension a second, and let the marks fall out. The assignment table IS the specification.</a:t>
            </a:r>
          </a:p>
          <a:p>
            <a:pPr algn="l">
              <a:spcAft>
                <a:spcPts val="1000"/>
              </a:spcAft>
            </a:pPr>
            <a:r>
              <a:rPr sz="1300" b="0" i="0">
                <a:solidFill>
                  <a:srgbClr val="56B4E9"/>
                </a:solidFill>
                <a:latin typeface="Helvetica Neue"/>
              </a:rPr>
              <a:t>Tick ORIENTATION is derived from the physics: tangential means lensed light, which really is tangentially stretched; radial means mass.</a:t>
            </a:r>
          </a:p>
          <a:p>
            <a:pPr algn="l">
              <a:spcAft>
                <a:spcPts val="1000"/>
              </a:spcAft>
            </a:pPr>
            <a:r>
              <a:rPr sz="1300" b="1" i="0">
                <a:solidFill>
                  <a:srgbClr val="009E73"/>
                </a:solidFill>
                <a:latin typeface="Helvetica Neue"/>
              </a:rPr>
              <a:t>Does well:</a:t>
            </a:r>
            <a:r>
              <a:rPr sz="1300" b="0" i="0">
                <a:solidFill>
                  <a:srgbClr val="009E73"/>
                </a:solidFill>
                <a:latin typeface="Helvetica Neue"/>
              </a:rPr>
              <a:t> orientation survives downscaling better than shape — 235 px against 300 — so it is the most thumbnail-robust; and the mark is mnemonic for an astronomer.</a:t>
            </a:r>
          </a:p>
          <a:p>
            <a:pPr algn="l">
              <a:spcAft>
                <a:spcPts val="1000"/>
              </a:spcAft>
            </a:pPr>
            <a:r>
              <a:rPr sz="1300" b="1" i="0">
                <a:solidFill>
                  <a:srgbClr val="E69F00"/>
                </a:solidFill>
                <a:latin typeface="Helvetica Neue"/>
              </a:rPr>
              <a:t>Breaks:</a:t>
            </a:r>
            <a:r>
              <a:rPr sz="1300" b="0" i="0">
                <a:solidFill>
                  <a:srgbClr val="E69F00"/>
                </a:solidFill>
                <a:latin typeface="Helvetica Neue"/>
              </a:rPr>
              <a:t> orientation is undefined at the deflector itself, where the radius vector is degenerate. The prototype handles it explicitly; the spec must too.</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Same twenty marks in every arm, compiled from one neutral content file</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N3  ·  Station model</a:t>
            </a:r>
          </a:p>
          <a:p>
            <a:pPr algn="l">
              <a:spcAft>
                <a:spcPts val="600"/>
              </a:spcAft>
            </a:pPr>
            <a:r>
              <a:rPr sz="1300" b="0" i="0">
                <a:solidFill>
                  <a:srgbClr val="9AA0AE"/>
                </a:solidFill>
                <a:latin typeface="Helvetica Neue"/>
              </a:rPr>
              <a:t>ink 3.36%  ·  ink per statement 0.168  ·  occlusion 11.59%  ·  20 statements expressed</a:t>
            </a:r>
          </a:p>
        </p:txBody>
      </p:sp>
      <p:pic>
        <p:nvPicPr>
          <p:cNvPr id="3" name="Picture 2" descr="n3.png"/>
          <p:cNvPicPr>
            <a:picLocks noChangeAspect="1"/>
          </p:cNvPicPr>
          <p:nvPr/>
        </p:nvPicPr>
        <p:blipFill>
          <a:blip r:embed="rId2"/>
          <a:stretch>
            <a:fillRect/>
          </a:stretch>
        </p:blipFill>
        <p:spPr>
          <a:xfrm>
            <a:off x="1568733" y="1417320"/>
            <a:ext cx="4116469" cy="4754880"/>
          </a:xfrm>
          <a:prstGeom prst="rect">
            <a:avLst/>
          </a:prstGeom>
        </p:spPr>
      </p:pic>
      <p:sp>
        <p:nvSpPr>
          <p:cNvPr id="4" name="TextBox 3"/>
          <p:cNvSpPr txBox="1"/>
          <p:nvPr/>
        </p:nvSpPr>
        <p:spPr>
          <a:xfrm>
            <a:off x="6142402" y="1417320"/>
            <a:ext cx="4480560" cy="4754880"/>
          </a:xfrm>
          <a:prstGeom prst="rect">
            <a:avLst/>
          </a:prstGeom>
          <a:noFill/>
        </p:spPr>
        <p:txBody>
          <a:bodyPr wrap="square" anchor="t" lIns="0" rIns="0" tIns="0" bIns="0">
            <a:spAutoFit/>
          </a:bodyPr>
          <a:lstStyle/>
          <a:p>
            <a:pPr algn="l">
              <a:spcAft>
                <a:spcPts val="1000"/>
              </a:spcAft>
            </a:pPr>
            <a:r>
              <a:rPr sz="1300" b="0" i="0">
                <a:solidFill>
                  <a:srgbClr val="F2F3F7"/>
                </a:solidFill>
                <a:latin typeface="Helvetica Neue"/>
              </a:rPr>
              <a:t>Modelled on the WMO surface station plot: one compact badge per object, joined to it by a hairline stem, with slots for role, polarity, source index and treatment. One fixation per object instead of three.</a:t>
            </a:r>
          </a:p>
          <a:p>
            <a:pPr algn="l">
              <a:spcAft>
                <a:spcPts val="1000"/>
              </a:spcAft>
            </a:pPr>
            <a:r>
              <a:rPr sz="1300" b="0" i="0">
                <a:solidFill>
                  <a:srgbClr val="56B4E9"/>
                </a:solidFill>
                <a:latin typeface="Helvetica Neue"/>
              </a:rPr>
              <a:t>Polarity costs a single stroke — an underline for ambiguous, a strike for negative — which is what makes the whole approach cheap.</a:t>
            </a:r>
          </a:p>
          <a:p>
            <a:pPr algn="l">
              <a:spcAft>
                <a:spcPts val="1000"/>
              </a:spcAft>
            </a:pPr>
            <a:r>
              <a:rPr sz="1300" b="1" i="0">
                <a:solidFill>
                  <a:srgbClr val="009E73"/>
                </a:solidFill>
                <a:latin typeface="Helvetica Neue"/>
              </a:rPr>
              <a:t>Does well:</a:t>
            </a:r>
            <a:r>
              <a:rPr sz="1300" b="0" i="0">
                <a:solidFill>
                  <a:srgbClr val="009E73"/>
                </a:solidFill>
                <a:latin typeface="Helvetica Neue"/>
              </a:rPr>
              <a:t> lowest ink per object; carries SOURCE MEMBERSHIP, which nothing in the current system can express at all, for two characters.</a:t>
            </a:r>
          </a:p>
          <a:p>
            <a:pPr algn="l">
              <a:spcAft>
                <a:spcPts val="1000"/>
              </a:spcAft>
            </a:pPr>
            <a:r>
              <a:rPr sz="1300" b="1" i="0">
                <a:solidFill>
                  <a:srgbClr val="E69F00"/>
                </a:solidFill>
                <a:latin typeface="Helvetica Neue"/>
              </a:rPr>
              <a:t>Breaks:</a:t>
            </a:r>
            <a:r>
              <a:rPr sz="1300" b="0" i="0">
                <a:solidFill>
                  <a:srgbClr val="E69F00"/>
                </a:solidFill>
                <a:latin typeface="Helvetica Neue"/>
              </a:rPr>
              <a:t> it demands literacy. An unbriefed astronomer cannot read the badge, which is in direct tension with the room's preference for plain labels on the object.</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Same twenty marks in every arm, compiled from one neutral content file</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N4  ·  Evidence graph</a:t>
            </a:r>
          </a:p>
          <a:p>
            <a:pPr algn="l">
              <a:spcAft>
                <a:spcPts val="600"/>
              </a:spcAft>
            </a:pPr>
            <a:r>
              <a:rPr sz="1300" b="0" i="0">
                <a:solidFill>
                  <a:srgbClr val="9AA0AE"/>
                </a:solidFill>
                <a:latin typeface="Helvetica Neue"/>
              </a:rPr>
              <a:t>ink 2.66%  ·  ink per statement 0.133  ·  occlusion 11.35%  ·  20 statements expressed</a:t>
            </a:r>
          </a:p>
        </p:txBody>
      </p:sp>
      <p:pic>
        <p:nvPicPr>
          <p:cNvPr id="3" name="Picture 2" descr="n4.png"/>
          <p:cNvPicPr>
            <a:picLocks noChangeAspect="1"/>
          </p:cNvPicPr>
          <p:nvPr/>
        </p:nvPicPr>
        <p:blipFill>
          <a:blip r:embed="rId2"/>
          <a:stretch>
            <a:fillRect/>
          </a:stretch>
        </p:blipFill>
        <p:spPr>
          <a:xfrm>
            <a:off x="1532742" y="1417320"/>
            <a:ext cx="4188451" cy="4754880"/>
          </a:xfrm>
          <a:prstGeom prst="rect">
            <a:avLst/>
          </a:prstGeom>
        </p:spPr>
      </p:pic>
      <p:sp>
        <p:nvSpPr>
          <p:cNvPr id="4" name="TextBox 3"/>
          <p:cNvSpPr txBox="1"/>
          <p:nvPr/>
        </p:nvSpPr>
        <p:spPr>
          <a:xfrm>
            <a:off x="6178393" y="1417320"/>
            <a:ext cx="4480560" cy="4754880"/>
          </a:xfrm>
          <a:prstGeom prst="rect">
            <a:avLst/>
          </a:prstGeom>
          <a:noFill/>
        </p:spPr>
        <p:txBody>
          <a:bodyPr wrap="square" anchor="t" lIns="0" rIns="0" tIns="0" bIns="0">
            <a:spAutoFit/>
          </a:bodyPr>
          <a:lstStyle/>
          <a:p>
            <a:pPr algn="l">
              <a:spcAft>
                <a:spcPts val="1000"/>
              </a:spcAft>
            </a:pPr>
            <a:r>
              <a:rPr sz="1300" b="0" i="0">
                <a:solidFill>
                  <a:srgbClr val="F2F3F7"/>
                </a:solidFill>
                <a:latin typeface="Helvetica Neue"/>
              </a:rPr>
              <a:t>Annotate the ARGUMENT, not the objects. A strong-lens claim is the assertion that these blobs are images of one source behind that mass — so draw that, and let the objects be implied by their participation in it.</a:t>
            </a:r>
          </a:p>
          <a:p>
            <a:pPr algn="l">
              <a:spcAft>
                <a:spcPts val="1000"/>
              </a:spcAft>
            </a:pPr>
            <a:r>
              <a:rPr sz="1300" b="0" i="0">
                <a:solidFill>
                  <a:srgbClr val="56B4E9"/>
                </a:solidFill>
                <a:latin typeface="Helvetica Neue"/>
              </a:rPr>
              <a:t>An anchor is the only mark that touches a feature. A source chord — a hairline arc concentric with the ring — says “these are images of one source, tangential, at this radius” in one stroke. Stems to a filled dot say “this is mass”.</a:t>
            </a:r>
          </a:p>
          <a:p>
            <a:pPr algn="l">
              <a:spcAft>
                <a:spcPts val="1000"/>
              </a:spcAft>
            </a:pPr>
            <a:r>
              <a:rPr sz="1300" b="1" i="0">
                <a:solidFill>
                  <a:srgbClr val="009E73"/>
                </a:solidFill>
                <a:latin typeface="Helvetica Neue"/>
              </a:rPr>
              <a:t>Does well:</a:t>
            </a:r>
            <a:r>
              <a:rPr sz="1300" b="0" i="0">
                <a:solidFill>
                  <a:srgbClr val="009E73"/>
                </a:solidFill>
                <a:latin typeface="Helvetica Neue"/>
              </a:rPr>
              <a:t> the only proposal where negative evidence is a first-class visual object. A positive panel has an unbroken chord; a negative panel's chord is struck. Lowest ink.</a:t>
            </a:r>
          </a:p>
          <a:p>
            <a:pPr algn="l">
              <a:spcAft>
                <a:spcPts val="1000"/>
              </a:spcAft>
            </a:pPr>
            <a:r>
              <a:rPr sz="1300" b="1" i="0">
                <a:solidFill>
                  <a:srgbClr val="E69F00"/>
                </a:solidFill>
                <a:latin typeface="Helvetica Neue"/>
              </a:rPr>
              <a:t>Breaks:</a:t>
            </a:r>
            <a:r>
              <a:rPr sz="1300" b="0" i="0">
                <a:solidFill>
                  <a:srgbClr val="E69F00"/>
                </a:solidFill>
                <a:latin typeface="Helvetica Neue"/>
              </a:rPr>
              <a:t> poor role resolution — it separates the four families and nothing finer — and it is the most unfamiliar, so it has the highest explanation cost.</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Same twenty marks in every arm, compiled from one neutral content file</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Measured</a:t>
            </a:r>
          </a:p>
          <a:p>
            <a:pPr algn="l">
              <a:spcAft>
                <a:spcPts val="600"/>
              </a:spcAft>
            </a:pPr>
            <a:r>
              <a:rPr sz="1300" b="0" i="0">
                <a:solidFill>
                  <a:srgbClr val="9AA0AE"/>
                </a:solidFill>
                <a:latin typeface="Helvetica Neue"/>
              </a:rPr>
              <a:t>Read the ink-per-statement column: raw ink penalises an arm for saying more</a:t>
            </a:r>
          </a:p>
        </p:txBody>
      </p:sp>
      <p:graphicFrame>
        <p:nvGraphicFramePr>
          <p:cNvPr id="3" name="Table 2"/>
          <p:cNvGraphicFramePr>
            <a:graphicFrameLocks noGrp="1"/>
          </p:cNvGraphicFramePr>
          <p:nvPr/>
        </p:nvGraphicFramePr>
        <p:xfrm>
          <a:off x="548640" y="1417320"/>
          <a:ext cx="11094413" cy="2304288"/>
        </p:xfrm>
        <a:graphic>
          <a:graphicData uri="http://schemas.openxmlformats.org/drawingml/2006/table">
            <a:tbl>
              <a:tblPr firstRow="1" bandRow="1">
                <a:tableStyleId>{5C22544A-7EE6-4342-B048-85BDC9FD1C3A}</a:tableStyleId>
              </a:tblPr>
              <a:tblGrid>
                <a:gridCol w="3772101"/>
                <a:gridCol w="1775106"/>
                <a:gridCol w="1775106"/>
                <a:gridCol w="1996994"/>
                <a:gridCol w="1775106"/>
              </a:tblGrid>
              <a:tr h="329184">
                <a:tc>
                  <a:txBody>
                    <a:bodyPr/>
                    <a:lstStyle/>
                    <a:p>
                      <a:r>
                        <a:rPr sz="1400" b="1">
                          <a:solidFill>
                            <a:srgbClr val="56B4E9"/>
                          </a:solidFill>
                          <a:latin typeface="Helvetica Neue"/>
                        </a:rPr>
                        <a:t>arm</a:t>
                      </a:r>
                    </a:p>
                  </a:txBody>
                  <a:tcPr anchor="ctr">
                    <a:solidFill>
                      <a:srgbClr val="1A1E28"/>
                    </a:solidFill>
                  </a:tcPr>
                </a:tc>
                <a:tc>
                  <a:txBody>
                    <a:bodyPr/>
                    <a:lstStyle/>
                    <a:p>
                      <a:r>
                        <a:rPr sz="1400" b="1">
                          <a:solidFill>
                            <a:srgbClr val="56B4E9"/>
                          </a:solidFill>
                          <a:latin typeface="Helvetica Neue"/>
                        </a:rPr>
                        <a:t>statements</a:t>
                      </a:r>
                    </a:p>
                  </a:txBody>
                  <a:tcPr anchor="ctr">
                    <a:solidFill>
                      <a:srgbClr val="1A1E28"/>
                    </a:solidFill>
                  </a:tcPr>
                </a:tc>
                <a:tc>
                  <a:txBody>
                    <a:bodyPr/>
                    <a:lstStyle/>
                    <a:p>
                      <a:r>
                        <a:rPr sz="1400" b="1">
                          <a:solidFill>
                            <a:srgbClr val="56B4E9"/>
                          </a:solidFill>
                          <a:latin typeface="Helvetica Neue"/>
                        </a:rPr>
                        <a:t>ink %</a:t>
                      </a:r>
                    </a:p>
                  </a:txBody>
                  <a:tcPr anchor="ctr">
                    <a:solidFill>
                      <a:srgbClr val="1A1E28"/>
                    </a:solidFill>
                  </a:tcPr>
                </a:tc>
                <a:tc>
                  <a:txBody>
                    <a:bodyPr/>
                    <a:lstStyle/>
                    <a:p>
                      <a:r>
                        <a:rPr sz="1400" b="1">
                          <a:solidFill>
                            <a:srgbClr val="56B4E9"/>
                          </a:solidFill>
                          <a:latin typeface="Helvetica Neue"/>
                        </a:rPr>
                        <a:t>ink / statement</a:t>
                      </a:r>
                    </a:p>
                  </a:txBody>
                  <a:tcPr anchor="ctr">
                    <a:solidFill>
                      <a:srgbClr val="1A1E28"/>
                    </a:solidFill>
                  </a:tcPr>
                </a:tc>
                <a:tc>
                  <a:txBody>
                    <a:bodyPr/>
                    <a:lstStyle/>
                    <a:p>
                      <a:r>
                        <a:rPr sz="1400" b="1">
                          <a:solidFill>
                            <a:srgbClr val="56B4E9"/>
                          </a:solidFill>
                          <a:latin typeface="Helvetica Neue"/>
                        </a:rPr>
                        <a:t>occlusion %</a:t>
                      </a:r>
                    </a:p>
                  </a:txBody>
                  <a:tcPr anchor="ctr">
                    <a:solidFill>
                      <a:srgbClr val="1A1E28"/>
                    </a:solidFill>
                  </a:tcPr>
                </a:tc>
              </a:tr>
              <a:tr h="329184">
                <a:tc>
                  <a:txBody>
                    <a:bodyPr/>
                    <a:lstStyle/>
                    <a:p>
                      <a:r>
                        <a:rPr sz="1400" b="0">
                          <a:solidFill>
                            <a:srgbClr val="F2F3F7"/>
                          </a:solidFill>
                          <a:latin typeface="Helvetica Neue"/>
                        </a:rPr>
                        <a:t>N4</a:t>
                      </a:r>
                    </a:p>
                  </a:txBody>
                  <a:tcPr anchor="ctr">
                    <a:solidFill>
                      <a:srgbClr val="161A24"/>
                    </a:solidFill>
                  </a:tcPr>
                </a:tc>
                <a:tc>
                  <a:txBody>
                    <a:bodyPr/>
                    <a:lstStyle/>
                    <a:p>
                      <a:r>
                        <a:rPr sz="1400" b="0">
                          <a:solidFill>
                            <a:srgbClr val="F2F3F7"/>
                          </a:solidFill>
                          <a:latin typeface="Helvetica Neue"/>
                        </a:rPr>
                        <a:t>20</a:t>
                      </a:r>
                    </a:p>
                  </a:txBody>
                  <a:tcPr anchor="ctr">
                    <a:solidFill>
                      <a:srgbClr val="161A24"/>
                    </a:solidFill>
                  </a:tcPr>
                </a:tc>
                <a:tc>
                  <a:txBody>
                    <a:bodyPr/>
                    <a:lstStyle/>
                    <a:p>
                      <a:r>
                        <a:rPr sz="1400" b="0">
                          <a:solidFill>
                            <a:srgbClr val="F2F3F7"/>
                          </a:solidFill>
                          <a:latin typeface="Helvetica Neue"/>
                        </a:rPr>
                        <a:t>2.66%</a:t>
                      </a:r>
                    </a:p>
                  </a:txBody>
                  <a:tcPr anchor="ctr">
                    <a:solidFill>
                      <a:srgbClr val="161A24"/>
                    </a:solidFill>
                  </a:tcPr>
                </a:tc>
                <a:tc>
                  <a:txBody>
                    <a:bodyPr/>
                    <a:lstStyle/>
                    <a:p>
                      <a:r>
                        <a:rPr sz="1400" b="1">
                          <a:solidFill>
                            <a:srgbClr val="F2F3F7"/>
                          </a:solidFill>
                          <a:latin typeface="Helvetica Neue"/>
                        </a:rPr>
                        <a:t>0.133</a:t>
                      </a:r>
                    </a:p>
                  </a:txBody>
                  <a:tcPr anchor="ctr">
                    <a:solidFill>
                      <a:srgbClr val="161A24"/>
                    </a:solidFill>
                  </a:tcPr>
                </a:tc>
                <a:tc>
                  <a:txBody>
                    <a:bodyPr/>
                    <a:lstStyle/>
                    <a:p>
                      <a:r>
                        <a:rPr sz="1400" b="0">
                          <a:solidFill>
                            <a:srgbClr val="F2F3F7"/>
                          </a:solidFill>
                          <a:latin typeface="Helvetica Neue"/>
                        </a:rPr>
                        <a:t>11.35%</a:t>
                      </a:r>
                    </a:p>
                  </a:txBody>
                  <a:tcPr anchor="ctr">
                    <a:solidFill>
                      <a:srgbClr val="161A24"/>
                    </a:solidFill>
                  </a:tcPr>
                </a:tc>
              </a:tr>
              <a:tr h="329184">
                <a:tc>
                  <a:txBody>
                    <a:bodyPr/>
                    <a:lstStyle/>
                    <a:p>
                      <a:r>
                        <a:rPr sz="1400" b="0">
                          <a:solidFill>
                            <a:srgbClr val="F2F3F7"/>
                          </a:solidFill>
                          <a:latin typeface="Helvetica Neue"/>
                        </a:rPr>
                        <a:t>N2</a:t>
                      </a:r>
                    </a:p>
                  </a:txBody>
                  <a:tcPr anchor="ctr">
                    <a:solidFill>
                      <a:srgbClr val="11141C"/>
                    </a:solidFill>
                  </a:tcPr>
                </a:tc>
                <a:tc>
                  <a:txBody>
                    <a:bodyPr/>
                    <a:lstStyle/>
                    <a:p>
                      <a:r>
                        <a:rPr sz="1400" b="0">
                          <a:solidFill>
                            <a:srgbClr val="F2F3F7"/>
                          </a:solidFill>
                          <a:latin typeface="Helvetica Neue"/>
                        </a:rPr>
                        <a:t>20</a:t>
                      </a:r>
                    </a:p>
                  </a:txBody>
                  <a:tcPr anchor="ctr">
                    <a:solidFill>
                      <a:srgbClr val="11141C"/>
                    </a:solidFill>
                  </a:tcPr>
                </a:tc>
                <a:tc>
                  <a:txBody>
                    <a:bodyPr/>
                    <a:lstStyle/>
                    <a:p>
                      <a:r>
                        <a:rPr sz="1400" b="0">
                          <a:solidFill>
                            <a:srgbClr val="F2F3F7"/>
                          </a:solidFill>
                          <a:latin typeface="Helvetica Neue"/>
                        </a:rPr>
                        <a:t>3.16%</a:t>
                      </a:r>
                    </a:p>
                  </a:txBody>
                  <a:tcPr anchor="ctr">
                    <a:solidFill>
                      <a:srgbClr val="11141C"/>
                    </a:solidFill>
                  </a:tcPr>
                </a:tc>
                <a:tc>
                  <a:txBody>
                    <a:bodyPr/>
                    <a:lstStyle/>
                    <a:p>
                      <a:r>
                        <a:rPr sz="1400" b="1">
                          <a:solidFill>
                            <a:srgbClr val="F2F3F7"/>
                          </a:solidFill>
                          <a:latin typeface="Helvetica Neue"/>
                        </a:rPr>
                        <a:t>0.158</a:t>
                      </a:r>
                    </a:p>
                  </a:txBody>
                  <a:tcPr anchor="ctr">
                    <a:solidFill>
                      <a:srgbClr val="11141C"/>
                    </a:solidFill>
                  </a:tcPr>
                </a:tc>
                <a:tc>
                  <a:txBody>
                    <a:bodyPr/>
                    <a:lstStyle/>
                    <a:p>
                      <a:r>
                        <a:rPr sz="1400" b="0">
                          <a:solidFill>
                            <a:srgbClr val="F2F3F7"/>
                          </a:solidFill>
                          <a:latin typeface="Helvetica Neue"/>
                        </a:rPr>
                        <a:t>11.12%</a:t>
                      </a:r>
                    </a:p>
                  </a:txBody>
                  <a:tcPr anchor="ctr">
                    <a:solidFill>
                      <a:srgbClr val="11141C"/>
                    </a:solidFill>
                  </a:tcPr>
                </a:tc>
              </a:tr>
              <a:tr h="329184">
                <a:tc>
                  <a:txBody>
                    <a:bodyPr/>
                    <a:lstStyle/>
                    <a:p>
                      <a:r>
                        <a:rPr sz="1400" b="0">
                          <a:solidFill>
                            <a:srgbClr val="F2F3F7"/>
                          </a:solidFill>
                          <a:latin typeface="Helvetica Neue"/>
                        </a:rPr>
                        <a:t>N3</a:t>
                      </a:r>
                    </a:p>
                  </a:txBody>
                  <a:tcPr anchor="ctr">
                    <a:solidFill>
                      <a:srgbClr val="161A24"/>
                    </a:solidFill>
                  </a:tcPr>
                </a:tc>
                <a:tc>
                  <a:txBody>
                    <a:bodyPr/>
                    <a:lstStyle/>
                    <a:p>
                      <a:r>
                        <a:rPr sz="1400" b="0">
                          <a:solidFill>
                            <a:srgbClr val="F2F3F7"/>
                          </a:solidFill>
                          <a:latin typeface="Helvetica Neue"/>
                        </a:rPr>
                        <a:t>20</a:t>
                      </a:r>
                    </a:p>
                  </a:txBody>
                  <a:tcPr anchor="ctr">
                    <a:solidFill>
                      <a:srgbClr val="161A24"/>
                    </a:solidFill>
                  </a:tcPr>
                </a:tc>
                <a:tc>
                  <a:txBody>
                    <a:bodyPr/>
                    <a:lstStyle/>
                    <a:p>
                      <a:r>
                        <a:rPr sz="1400" b="0">
                          <a:solidFill>
                            <a:srgbClr val="F2F3F7"/>
                          </a:solidFill>
                          <a:latin typeface="Helvetica Neue"/>
                        </a:rPr>
                        <a:t>3.36%</a:t>
                      </a:r>
                    </a:p>
                  </a:txBody>
                  <a:tcPr anchor="ctr">
                    <a:solidFill>
                      <a:srgbClr val="161A24"/>
                    </a:solidFill>
                  </a:tcPr>
                </a:tc>
                <a:tc>
                  <a:txBody>
                    <a:bodyPr/>
                    <a:lstStyle/>
                    <a:p>
                      <a:r>
                        <a:rPr sz="1400" b="1">
                          <a:solidFill>
                            <a:srgbClr val="F2F3F7"/>
                          </a:solidFill>
                          <a:latin typeface="Helvetica Neue"/>
                        </a:rPr>
                        <a:t>0.168</a:t>
                      </a:r>
                    </a:p>
                  </a:txBody>
                  <a:tcPr anchor="ctr">
                    <a:solidFill>
                      <a:srgbClr val="161A24"/>
                    </a:solidFill>
                  </a:tcPr>
                </a:tc>
                <a:tc>
                  <a:txBody>
                    <a:bodyPr/>
                    <a:lstStyle/>
                    <a:p>
                      <a:r>
                        <a:rPr sz="1400" b="0">
                          <a:solidFill>
                            <a:srgbClr val="F2F3F7"/>
                          </a:solidFill>
                          <a:latin typeface="Helvetica Neue"/>
                        </a:rPr>
                        <a:t>11.59%</a:t>
                      </a:r>
                    </a:p>
                  </a:txBody>
                  <a:tcPr anchor="ctr">
                    <a:solidFill>
                      <a:srgbClr val="161A24"/>
                    </a:solidFill>
                  </a:tcPr>
                </a:tc>
              </a:tr>
              <a:tr h="329184">
                <a:tc>
                  <a:txBody>
                    <a:bodyPr/>
                    <a:lstStyle/>
                    <a:p>
                      <a:r>
                        <a:rPr sz="1400" b="0">
                          <a:solidFill>
                            <a:srgbClr val="F2F3F7"/>
                          </a:solidFill>
                          <a:latin typeface="Helvetica Neue"/>
                        </a:rPr>
                        <a:t>N1</a:t>
                      </a:r>
                    </a:p>
                  </a:txBody>
                  <a:tcPr anchor="ctr">
                    <a:solidFill>
                      <a:srgbClr val="11141C"/>
                    </a:solidFill>
                  </a:tcPr>
                </a:tc>
                <a:tc>
                  <a:txBody>
                    <a:bodyPr/>
                    <a:lstStyle/>
                    <a:p>
                      <a:r>
                        <a:rPr sz="1400" b="0">
                          <a:solidFill>
                            <a:srgbClr val="F2F3F7"/>
                          </a:solidFill>
                          <a:latin typeface="Helvetica Neue"/>
                        </a:rPr>
                        <a:t>20</a:t>
                      </a:r>
                    </a:p>
                  </a:txBody>
                  <a:tcPr anchor="ctr">
                    <a:solidFill>
                      <a:srgbClr val="11141C"/>
                    </a:solidFill>
                  </a:tcPr>
                </a:tc>
                <a:tc>
                  <a:txBody>
                    <a:bodyPr/>
                    <a:lstStyle/>
                    <a:p>
                      <a:r>
                        <a:rPr sz="1400" b="0">
                          <a:solidFill>
                            <a:srgbClr val="F2F3F7"/>
                          </a:solidFill>
                          <a:latin typeface="Helvetica Neue"/>
                        </a:rPr>
                        <a:t>3.65%</a:t>
                      </a:r>
                    </a:p>
                  </a:txBody>
                  <a:tcPr anchor="ctr">
                    <a:solidFill>
                      <a:srgbClr val="11141C"/>
                    </a:solidFill>
                  </a:tcPr>
                </a:tc>
                <a:tc>
                  <a:txBody>
                    <a:bodyPr/>
                    <a:lstStyle/>
                    <a:p>
                      <a:r>
                        <a:rPr sz="1400" b="1">
                          <a:solidFill>
                            <a:srgbClr val="F2F3F7"/>
                          </a:solidFill>
                          <a:latin typeface="Helvetica Neue"/>
                        </a:rPr>
                        <a:t>0.182</a:t>
                      </a:r>
                    </a:p>
                  </a:txBody>
                  <a:tcPr anchor="ctr">
                    <a:solidFill>
                      <a:srgbClr val="11141C"/>
                    </a:solidFill>
                  </a:tcPr>
                </a:tc>
                <a:tc>
                  <a:txBody>
                    <a:bodyPr/>
                    <a:lstStyle/>
                    <a:p>
                      <a:r>
                        <a:rPr sz="1400" b="0">
                          <a:solidFill>
                            <a:srgbClr val="F2F3F7"/>
                          </a:solidFill>
                          <a:latin typeface="Helvetica Neue"/>
                        </a:rPr>
                        <a:t>10.95%</a:t>
                      </a:r>
                    </a:p>
                  </a:txBody>
                  <a:tcPr anchor="ctr">
                    <a:solidFill>
                      <a:srgbClr val="11141C"/>
                    </a:solidFill>
                  </a:tcPr>
                </a:tc>
              </a:tr>
              <a:tr h="329184">
                <a:tc>
                  <a:txBody>
                    <a:bodyPr/>
                    <a:lstStyle/>
                    <a:p>
                      <a:r>
                        <a:rPr sz="1400" b="1">
                          <a:solidFill>
                            <a:srgbClr val="F2F3F7"/>
                          </a:solidFill>
                          <a:latin typeface="Helvetica Neue"/>
                        </a:rPr>
                        <a:t>R-CAMPAIGN</a:t>
                      </a:r>
                    </a:p>
                  </a:txBody>
                  <a:tcPr anchor="ctr">
                    <a:solidFill>
                      <a:srgbClr val="161A24"/>
                    </a:solidFill>
                  </a:tcPr>
                </a:tc>
                <a:tc>
                  <a:txBody>
                    <a:bodyPr/>
                    <a:lstStyle/>
                    <a:p>
                      <a:r>
                        <a:rPr sz="1400" b="0">
                          <a:solidFill>
                            <a:srgbClr val="F2F3F7"/>
                          </a:solidFill>
                          <a:latin typeface="Helvetica Neue"/>
                        </a:rPr>
                        <a:t>15</a:t>
                      </a:r>
                    </a:p>
                  </a:txBody>
                  <a:tcPr anchor="ctr">
                    <a:solidFill>
                      <a:srgbClr val="161A24"/>
                    </a:solidFill>
                  </a:tcPr>
                </a:tc>
                <a:tc>
                  <a:txBody>
                    <a:bodyPr/>
                    <a:lstStyle/>
                    <a:p>
                      <a:r>
                        <a:rPr sz="1400" b="0">
                          <a:solidFill>
                            <a:srgbClr val="F2F3F7"/>
                          </a:solidFill>
                          <a:latin typeface="Helvetica Neue"/>
                        </a:rPr>
                        <a:t>2.09%</a:t>
                      </a:r>
                    </a:p>
                  </a:txBody>
                  <a:tcPr anchor="ctr">
                    <a:solidFill>
                      <a:srgbClr val="161A24"/>
                    </a:solidFill>
                  </a:tcPr>
                </a:tc>
                <a:tc>
                  <a:txBody>
                    <a:bodyPr/>
                    <a:lstStyle/>
                    <a:p>
                      <a:r>
                        <a:rPr sz="1400" b="1">
                          <a:solidFill>
                            <a:srgbClr val="F2F3F7"/>
                          </a:solidFill>
                          <a:latin typeface="Helvetica Neue"/>
                        </a:rPr>
                        <a:t>0.139</a:t>
                      </a:r>
                    </a:p>
                  </a:txBody>
                  <a:tcPr anchor="ctr">
                    <a:solidFill>
                      <a:srgbClr val="161A24"/>
                    </a:solidFill>
                  </a:tcPr>
                </a:tc>
                <a:tc>
                  <a:txBody>
                    <a:bodyPr/>
                    <a:lstStyle/>
                    <a:p>
                      <a:r>
                        <a:rPr sz="1400" b="0">
                          <a:solidFill>
                            <a:srgbClr val="F2F3F7"/>
                          </a:solidFill>
                          <a:latin typeface="Helvetica Neue"/>
                        </a:rPr>
                        <a:t>6.16%</a:t>
                      </a:r>
                    </a:p>
                  </a:txBody>
                  <a:tcPr anchor="ctr">
                    <a:solidFill>
                      <a:srgbClr val="161A24"/>
                    </a:solidFill>
                  </a:tcPr>
                </a:tc>
              </a:tr>
              <a:tr h="329184">
                <a:tc>
                  <a:txBody>
                    <a:bodyPr/>
                    <a:lstStyle/>
                    <a:p>
                      <a:r>
                        <a:rPr sz="1400" b="1">
                          <a:solidFill>
                            <a:srgbClr val="E69F00"/>
                          </a:solidFill>
                          <a:latin typeface="Helvetica Neue"/>
                        </a:rPr>
                        <a:t>R-CURRENT</a:t>
                      </a:r>
                    </a:p>
                  </a:txBody>
                  <a:tcPr anchor="ctr">
                    <a:solidFill>
                      <a:srgbClr val="11141C"/>
                    </a:solidFill>
                  </a:tcPr>
                </a:tc>
                <a:tc>
                  <a:txBody>
                    <a:bodyPr/>
                    <a:lstStyle/>
                    <a:p>
                      <a:r>
                        <a:rPr sz="1400" b="1">
                          <a:solidFill>
                            <a:srgbClr val="E69F00"/>
                          </a:solidFill>
                          <a:latin typeface="Helvetica Neue"/>
                        </a:rPr>
                        <a:t>15</a:t>
                      </a:r>
                    </a:p>
                  </a:txBody>
                  <a:tcPr anchor="ctr">
                    <a:solidFill>
                      <a:srgbClr val="11141C"/>
                    </a:solidFill>
                  </a:tcPr>
                </a:tc>
                <a:tc>
                  <a:txBody>
                    <a:bodyPr/>
                    <a:lstStyle/>
                    <a:p>
                      <a:r>
                        <a:rPr sz="1400" b="1">
                          <a:solidFill>
                            <a:srgbClr val="E69F00"/>
                          </a:solidFill>
                          <a:latin typeface="Helvetica Neue"/>
                        </a:rPr>
                        <a:t>6.33%</a:t>
                      </a:r>
                    </a:p>
                  </a:txBody>
                  <a:tcPr anchor="ctr">
                    <a:solidFill>
                      <a:srgbClr val="11141C"/>
                    </a:solidFill>
                  </a:tcPr>
                </a:tc>
                <a:tc>
                  <a:txBody>
                    <a:bodyPr/>
                    <a:lstStyle/>
                    <a:p>
                      <a:r>
                        <a:rPr sz="1400" b="1">
                          <a:solidFill>
                            <a:srgbClr val="E69F00"/>
                          </a:solidFill>
                          <a:latin typeface="Helvetica Neue"/>
                        </a:rPr>
                        <a:t>0.422</a:t>
                      </a:r>
                    </a:p>
                  </a:txBody>
                  <a:tcPr anchor="ctr">
                    <a:solidFill>
                      <a:srgbClr val="11141C"/>
                    </a:solidFill>
                  </a:tcPr>
                </a:tc>
                <a:tc>
                  <a:txBody>
                    <a:bodyPr/>
                    <a:lstStyle/>
                    <a:p>
                      <a:r>
                        <a:rPr sz="1400" b="1">
                          <a:solidFill>
                            <a:srgbClr val="E69F00"/>
                          </a:solidFill>
                          <a:latin typeface="Helvetica Neue"/>
                        </a:rPr>
                        <a:t>12.77%</a:t>
                      </a:r>
                    </a:p>
                  </a:txBody>
                  <a:tcPr anchor="ctr">
                    <a:solidFill>
                      <a:srgbClr val="11141C"/>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The two reference arms CANNOT express bound rings, segmentation polygons, treatment, polarity or source grouping — five of the twenty statements. They look thinner for free. Normalised, today's notation costs 3.2× more ink per unit of meaning than the best candidate.</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survives at thumbnail size</a:t>
            </a:r>
          </a:p>
          <a:p>
            <a:pPr algn="l">
              <a:spcAft>
                <a:spcPts val="600"/>
              </a:spcAft>
            </a:pPr>
            <a:r>
              <a:rPr sz="1300" b="0" i="0">
                <a:solidFill>
                  <a:srgbClr val="9AA0AE"/>
                </a:solidFill>
                <a:latin typeface="Helvetica Neue"/>
              </a:rPr>
              <a:t>260 px per panel — an ordinary nine-panel contact sheet</a:t>
            </a:r>
          </a:p>
        </p:txBody>
      </p:sp>
      <p:pic>
        <p:nvPicPr>
          <p:cNvPr id="3" name="Picture 2" descr="contact-260.png"/>
          <p:cNvPicPr>
            <a:picLocks noChangeAspect="1"/>
          </p:cNvPicPr>
          <p:nvPr/>
        </p:nvPicPr>
        <p:blipFill>
          <a:blip r:embed="rId2"/>
          <a:stretch>
            <a:fillRect/>
          </a:stretch>
        </p:blipFill>
        <p:spPr>
          <a:xfrm>
            <a:off x="1956216" y="1417320"/>
            <a:ext cx="8279263" cy="4754880"/>
          </a:xfrm>
          <a:prstGeom prst="rect">
            <a:avLst/>
          </a:prstGeom>
        </p:spPr>
      </p:pic>
      <p:sp>
        <p:nvSpPr>
          <p:cNvPr id="4" name="TextBox 3"/>
          <p:cNvSpPr txBox="1"/>
          <p:nvPr/>
        </p:nvSpPr>
        <p:spPr>
          <a:xfrm>
            <a:off x="1956216" y="6245352"/>
            <a:ext cx="8279263" cy="365760"/>
          </a:xfrm>
          <a:prstGeom prst="rect">
            <a:avLst/>
          </a:prstGeom>
          <a:noFill/>
        </p:spPr>
        <p:txBody>
          <a:bodyPr wrap="square" anchor="t" lIns="0" rIns="0" tIns="0" bIns="0">
            <a:spAutoFit/>
          </a:bodyPr>
          <a:lstStyle/>
          <a:p>
            <a:pPr algn="l">
              <a:spcAft>
                <a:spcPts val="600"/>
              </a:spcAft>
            </a:pPr>
            <a:r>
              <a:rPr sz="1100" b="0" i="0">
                <a:solidFill>
                  <a:srgbClr val="9AA0AE"/>
                </a:solidFill>
                <a:latin typeface="Helvetica Neue"/>
              </a:rPr>
              <a:t>At this size text is unreadable in EVERY arm. Only the visual channel remains — which is the empirical case for putting polarity in texture and role in shape.</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Measured thresholds: stroke texture survives to 167 px · orientation to 235 px · glyph shape to 300 px · text needs 367 px</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Today, and a candidate, on the same scene</a:t>
            </a:r>
          </a:p>
          <a:p>
            <a:pPr algn="l">
              <a:spcAft>
                <a:spcPts val="600"/>
              </a:spcAft>
            </a:pPr>
            <a:r>
              <a:rPr sz="1300" b="0" i="0">
                <a:solidFill>
                  <a:srgbClr val="9AA0AE"/>
                </a:solidFill>
                <a:latin typeface="Helvetica Neue"/>
              </a:rPr>
              <a:t>Same twenty marks where expressible; same base pixels</a:t>
            </a:r>
          </a:p>
        </p:txBody>
      </p:sp>
      <p:pic>
        <p:nvPicPr>
          <p:cNvPr id="3" name="Picture 2" descr="r-current.png"/>
          <p:cNvPicPr>
            <a:picLocks noChangeAspect="1"/>
          </p:cNvPicPr>
          <p:nvPr/>
        </p:nvPicPr>
        <p:blipFill>
          <a:blip r:embed="rId2"/>
          <a:stretch>
            <a:fillRect/>
          </a:stretch>
        </p:blipFill>
        <p:spPr>
          <a:xfrm>
            <a:off x="1201864" y="1417320"/>
            <a:ext cx="4103599" cy="4572000"/>
          </a:xfrm>
          <a:prstGeom prst="rect">
            <a:avLst/>
          </a:prstGeom>
        </p:spPr>
      </p:pic>
      <p:sp>
        <p:nvSpPr>
          <p:cNvPr id="4" name="TextBox 3"/>
          <p:cNvSpPr txBox="1"/>
          <p:nvPr/>
        </p:nvSpPr>
        <p:spPr>
          <a:xfrm>
            <a:off x="548640" y="6080760"/>
            <a:ext cx="5410047" cy="548640"/>
          </a:xfrm>
          <a:prstGeom prst="rect">
            <a:avLst/>
          </a:prstGeom>
          <a:noFill/>
        </p:spPr>
        <p:txBody>
          <a:bodyPr wrap="square" anchor="t" lIns="0" rIns="0" tIns="0" bIns="0">
            <a:spAutoFit/>
          </a:bodyPr>
          <a:lstStyle/>
          <a:p>
            <a:pPr algn="l">
              <a:spcAft>
                <a:spcPts val="600"/>
              </a:spcAft>
            </a:pPr>
            <a:r>
              <a:rPr sz="1100" b="0" i="0">
                <a:solidFill>
                  <a:srgbClr val="9AA0AE"/>
                </a:solidFill>
                <a:latin typeface="Helvetica Neue"/>
              </a:rPr>
              <a:t>LensMark today — 6.3% ink, 0.42 per statement. The legend plate is the single largest consumer of ink, and five statements cannot be made at all.</a:t>
            </a:r>
          </a:p>
        </p:txBody>
      </p:sp>
      <p:pic>
        <p:nvPicPr>
          <p:cNvPr id="5" name="Picture 4" descr="n1.png"/>
          <p:cNvPicPr>
            <a:picLocks noChangeAspect="1"/>
          </p:cNvPicPr>
          <p:nvPr/>
        </p:nvPicPr>
        <p:blipFill>
          <a:blip r:embed="rId3"/>
          <a:stretch>
            <a:fillRect/>
          </a:stretch>
        </p:blipFill>
        <p:spPr>
          <a:xfrm>
            <a:off x="6958959" y="1417320"/>
            <a:ext cx="3958143" cy="4572000"/>
          </a:xfrm>
          <a:prstGeom prst="rect">
            <a:avLst/>
          </a:prstGeom>
        </p:spPr>
      </p:pic>
      <p:sp>
        <p:nvSpPr>
          <p:cNvPr id="6" name="TextBox 5"/>
          <p:cNvSpPr txBox="1"/>
          <p:nvPr/>
        </p:nvSpPr>
        <p:spPr>
          <a:xfrm>
            <a:off x="6233007" y="6080760"/>
            <a:ext cx="5410047" cy="548640"/>
          </a:xfrm>
          <a:prstGeom prst="rect">
            <a:avLst/>
          </a:prstGeom>
          <a:noFill/>
        </p:spPr>
        <p:txBody>
          <a:bodyPr wrap="square" anchor="t" lIns="0" rIns="0" tIns="0" bIns="0">
            <a:spAutoFit/>
          </a:bodyPr>
          <a:lstStyle/>
          <a:p>
            <a:pPr algn="l">
              <a:spcAft>
                <a:spcPts val="600"/>
              </a:spcAft>
            </a:pPr>
            <a:r>
              <a:rPr sz="1100" b="0" i="0">
                <a:solidFill>
                  <a:srgbClr val="9AA0AE"/>
                </a:solidFill>
                <a:latin typeface="Helvetica Neue"/>
              </a:rPr>
              <a:t>N1 — 3.7% ink, 0.18 per statement, expressing five MORE things: bound rings, segmentation, treatment, polarity and source grouping.</a:t>
            </a:r>
          </a:p>
        </p:txBody>
      </p:sp>
      <p:sp>
        <p:nvSpPr>
          <p:cNvPr id="7" name="TextBox 6"/>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The prototype reference arm validates against reality: it measures 6.3% against 6.4–10.8% for the real renders</a:t>
            </a:r>
          </a:p>
        </p:txBody>
      </p:sp>
      <p:sp>
        <p:nvSpPr>
          <p:cNvPr id="8" name="TextBox 7"/>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468880"/>
            <a:ext cx="1005840" cy="381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97480"/>
            <a:ext cx="9997135" cy="2194560"/>
          </a:xfrm>
          <a:prstGeom prst="rect">
            <a:avLst/>
          </a:prstGeom>
          <a:noFill/>
        </p:spPr>
        <p:txBody>
          <a:bodyPr wrap="square" anchor="t" lIns="0" rIns="0" tIns="0" bIns="0">
            <a:spAutoFit/>
          </a:bodyPr>
          <a:lstStyle/>
          <a:p>
            <a:pPr algn="l">
              <a:spcAft>
                <a:spcPts val="1200"/>
              </a:spcAft>
            </a:pPr>
            <a:r>
              <a:rPr sz="1300" b="1" i="0">
                <a:solidFill>
                  <a:srgbClr val="E69F00"/>
                </a:solidFill>
                <a:latin typeface="Helvetica Neue"/>
              </a:rPr>
              <a:t>PART FIVE</a:t>
            </a:r>
          </a:p>
          <a:p>
            <a:pPr algn="l">
              <a:spcAft>
                <a:spcPts val="1200"/>
              </a:spcAft>
            </a:pPr>
            <a:r>
              <a:rPr sz="3400" b="1" i="0">
                <a:solidFill>
                  <a:srgbClr val="F2F3F7"/>
                </a:solidFill>
                <a:latin typeface="Helvetica Neue"/>
              </a:rPr>
              <a:t>Six metadata architectures</a:t>
            </a:r>
          </a:p>
          <a:p>
            <a:pPr algn="l">
              <a:spcAft>
                <a:spcPts val="600"/>
              </a:spcAft>
            </a:pPr>
            <a:r>
              <a:rPr sz="1500" b="0" i="0">
                <a:solidFill>
                  <a:srgbClr val="9AA0AE"/>
                </a:solidFill>
                <a:latin typeface="Helvetica Neue"/>
              </a:rPr>
              <a:t>All six encoded in full, saying the same thing about the same image</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option space</a:t>
            </a:r>
          </a:p>
        </p:txBody>
      </p:sp>
      <p:graphicFrame>
        <p:nvGraphicFramePr>
          <p:cNvPr id="3" name="Table 2"/>
          <p:cNvGraphicFramePr>
            <a:graphicFrameLocks noGrp="1"/>
          </p:cNvGraphicFramePr>
          <p:nvPr/>
        </p:nvGraphicFramePr>
        <p:xfrm>
          <a:off x="548640" y="1188720"/>
          <a:ext cx="11094414" cy="2304288"/>
        </p:xfrm>
        <a:graphic>
          <a:graphicData uri="http://schemas.openxmlformats.org/drawingml/2006/table">
            <a:tbl>
              <a:tblPr firstRow="1" bandRow="1">
                <a:tableStyleId>{5C22544A-7EE6-4342-B048-85BDC9FD1C3A}</a:tableStyleId>
              </a:tblPr>
              <a:tblGrid>
                <a:gridCol w="776609"/>
                <a:gridCol w="4437766"/>
                <a:gridCol w="5880039"/>
              </a:tblGrid>
              <a:tr h="329184">
                <a:tc>
                  <a:txBody>
                    <a:bodyPr/>
                    <a:lstStyle/>
                    <a:p>
                      <a:r>
                        <a:rPr sz="1200" b="1">
                          <a:solidFill>
                            <a:srgbClr val="56B4E9"/>
                          </a:solidFill>
                          <a:latin typeface="Helvetica Neue"/>
                        </a:rPr>
                        <a:t/>
                      </a:r>
                    </a:p>
                  </a:txBody>
                  <a:tcPr anchor="ctr">
                    <a:solidFill>
                      <a:srgbClr val="1A1E28"/>
                    </a:solidFill>
                  </a:tcPr>
                </a:tc>
                <a:tc>
                  <a:txBody>
                    <a:bodyPr/>
                    <a:lstStyle/>
                    <a:p>
                      <a:r>
                        <a:rPr sz="1200" b="1">
                          <a:solidFill>
                            <a:srgbClr val="56B4E9"/>
                          </a:solidFill>
                          <a:latin typeface="Helvetica Neue"/>
                        </a:rPr>
                        <a:t>Shape</a:t>
                      </a:r>
                    </a:p>
                  </a:txBody>
                  <a:tcPr anchor="ctr">
                    <a:solidFill>
                      <a:srgbClr val="1A1E28"/>
                    </a:solidFill>
                  </a:tcPr>
                </a:tc>
                <a:tc>
                  <a:txBody>
                    <a:bodyPr/>
                    <a:lstStyle/>
                    <a:p>
                      <a:r>
                        <a:rPr sz="1200" b="1">
                          <a:solidFill>
                            <a:srgbClr val="56B4E9"/>
                          </a:solidFill>
                          <a:latin typeface="Helvetica Neue"/>
                        </a:rPr>
                        <a:t>Verdict</a:t>
                      </a:r>
                    </a:p>
                  </a:txBody>
                  <a:tcPr anchor="ctr">
                    <a:solidFill>
                      <a:srgbClr val="1A1E28"/>
                    </a:solidFill>
                  </a:tcPr>
                </a:tc>
              </a:tr>
              <a:tr h="329184">
                <a:tc>
                  <a:txBody>
                    <a:bodyPr/>
                    <a:lstStyle/>
                    <a:p>
                      <a:r>
                        <a:rPr sz="1200" b="1">
                          <a:solidFill>
                            <a:srgbClr val="F2F3F7"/>
                          </a:solidFill>
                          <a:latin typeface="Helvetica Neue"/>
                        </a:rPr>
                        <a:t>P1</a:t>
                      </a:r>
                    </a:p>
                  </a:txBody>
                  <a:tcPr anchor="ctr">
                    <a:solidFill>
                      <a:srgbClr val="161A24"/>
                    </a:solidFill>
                  </a:tcPr>
                </a:tc>
                <a:tc>
                  <a:txBody>
                    <a:bodyPr/>
                    <a:lstStyle/>
                    <a:p>
                      <a:r>
                        <a:rPr sz="1200" b="0">
                          <a:solidFill>
                            <a:srgbClr val="F2F3F7"/>
                          </a:solidFill>
                          <a:latin typeface="Helvetica Neue"/>
                        </a:rPr>
                        <a:t>Evolved bespoke — typed items, orthogonal semantic fields, portrayal hoisted out</a:t>
                      </a:r>
                    </a:p>
                  </a:txBody>
                  <a:tcPr anchor="ctr">
                    <a:solidFill>
                      <a:srgbClr val="161A24"/>
                    </a:solidFill>
                  </a:tcPr>
                </a:tc>
                <a:tc>
                  <a:txBody>
                    <a:bodyPr/>
                    <a:lstStyle/>
                    <a:p>
                      <a:r>
                        <a:rPr sz="1200" b="1">
                          <a:solidFill>
                            <a:srgbClr val="F2F3F7"/>
                          </a:solidFill>
                          <a:latin typeface="Helvetica Neue"/>
                        </a:rPr>
                        <a:t>recommended container</a:t>
                      </a:r>
                      <a:r>
                        <a:rPr sz="1200" b="0">
                          <a:solidFill>
                            <a:srgbClr val="F2F3F7"/>
                          </a:solidFill>
                          <a:latin typeface="Helvetica Neue"/>
                        </a:rPr>
                        <a:t> — smallest diff, humans already read it</a:t>
                      </a:r>
                    </a:p>
                  </a:txBody>
                  <a:tcPr anchor="ctr">
                    <a:solidFill>
                      <a:srgbClr val="161A24"/>
                    </a:solidFill>
                  </a:tcPr>
                </a:tc>
              </a:tr>
              <a:tr h="329184">
                <a:tc>
                  <a:txBody>
                    <a:bodyPr/>
                    <a:lstStyle/>
                    <a:p>
                      <a:r>
                        <a:rPr sz="1200" b="1">
                          <a:solidFill>
                            <a:srgbClr val="F2F3F7"/>
                          </a:solidFill>
                          <a:latin typeface="Helvetica Neue"/>
                        </a:rPr>
                        <a:t>P2</a:t>
                      </a:r>
                    </a:p>
                  </a:txBody>
                  <a:tcPr anchor="ctr">
                    <a:solidFill>
                      <a:srgbClr val="11141C"/>
                    </a:solidFill>
                  </a:tcPr>
                </a:tc>
                <a:tc>
                  <a:txBody>
                    <a:bodyPr/>
                    <a:lstStyle/>
                    <a:p>
                      <a:r>
                        <a:rPr sz="1200" b="0">
                          <a:solidFill>
                            <a:srgbClr val="F2F3F7"/>
                          </a:solidFill>
                          <a:latin typeface="Helvetica Neue"/>
                        </a:rPr>
                        <a:t>GeoJSON FeatureCollection</a:t>
                      </a:r>
                    </a:p>
                  </a:txBody>
                  <a:tcPr anchor="ctr">
                    <a:solidFill>
                      <a:srgbClr val="11141C"/>
                    </a:solidFill>
                  </a:tcPr>
                </a:tc>
                <a:tc>
                  <a:txBody>
                    <a:bodyPr/>
                    <a:lstStyle/>
                    <a:p>
                      <a:r>
                        <a:rPr sz="1200" b="1">
                          <a:solidFill>
                            <a:srgbClr val="F2F3F7"/>
                          </a:solidFill>
                          <a:latin typeface="Helvetica Neue"/>
                        </a:rPr>
                        <a:t>fails</a:t>
                      </a:r>
                      <a:r>
                        <a:rPr sz="1200" b="0">
                          <a:solidFill>
                            <a:srgbClr val="F2F3F7"/>
                          </a:solidFill>
                          <a:latin typeface="Helvetica Neue"/>
                        </a:rPr>
                        <a:t>: no circle primitive, and 9 of 20 marks are circles whose radius IS the datum. Also the largest encoding</a:t>
                      </a:r>
                    </a:p>
                  </a:txBody>
                  <a:tcPr anchor="ctr">
                    <a:solidFill>
                      <a:srgbClr val="11141C"/>
                    </a:solidFill>
                  </a:tcPr>
                </a:tc>
              </a:tr>
              <a:tr h="329184">
                <a:tc>
                  <a:txBody>
                    <a:bodyPr/>
                    <a:lstStyle/>
                    <a:p>
                      <a:r>
                        <a:rPr sz="1200" b="1">
                          <a:solidFill>
                            <a:srgbClr val="F2F3F7"/>
                          </a:solidFill>
                          <a:latin typeface="Helvetica Neue"/>
                        </a:rPr>
                        <a:t>P3</a:t>
                      </a:r>
                    </a:p>
                  </a:txBody>
                  <a:tcPr anchor="ctr">
                    <a:solidFill>
                      <a:srgbClr val="161A24"/>
                    </a:solidFill>
                  </a:tcPr>
                </a:tc>
                <a:tc>
                  <a:txBody>
                    <a:bodyPr/>
                    <a:lstStyle/>
                    <a:p>
                      <a:r>
                        <a:rPr sz="1200" b="0">
                          <a:solidFill>
                            <a:srgbClr val="F2F3F7"/>
                          </a:solidFill>
                          <a:latin typeface="Helvetica Neue"/>
                        </a:rPr>
                        <a:t>W3C Web Annotation (JSON-LD)</a:t>
                      </a:r>
                    </a:p>
                  </a:txBody>
                  <a:tcPr anchor="ctr">
                    <a:solidFill>
                      <a:srgbClr val="161A24"/>
                    </a:solidFill>
                  </a:tcPr>
                </a:tc>
                <a:tc>
                  <a:txBody>
                    <a:bodyPr/>
                    <a:lstStyle/>
                    <a:p>
                      <a:r>
                        <a:rPr sz="1200" b="1">
                          <a:solidFill>
                            <a:srgbClr val="F2F3F7"/>
                          </a:solidFill>
                          <a:latin typeface="Helvetica Neue"/>
                        </a:rPr>
                        <a:t>fails the flat-schema gate</a:t>
                      </a:r>
                      <a:r>
                        <a:rPr sz="1200" b="0">
                          <a:solidFill>
                            <a:srgbClr val="F2F3F7"/>
                          </a:solidFill>
                          <a:latin typeface="Helvetica Neue"/>
                        </a:rPr>
                        <a:t>; its native review model is worth stealing conceptually</a:t>
                      </a:r>
                    </a:p>
                  </a:txBody>
                  <a:tcPr anchor="ctr">
                    <a:solidFill>
                      <a:srgbClr val="161A24"/>
                    </a:solidFill>
                  </a:tcPr>
                </a:tc>
              </a:tr>
              <a:tr h="329184">
                <a:tc>
                  <a:txBody>
                    <a:bodyPr/>
                    <a:lstStyle/>
                    <a:p>
                      <a:r>
                        <a:rPr sz="1200" b="1">
                          <a:solidFill>
                            <a:srgbClr val="F2F3F7"/>
                          </a:solidFill>
                          <a:latin typeface="Helvetica Neue"/>
                        </a:rPr>
                        <a:t>P4</a:t>
                      </a:r>
                    </a:p>
                  </a:txBody>
                  <a:tcPr anchor="ctr">
                    <a:solidFill>
                      <a:srgbClr val="11141C"/>
                    </a:solidFill>
                  </a:tcPr>
                </a:tc>
                <a:tc>
                  <a:txBody>
                    <a:bodyPr/>
                    <a:lstStyle/>
                    <a:p>
                      <a:r>
                        <a:rPr sz="1200" b="0">
                          <a:solidFill>
                            <a:srgbClr val="F2F3F7"/>
                          </a:solidFill>
                          <a:latin typeface="Helvetica Neue"/>
                        </a:rPr>
                        <a:t>Markup/annotation split with coded concepts (DICOM SR, AIM)</a:t>
                      </a:r>
                    </a:p>
                  </a:txBody>
                  <a:tcPr anchor="ctr">
                    <a:solidFill>
                      <a:srgbClr val="11141C"/>
                    </a:solidFill>
                  </a:tcPr>
                </a:tc>
                <a:tc>
                  <a:txBody>
                    <a:bodyPr/>
                    <a:lstStyle/>
                    <a:p>
                      <a:r>
                        <a:rPr sz="1200" b="0">
                          <a:solidFill>
                            <a:srgbClr val="F2F3F7"/>
                          </a:solidFill>
                          <a:latin typeface="Helvetica Neue"/>
                        </a:rPr>
                        <a:t>architecturally best; 9.4× the cost — </a:t>
                      </a:r>
                      <a:r>
                        <a:rPr sz="1200" b="1">
                          <a:solidFill>
                            <a:srgbClr val="F2F3F7"/>
                          </a:solidFill>
                          <a:latin typeface="Helvetica Neue"/>
                        </a:rPr>
                        <a:t>take the identity, leave the ceremony</a:t>
                      </a:r>
                    </a:p>
                  </a:txBody>
                  <a:tcPr anchor="ctr">
                    <a:solidFill>
                      <a:srgbClr val="11141C"/>
                    </a:solidFill>
                  </a:tcPr>
                </a:tc>
              </a:tr>
              <a:tr h="329184">
                <a:tc>
                  <a:txBody>
                    <a:bodyPr/>
                    <a:lstStyle/>
                    <a:p>
                      <a:r>
                        <a:rPr sz="1200" b="1">
                          <a:solidFill>
                            <a:srgbClr val="F2F3F7"/>
                          </a:solidFill>
                          <a:latin typeface="Helvetica Neue"/>
                        </a:rPr>
                        <a:t>P5</a:t>
                      </a:r>
                    </a:p>
                  </a:txBody>
                  <a:tcPr anchor="ctr">
                    <a:solidFill>
                      <a:srgbClr val="161A24"/>
                    </a:solidFill>
                  </a:tcPr>
                </a:tc>
                <a:tc>
                  <a:txBody>
                    <a:bodyPr/>
                    <a:lstStyle/>
                    <a:p>
                      <a:r>
                        <a:rPr sz="1200" b="0">
                          <a:solidFill>
                            <a:srgbClr val="F2F3F7"/>
                          </a:solidFill>
                          <a:latin typeface="Helvetica Neue"/>
                        </a:rPr>
                        <a:t>Dual surface: canonical JSON plus a compact line notation</a:t>
                      </a:r>
                    </a:p>
                  </a:txBody>
                  <a:tcPr anchor="ctr">
                    <a:solidFill>
                      <a:srgbClr val="161A24"/>
                    </a:solidFill>
                  </a:tcPr>
                </a:tc>
                <a:tc>
                  <a:txBody>
                    <a:bodyPr/>
                    <a:lstStyle/>
                    <a:p>
                      <a:r>
                        <a:rPr sz="1200" b="1">
                          <a:solidFill>
                            <a:srgbClr val="F2F3F7"/>
                          </a:solidFill>
                          <a:latin typeface="Helvetica Neue"/>
                        </a:rPr>
                        <a:t>orthogonal to the rest</a:t>
                      </a:r>
                      <a:r>
                        <a:rPr sz="1200" b="0">
                          <a:solidFill>
                            <a:srgbClr val="F2F3F7"/>
                          </a:solidFill>
                          <a:latin typeface="Helvetica Neue"/>
                        </a:rPr>
                        <a:t> — adopt as the model-read surface</a:t>
                      </a:r>
                    </a:p>
                  </a:txBody>
                  <a:tcPr anchor="ctr">
                    <a:solidFill>
                      <a:srgbClr val="161A24"/>
                    </a:solidFill>
                  </a:tcPr>
                </a:tc>
              </a:tr>
              <a:tr h="329184">
                <a:tc>
                  <a:txBody>
                    <a:bodyPr/>
                    <a:lstStyle/>
                    <a:p>
                      <a:r>
                        <a:rPr sz="1200" b="1">
                          <a:solidFill>
                            <a:srgbClr val="F2F3F7"/>
                          </a:solidFill>
                          <a:latin typeface="Helvetica Neue"/>
                        </a:rPr>
                        <a:t>P6</a:t>
                      </a:r>
                    </a:p>
                  </a:txBody>
                  <a:tcPr anchor="ctr">
                    <a:solidFill>
                      <a:srgbClr val="11141C"/>
                    </a:solidFill>
                  </a:tcPr>
                </a:tc>
                <a:tc>
                  <a:txBody>
                    <a:bodyPr/>
                    <a:lstStyle/>
                    <a:p>
                      <a:r>
                        <a:rPr sz="1200" b="0">
                          <a:solidFill>
                            <a:srgbClr val="F2F3F7"/>
                          </a:solidFill>
                          <a:latin typeface="Helvetica Neue"/>
                        </a:rPr>
                        <a:t>Relational / columnar (FITS BINTABLE, VOTable, Parquet)</a:t>
                      </a:r>
                    </a:p>
                  </a:txBody>
                  <a:tcPr anchor="ctr">
                    <a:solidFill>
                      <a:srgbClr val="11141C"/>
                    </a:solidFill>
                  </a:tcPr>
                </a:tc>
                <a:tc>
                  <a:txBody>
                    <a:bodyPr/>
                    <a:lstStyle/>
                    <a:p>
                      <a:r>
                        <a:rPr sz="1200" b="0">
                          <a:solidFill>
                            <a:srgbClr val="F2F3F7"/>
                          </a:solidFill>
                          <a:latin typeface="Helvetica Neue"/>
                        </a:rPr>
                        <a:t>the right </a:t>
                      </a:r>
                      <a:r>
                        <a:rPr sz="1200" b="1">
                          <a:solidFill>
                            <a:srgbClr val="F2F3F7"/>
                          </a:solidFill>
                          <a:latin typeface="Helvetica Neue"/>
                        </a:rPr>
                        <a:t>export</a:t>
                      </a:r>
                      <a:r>
                        <a:rPr sz="1200" b="0">
                          <a:solidFill>
                            <a:srgbClr val="F2F3F7"/>
                          </a:solidFill>
                          <a:latin typeface="Helvetica Neue"/>
                        </a:rPr>
                        <a:t>, not the record</a:t>
                      </a:r>
                    </a:p>
                  </a:txBody>
                  <a:tcPr anchor="ctr">
                    <a:solidFill>
                      <a:srgbClr val="11141C"/>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DS9-extended and RDF/OWL were considered and rejected as primaries, with what to steal from each recorded</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E69F00"/>
                </a:solidFill>
                <a:latin typeface="Helvetica Neue"/>
              </a:rPr>
              <a:t>THE AXIS THAT DECIDES</a:t>
            </a:r>
          </a:p>
          <a:p>
            <a:pPr algn="l">
              <a:spcAft>
                <a:spcPts val="1800"/>
              </a:spcAft>
            </a:pPr>
            <a:r>
              <a:rPr sz="3000" b="1" i="0">
                <a:solidFill>
                  <a:srgbClr val="F2F3F7"/>
                </a:solidFill>
                <a:latin typeface="Helvetica Neue"/>
              </a:rPr>
              <a:t>Choose the container for cheapness. Choose the vocabulary machinery for rigour.</a:t>
            </a:r>
          </a:p>
          <a:p>
            <a:pPr algn="l">
              <a:spcAft>
                <a:spcPts val="600"/>
              </a:spcAft>
            </a:pPr>
            <a:r>
              <a:rPr sz="1500" b="0" i="0">
                <a:solidFill>
                  <a:srgbClr val="9AA0AE"/>
                </a:solidFill>
                <a:latin typeface="Helvetica Neue"/>
              </a:rPr>
              <a:t>Converters between containers are 57–161 lines each — this is the cheapest decision in the whole design, and it will absorb the most argument.
What killed the current format was not a wrong choice; it was EROSION. Nothing prevented drift. So the axis that matters is the one where a mechanism can be installed.</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mechanism</a:t>
            </a:r>
          </a:p>
          <a:p>
            <a:pPr algn="l">
              <a:spcAft>
                <a:spcPts val="600"/>
              </a:spcAft>
            </a:pPr>
            <a:r>
              <a:rPr sz="1300" b="0" i="0">
                <a:solidFill>
                  <a:srgbClr val="9AA0AE"/>
                </a:solidFill>
                <a:latin typeface="Helvetica Neue"/>
              </a:rPr>
              <a:t>08-draft-spec/generate.py — and --check is the gate that keeps it true</a:t>
            </a:r>
          </a:p>
        </p:txBody>
      </p:sp>
      <p:sp>
        <p:nvSpPr>
          <p:cNvPr id="3" name="Rounded Rectangle 2"/>
          <p:cNvSpPr/>
          <p:nvPr/>
        </p:nvSpPr>
        <p:spPr>
          <a:xfrm>
            <a:off x="548640" y="1417320"/>
            <a:ext cx="11094415" cy="4498848"/>
          </a:xfrm>
          <a:prstGeom prst="roundRect">
            <a:avLst/>
          </a:prstGeom>
          <a:solidFill>
            <a:srgbClr val="16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545775" cy="4041648"/>
          </a:xfrm>
          <a:prstGeom prst="rect">
            <a:avLst/>
          </a:prstGeom>
          <a:noFill/>
        </p:spPr>
        <p:txBody>
          <a:bodyPr wrap="square" anchor="t" lIns="0" rIns="0" tIns="0" bIns="0">
            <a:spAutoFit/>
          </a:bodyPr>
          <a:lstStyle/>
          <a:p>
            <a:pPr algn="l">
              <a:spcAft>
                <a:spcPts val="300"/>
              </a:spcAft>
            </a:pPr>
            <a:r>
              <a:rPr sz="1300" b="0" i="0">
                <a:solidFill>
                  <a:srgbClr val="9AA0AE"/>
                </a:solidFill>
                <a:latin typeface="Menlo"/>
              </a:rPr>
              <a:t># one vocabulary file  -&gt;  every other surface, generated</a:t>
            </a:r>
          </a:p>
          <a:p>
            <a:pPr algn="l">
              <a:spcAft>
                <a:spcPts val="300"/>
              </a:spcAft>
            </a:pPr>
            <a:r>
              <a:rPr sz="1300" b="0" i="0">
                <a:solidFill>
                  <a:srgbClr val="F2F3F7"/>
                </a:solidFill>
                <a:latin typeface="Menlo"/>
              </a:rPr>
              <a:t> </a:t>
            </a:r>
          </a:p>
          <a:p>
            <a:pPr algn="l">
              <a:spcAft>
                <a:spcPts val="300"/>
              </a:spcAft>
            </a:pPr>
            <a:r>
              <a:rPr sz="1300" b="0" i="0">
                <a:solidFill>
                  <a:srgbClr val="F2F3F7"/>
                </a:solidFill>
                <a:latin typeface="Menlo"/>
              </a:rPr>
              <a:t>  astromark-vocab-lens-1.0.json     80 terms, 10 schemes</a:t>
            </a:r>
          </a:p>
          <a:p>
            <a:pPr algn="l">
              <a:spcAft>
                <a:spcPts val="300"/>
              </a:spcAft>
            </a:pPr>
            <a:r>
              <a:rPr sz="1300" b="0" i="0">
                <a:solidFill>
                  <a:srgbClr val="F2F3F7"/>
                </a:solidFill>
                <a:latin typeface="Menlo"/>
              </a:rPr>
              <a:t>        |</a:t>
            </a:r>
          </a:p>
          <a:p>
            <a:pPr algn="l">
              <a:spcAft>
                <a:spcPts val="300"/>
              </a:spcAft>
            </a:pPr>
            <a:r>
              <a:rPr sz="1300" b="0" i="0">
                <a:solidFill>
                  <a:srgbClr val="F2F3F7"/>
                </a:solidFill>
                <a:latin typeface="Menlo"/>
              </a:rPr>
              <a:t>        +--&gt; astromark-core-1.0.schema.json    flat, closed, 0 $ref</a:t>
            </a:r>
          </a:p>
          <a:p>
            <a:pPr algn="l">
              <a:spcAft>
                <a:spcPts val="300"/>
              </a:spcAft>
            </a:pPr>
            <a:r>
              <a:rPr sz="1300" b="0" i="0">
                <a:solidFill>
                  <a:srgbClr val="F2F3F7"/>
                </a:solidFill>
                <a:latin typeface="Menlo"/>
              </a:rPr>
              <a:t>        +--&gt; generated/vocab_literals.py       pydantic Literals</a:t>
            </a:r>
          </a:p>
          <a:p>
            <a:pPr algn="l">
              <a:spcAft>
                <a:spcPts val="300"/>
              </a:spcAft>
            </a:pPr>
            <a:r>
              <a:rPr sz="1300" b="0" i="0">
                <a:solidFill>
                  <a:srgbClr val="F2F3F7"/>
                </a:solidFill>
                <a:latin typeface="Menlo"/>
              </a:rPr>
              <a:t>        +--&gt; generated/vocab.ts                TypeScript unions</a:t>
            </a:r>
          </a:p>
          <a:p>
            <a:pPr algn="l">
              <a:spcAft>
                <a:spcPts val="300"/>
              </a:spcAft>
            </a:pPr>
            <a:r>
              <a:rPr sz="1300" b="0" i="0">
                <a:solidFill>
                  <a:srgbClr val="F2F3F7"/>
                </a:solidFill>
                <a:latin typeface="Menlo"/>
              </a:rPr>
              <a:t>        +--&gt; generated/vocabulary.md           the docs tables</a:t>
            </a:r>
          </a:p>
          <a:p>
            <a:pPr algn="l">
              <a:spcAft>
                <a:spcPts val="300"/>
              </a:spcAft>
            </a:pPr>
            <a:r>
              <a:rPr sz="1300" b="0" i="0">
                <a:solidFill>
                  <a:srgbClr val="F2F3F7"/>
                </a:solidFill>
                <a:latin typeface="Menlo"/>
              </a:rPr>
              <a:t> </a:t>
            </a:r>
          </a:p>
          <a:p>
            <a:pPr algn="l">
              <a:spcAft>
                <a:spcPts val="300"/>
              </a:spcAft>
            </a:pPr>
            <a:r>
              <a:rPr sz="1300" b="0" i="0">
                <a:solidFill>
                  <a:srgbClr val="009E73"/>
                </a:solidFill>
                <a:latin typeface="Menlo"/>
              </a:rPr>
              <a:t>  $ python generate.py --check</a:t>
            </a:r>
          </a:p>
          <a:p>
            <a:pPr algn="l">
              <a:spcAft>
                <a:spcPts val="300"/>
              </a:spcAft>
            </a:pPr>
            <a:r>
              <a:rPr sz="1300" b="0" i="0">
                <a:solidFill>
                  <a:srgbClr val="009E73"/>
                </a:solidFill>
                <a:latin typeface="Menlo"/>
              </a:rPr>
              <a:t>  all 4 generated artifacts are current</a:t>
            </a:r>
          </a:p>
          <a:p>
            <a:pPr algn="l">
              <a:spcAft>
                <a:spcPts val="300"/>
              </a:spcAft>
            </a:pPr>
            <a:r>
              <a:rPr sz="1300" b="0" i="0">
                <a:solidFill>
                  <a:srgbClr val="F2F3F7"/>
                </a:solidFill>
                <a:latin typeface="Menlo"/>
              </a:rPr>
              <a:t> </a:t>
            </a:r>
          </a:p>
          <a:p>
            <a:pPr algn="l">
              <a:spcAft>
                <a:spcPts val="300"/>
              </a:spcAft>
            </a:pPr>
            <a:r>
              <a:rPr sz="1300" b="0" i="0">
                <a:solidFill>
                  <a:srgbClr val="9AA0AE"/>
                </a:solidFill>
                <a:latin typeface="Menlo"/>
              </a:rPr>
              <a:t># adding a role touches ONE file.  Today it touches six.</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each encoding costs</a:t>
            </a:r>
          </a:p>
          <a:p>
            <a:pPr algn="l">
              <a:spcAft>
                <a:spcPts val="600"/>
              </a:spcAft>
            </a:pPr>
            <a:r>
              <a:rPr sz="1300" b="0" i="0">
                <a:solidFill>
                  <a:srgbClr val="9AA0AE"/>
                </a:solidFill>
                <a:latin typeface="Helvetica Neue"/>
              </a:rPr>
              <a:t>The same annotation — 20 marks, 12 roles, both polarities — in every candidate</a:t>
            </a:r>
          </a:p>
        </p:txBody>
      </p:sp>
      <p:graphicFrame>
        <p:nvGraphicFramePr>
          <p:cNvPr id="3" name="Table 2"/>
          <p:cNvGraphicFramePr>
            <a:graphicFrameLocks noGrp="1"/>
          </p:cNvGraphicFramePr>
          <p:nvPr/>
        </p:nvGraphicFramePr>
        <p:xfrm>
          <a:off x="548640" y="1417320"/>
          <a:ext cx="11094414" cy="2304288"/>
        </p:xfrm>
        <a:graphic>
          <a:graphicData uri="http://schemas.openxmlformats.org/drawingml/2006/table">
            <a:tbl>
              <a:tblPr firstRow="1" bandRow="1">
                <a:tableStyleId>{5C22544A-7EE6-4342-B048-85BDC9FD1C3A}</a:tableStyleId>
              </a:tblPr>
              <a:tblGrid>
                <a:gridCol w="4881542"/>
                <a:gridCol w="2218883"/>
                <a:gridCol w="1775106"/>
                <a:gridCol w="2218883"/>
              </a:tblGrid>
              <a:tr h="329184">
                <a:tc>
                  <a:txBody>
                    <a:bodyPr/>
                    <a:lstStyle/>
                    <a:p>
                      <a:r>
                        <a:rPr sz="1400" b="1">
                          <a:solidFill>
                            <a:srgbClr val="56B4E9"/>
                          </a:solidFill>
                          <a:latin typeface="Helvetica Neue"/>
                        </a:rPr>
                        <a:t>encoding</a:t>
                      </a:r>
                    </a:p>
                  </a:txBody>
                  <a:tcPr anchor="ctr">
                    <a:solidFill>
                      <a:srgbClr val="1A1E28"/>
                    </a:solidFill>
                  </a:tcPr>
                </a:tc>
                <a:tc>
                  <a:txBody>
                    <a:bodyPr/>
                    <a:lstStyle/>
                    <a:p>
                      <a:r>
                        <a:rPr sz="1400" b="1">
                          <a:solidFill>
                            <a:srgbClr val="56B4E9"/>
                          </a:solidFill>
                          <a:latin typeface="Helvetica Neue"/>
                        </a:rPr>
                        <a:t>characters</a:t>
                      </a:r>
                    </a:p>
                  </a:txBody>
                  <a:tcPr anchor="ctr">
                    <a:solidFill>
                      <a:srgbClr val="1A1E28"/>
                    </a:solidFill>
                  </a:tcPr>
                </a:tc>
                <a:tc>
                  <a:txBody>
                    <a:bodyPr/>
                    <a:lstStyle/>
                    <a:p>
                      <a:r>
                        <a:rPr sz="1400" b="1">
                          <a:solidFill>
                            <a:srgbClr val="56B4E9"/>
                          </a:solidFill>
                          <a:latin typeface="Helvetica Neue"/>
                        </a:rPr>
                        <a:t>× smallest</a:t>
                      </a:r>
                    </a:p>
                  </a:txBody>
                  <a:tcPr anchor="ctr">
                    <a:solidFill>
                      <a:srgbClr val="1A1E28"/>
                    </a:solidFill>
                  </a:tcPr>
                </a:tc>
                <a:tc>
                  <a:txBody>
                    <a:bodyPr/>
                    <a:lstStyle/>
                    <a:p>
                      <a:r>
                        <a:rPr sz="1400" b="1">
                          <a:solidFill>
                            <a:srgbClr val="56B4E9"/>
                          </a:solidFill>
                          <a:latin typeface="Helvetica Neue"/>
                        </a:rPr>
                        <a:t>50-example payload</a:t>
                      </a:r>
                    </a:p>
                  </a:txBody>
                  <a:tcPr anchor="ctr">
                    <a:solidFill>
                      <a:srgbClr val="1A1E28"/>
                    </a:solidFill>
                  </a:tcPr>
                </a:tc>
              </a:tr>
              <a:tr h="329184">
                <a:tc>
                  <a:txBody>
                    <a:bodyPr/>
                    <a:lstStyle/>
                    <a:p>
                      <a:r>
                        <a:rPr sz="1400" b="1">
                          <a:solidFill>
                            <a:srgbClr val="E69F00"/>
                          </a:solidFill>
                          <a:latin typeface="Helvetica Neue"/>
                        </a:rPr>
                        <a:t>P5 model-READ</a:t>
                      </a:r>
                    </a:p>
                  </a:txBody>
                  <a:tcPr anchor="ctr">
                    <a:solidFill>
                      <a:srgbClr val="161A24"/>
                    </a:solidFill>
                  </a:tcPr>
                </a:tc>
                <a:tc>
                  <a:txBody>
                    <a:bodyPr/>
                    <a:lstStyle/>
                    <a:p>
                      <a:r>
                        <a:rPr sz="1400" b="1">
                          <a:solidFill>
                            <a:srgbClr val="E69F00"/>
                          </a:solidFill>
                          <a:latin typeface="Helvetica Neue"/>
                        </a:rPr>
                        <a:t>2,091</a:t>
                      </a:r>
                    </a:p>
                  </a:txBody>
                  <a:tcPr anchor="ctr">
                    <a:solidFill>
                      <a:srgbClr val="161A24"/>
                    </a:solidFill>
                  </a:tcPr>
                </a:tc>
                <a:tc>
                  <a:txBody>
                    <a:bodyPr/>
                    <a:lstStyle/>
                    <a:p>
                      <a:r>
                        <a:rPr sz="1400" b="1">
                          <a:solidFill>
                            <a:srgbClr val="E69F00"/>
                          </a:solidFill>
                          <a:latin typeface="Helvetica Neue"/>
                        </a:rPr>
                        <a:t>1.0×</a:t>
                      </a:r>
                    </a:p>
                  </a:txBody>
                  <a:tcPr anchor="ctr">
                    <a:solidFill>
                      <a:srgbClr val="161A24"/>
                    </a:solidFill>
                  </a:tcPr>
                </a:tc>
                <a:tc>
                  <a:txBody>
                    <a:bodyPr/>
                    <a:lstStyle/>
                    <a:p>
                      <a:r>
                        <a:rPr sz="1400" b="1">
                          <a:solidFill>
                            <a:srgbClr val="E69F00"/>
                          </a:solidFill>
                          <a:latin typeface="Helvetica Neue"/>
                        </a:rPr>
                        <a:t>~30k</a:t>
                      </a:r>
                    </a:p>
                  </a:txBody>
                  <a:tcPr anchor="ctr">
                    <a:solidFill>
                      <a:srgbClr val="161A24"/>
                    </a:solidFill>
                  </a:tcPr>
                </a:tc>
              </a:tr>
              <a:tr h="329184">
                <a:tc>
                  <a:txBody>
                    <a:bodyPr/>
                    <a:lstStyle/>
                    <a:p>
                      <a:r>
                        <a:rPr sz="1400" b="0">
                          <a:solidFill>
                            <a:srgbClr val="F2F3F7"/>
                          </a:solidFill>
                          <a:latin typeface="Helvetica Neue"/>
                        </a:rPr>
                        <a:t>P6 relational</a:t>
                      </a:r>
                    </a:p>
                  </a:txBody>
                  <a:tcPr anchor="ctr">
                    <a:solidFill>
                      <a:srgbClr val="11141C"/>
                    </a:solidFill>
                  </a:tcPr>
                </a:tc>
                <a:tc>
                  <a:txBody>
                    <a:bodyPr/>
                    <a:lstStyle/>
                    <a:p>
                      <a:r>
                        <a:rPr sz="1400" b="0">
                          <a:solidFill>
                            <a:srgbClr val="F2F3F7"/>
                          </a:solidFill>
                          <a:latin typeface="Helvetica Neue"/>
                        </a:rPr>
                        <a:t>8,089</a:t>
                      </a:r>
                    </a:p>
                  </a:txBody>
                  <a:tcPr anchor="ctr">
                    <a:solidFill>
                      <a:srgbClr val="11141C"/>
                    </a:solidFill>
                  </a:tcPr>
                </a:tc>
                <a:tc>
                  <a:txBody>
                    <a:bodyPr/>
                    <a:lstStyle/>
                    <a:p>
                      <a:r>
                        <a:rPr sz="1400" b="0">
                          <a:solidFill>
                            <a:srgbClr val="F2F3F7"/>
                          </a:solidFill>
                          <a:latin typeface="Helvetica Neue"/>
                        </a:rPr>
                        <a:t>3.9×</a:t>
                      </a:r>
                    </a:p>
                  </a:txBody>
                  <a:tcPr anchor="ctr">
                    <a:solidFill>
                      <a:srgbClr val="11141C"/>
                    </a:solidFill>
                  </a:tcPr>
                </a:tc>
                <a:tc>
                  <a:txBody>
                    <a:bodyPr/>
                    <a:lstStyle/>
                    <a:p>
                      <a:r>
                        <a:rPr sz="1400" b="0">
                          <a:solidFill>
                            <a:srgbClr val="F2F3F7"/>
                          </a:solidFill>
                          <a:latin typeface="Helvetica Neue"/>
                        </a:rPr>
                        <a:t>~116k</a:t>
                      </a:r>
                    </a:p>
                  </a:txBody>
                  <a:tcPr anchor="ctr">
                    <a:solidFill>
                      <a:srgbClr val="11141C"/>
                    </a:solidFill>
                  </a:tcPr>
                </a:tc>
              </a:tr>
              <a:tr h="329184">
                <a:tc>
                  <a:txBody>
                    <a:bodyPr/>
                    <a:lstStyle/>
                    <a:p>
                      <a:r>
                        <a:rPr sz="1400" b="1">
                          <a:solidFill>
                            <a:srgbClr val="E69F00"/>
                          </a:solidFill>
                          <a:latin typeface="Helvetica Neue"/>
                        </a:rPr>
                        <a:t>P1 evolved bespoke</a:t>
                      </a:r>
                    </a:p>
                  </a:txBody>
                  <a:tcPr anchor="ctr">
                    <a:solidFill>
                      <a:srgbClr val="161A24"/>
                    </a:solidFill>
                  </a:tcPr>
                </a:tc>
                <a:tc>
                  <a:txBody>
                    <a:bodyPr/>
                    <a:lstStyle/>
                    <a:p>
                      <a:r>
                        <a:rPr sz="1400" b="1">
                          <a:solidFill>
                            <a:srgbClr val="E69F00"/>
                          </a:solidFill>
                          <a:latin typeface="Helvetica Neue"/>
                        </a:rPr>
                        <a:t>14,362</a:t>
                      </a:r>
                    </a:p>
                  </a:txBody>
                  <a:tcPr anchor="ctr">
                    <a:solidFill>
                      <a:srgbClr val="161A24"/>
                    </a:solidFill>
                  </a:tcPr>
                </a:tc>
                <a:tc>
                  <a:txBody>
                    <a:bodyPr/>
                    <a:lstStyle/>
                    <a:p>
                      <a:r>
                        <a:rPr sz="1400" b="1">
                          <a:solidFill>
                            <a:srgbClr val="E69F00"/>
                          </a:solidFill>
                          <a:latin typeface="Helvetica Neue"/>
                        </a:rPr>
                        <a:t>6.9×</a:t>
                      </a:r>
                    </a:p>
                  </a:txBody>
                  <a:tcPr anchor="ctr">
                    <a:solidFill>
                      <a:srgbClr val="161A24"/>
                    </a:solidFill>
                  </a:tcPr>
                </a:tc>
                <a:tc>
                  <a:txBody>
                    <a:bodyPr/>
                    <a:lstStyle/>
                    <a:p>
                      <a:r>
                        <a:rPr sz="1400" b="1">
                          <a:solidFill>
                            <a:srgbClr val="E69F00"/>
                          </a:solidFill>
                          <a:latin typeface="Helvetica Neue"/>
                        </a:rPr>
                        <a:t>~205k</a:t>
                      </a:r>
                    </a:p>
                  </a:txBody>
                  <a:tcPr anchor="ctr">
                    <a:solidFill>
                      <a:srgbClr val="161A24"/>
                    </a:solidFill>
                  </a:tcPr>
                </a:tc>
              </a:tr>
              <a:tr h="329184">
                <a:tc>
                  <a:txBody>
                    <a:bodyPr/>
                    <a:lstStyle/>
                    <a:p>
                      <a:r>
                        <a:rPr sz="1400" b="0">
                          <a:solidFill>
                            <a:srgbClr val="F2F3F7"/>
                          </a:solidFill>
                          <a:latin typeface="Helvetica Neue"/>
                        </a:rPr>
                        <a:t>P3 W3C Web Annotation</a:t>
                      </a:r>
                    </a:p>
                  </a:txBody>
                  <a:tcPr anchor="ctr">
                    <a:solidFill>
                      <a:srgbClr val="11141C"/>
                    </a:solidFill>
                  </a:tcPr>
                </a:tc>
                <a:tc>
                  <a:txBody>
                    <a:bodyPr/>
                    <a:lstStyle/>
                    <a:p>
                      <a:r>
                        <a:rPr sz="1400" b="0">
                          <a:solidFill>
                            <a:srgbClr val="F2F3F7"/>
                          </a:solidFill>
                          <a:latin typeface="Helvetica Neue"/>
                        </a:rPr>
                        <a:t>17,777</a:t>
                      </a:r>
                    </a:p>
                  </a:txBody>
                  <a:tcPr anchor="ctr">
                    <a:solidFill>
                      <a:srgbClr val="11141C"/>
                    </a:solidFill>
                  </a:tcPr>
                </a:tc>
                <a:tc>
                  <a:txBody>
                    <a:bodyPr/>
                    <a:lstStyle/>
                    <a:p>
                      <a:r>
                        <a:rPr sz="1400" b="0">
                          <a:solidFill>
                            <a:srgbClr val="F2F3F7"/>
                          </a:solidFill>
                          <a:latin typeface="Helvetica Neue"/>
                        </a:rPr>
                        <a:t>8.5×</a:t>
                      </a:r>
                    </a:p>
                  </a:txBody>
                  <a:tcPr anchor="ctr">
                    <a:solidFill>
                      <a:srgbClr val="11141C"/>
                    </a:solidFill>
                  </a:tcPr>
                </a:tc>
                <a:tc>
                  <a:txBody>
                    <a:bodyPr/>
                    <a:lstStyle/>
                    <a:p>
                      <a:r>
                        <a:rPr sz="1400" b="0">
                          <a:solidFill>
                            <a:srgbClr val="F2F3F7"/>
                          </a:solidFill>
                          <a:latin typeface="Helvetica Neue"/>
                        </a:rPr>
                        <a:t>~254k</a:t>
                      </a:r>
                    </a:p>
                  </a:txBody>
                  <a:tcPr anchor="ctr">
                    <a:solidFill>
                      <a:srgbClr val="11141C"/>
                    </a:solidFill>
                  </a:tcPr>
                </a:tc>
              </a:tr>
              <a:tr h="329184">
                <a:tc>
                  <a:txBody>
                    <a:bodyPr/>
                    <a:lstStyle/>
                    <a:p>
                      <a:r>
                        <a:rPr sz="1400" b="0">
                          <a:solidFill>
                            <a:srgbClr val="F2F3F7"/>
                          </a:solidFill>
                          <a:latin typeface="Helvetica Neue"/>
                        </a:rPr>
                        <a:t>P4 markup/annotation split</a:t>
                      </a:r>
                    </a:p>
                  </a:txBody>
                  <a:tcPr anchor="ctr">
                    <a:solidFill>
                      <a:srgbClr val="161A24"/>
                    </a:solidFill>
                  </a:tcPr>
                </a:tc>
                <a:tc>
                  <a:txBody>
                    <a:bodyPr/>
                    <a:lstStyle/>
                    <a:p>
                      <a:r>
                        <a:rPr sz="1400" b="0">
                          <a:solidFill>
                            <a:srgbClr val="F2F3F7"/>
                          </a:solidFill>
                          <a:latin typeface="Helvetica Neue"/>
                        </a:rPr>
                        <a:t>19,678</a:t>
                      </a:r>
                    </a:p>
                  </a:txBody>
                  <a:tcPr anchor="ctr">
                    <a:solidFill>
                      <a:srgbClr val="161A24"/>
                    </a:solidFill>
                  </a:tcPr>
                </a:tc>
                <a:tc>
                  <a:txBody>
                    <a:bodyPr/>
                    <a:lstStyle/>
                    <a:p>
                      <a:r>
                        <a:rPr sz="1400" b="0">
                          <a:solidFill>
                            <a:srgbClr val="F2F3F7"/>
                          </a:solidFill>
                          <a:latin typeface="Helvetica Neue"/>
                        </a:rPr>
                        <a:t>9.4×</a:t>
                      </a:r>
                    </a:p>
                  </a:txBody>
                  <a:tcPr anchor="ctr">
                    <a:solidFill>
                      <a:srgbClr val="161A24"/>
                    </a:solidFill>
                  </a:tcPr>
                </a:tc>
                <a:tc>
                  <a:txBody>
                    <a:bodyPr/>
                    <a:lstStyle/>
                    <a:p>
                      <a:r>
                        <a:rPr sz="1400" b="0">
                          <a:solidFill>
                            <a:srgbClr val="F2F3F7"/>
                          </a:solidFill>
                          <a:latin typeface="Helvetica Neue"/>
                        </a:rPr>
                        <a:t>~281k</a:t>
                      </a:r>
                    </a:p>
                  </a:txBody>
                  <a:tcPr anchor="ctr">
                    <a:solidFill>
                      <a:srgbClr val="161A24"/>
                    </a:solidFill>
                  </a:tcPr>
                </a:tc>
              </a:tr>
              <a:tr h="329184">
                <a:tc>
                  <a:txBody>
                    <a:bodyPr/>
                    <a:lstStyle/>
                    <a:p>
                      <a:r>
                        <a:rPr sz="1400" b="0">
                          <a:solidFill>
                            <a:srgbClr val="F2F3F7"/>
                          </a:solidFill>
                          <a:latin typeface="Helvetica Neue"/>
                        </a:rPr>
                        <a:t>P2 GeoJSON-shaped</a:t>
                      </a:r>
                    </a:p>
                  </a:txBody>
                  <a:tcPr anchor="ctr">
                    <a:solidFill>
                      <a:srgbClr val="11141C"/>
                    </a:solidFill>
                  </a:tcPr>
                </a:tc>
                <a:tc>
                  <a:txBody>
                    <a:bodyPr/>
                    <a:lstStyle/>
                    <a:p>
                      <a:r>
                        <a:rPr sz="1400" b="0">
                          <a:solidFill>
                            <a:srgbClr val="F2F3F7"/>
                          </a:solidFill>
                          <a:latin typeface="Helvetica Neue"/>
                        </a:rPr>
                        <a:t>19,762</a:t>
                      </a:r>
                    </a:p>
                  </a:txBody>
                  <a:tcPr anchor="ctr">
                    <a:solidFill>
                      <a:srgbClr val="11141C"/>
                    </a:solidFill>
                  </a:tcPr>
                </a:tc>
                <a:tc>
                  <a:txBody>
                    <a:bodyPr/>
                    <a:lstStyle/>
                    <a:p>
                      <a:r>
                        <a:rPr sz="1400" b="0">
                          <a:solidFill>
                            <a:srgbClr val="F2F3F7"/>
                          </a:solidFill>
                          <a:latin typeface="Helvetica Neue"/>
                        </a:rPr>
                        <a:t>9.5×</a:t>
                      </a:r>
                    </a:p>
                  </a:txBody>
                  <a:tcPr anchor="ctr">
                    <a:solidFill>
                      <a:srgbClr val="11141C"/>
                    </a:solidFill>
                  </a:tcPr>
                </a:tc>
                <a:tc>
                  <a:txBody>
                    <a:bodyPr/>
                    <a:lstStyle/>
                    <a:p>
                      <a:r>
                        <a:rPr sz="1400" b="0">
                          <a:solidFill>
                            <a:srgbClr val="F2F3F7"/>
                          </a:solidFill>
                          <a:latin typeface="Helvetica Neue"/>
                        </a:rPr>
                        <a:t>~282k</a:t>
                      </a:r>
                    </a:p>
                  </a:txBody>
                  <a:tcPr anchor="ctr">
                    <a:solidFill>
                      <a:srgbClr val="11141C"/>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Character counts are EXACT. Token figures are derived at 3.5 chars/token, not measured: no Claude tokenizer offline. The ratios are what the decision turns on.</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1300" b="1" i="0">
                <a:solidFill>
                  <a:srgbClr val="009E73"/>
                </a:solidFill>
                <a:latin typeface="Helvetica Neue"/>
              </a:rPr>
              <a:t>THE ASYMMETRY THAT RESOLVES IT</a:t>
            </a:r>
          </a:p>
          <a:p>
            <a:pPr algn="l">
              <a:spcAft>
                <a:spcPts val="1800"/>
              </a:spcAft>
            </a:pPr>
            <a:r>
              <a:rPr sz="3000" b="1" i="0">
                <a:solidFill>
                  <a:srgbClr val="F2F3F7"/>
                </a:solidFill>
                <a:latin typeface="Helvetica Neue"/>
              </a:rPr>
              <a:t>Models READ the compact line form and WRITE the JSON form.</a:t>
            </a:r>
          </a:p>
          <a:p>
            <a:pPr algn="l">
              <a:spcAft>
                <a:spcPts val="600"/>
              </a:spcAft>
            </a:pPr>
            <a:r>
              <a:rPr sz="1500" b="0" i="0">
                <a:solidFill>
                  <a:srgbClr val="9AA0AE"/>
                </a:solidFill>
                <a:latin typeface="Helvetica Neue"/>
              </a:rPr>
              <a:t>Reading is where the volume is — fifty examples, every one costing tokens. Writing is where correctness matters — one document, schema-enforced, repairable.
Nothing else in the option space satisfies both the flat-closed-schema requirement and the token budget. And four standards bodies got here first: in four of the seven domains that ship a flat companion to a rich canonical form, the flat companion is what actually gets written.</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The whole annotation, in the line form</a:t>
            </a:r>
          </a:p>
          <a:p>
            <a:pPr algn="l">
              <a:spcAft>
                <a:spcPts val="600"/>
              </a:spcAft>
            </a:pPr>
            <a:r>
              <a:rPr sz="1300" b="0" i="0">
                <a:solidFill>
                  <a:srgbClr val="9AA0AE"/>
                </a:solidFill>
                <a:latin typeface="Helvetica Neue"/>
              </a:rPr>
              <a:t>2.1 kB against 14.4 kB for the JSON — and readable</a:t>
            </a:r>
          </a:p>
        </p:txBody>
      </p:sp>
      <p:sp>
        <p:nvSpPr>
          <p:cNvPr id="3" name="Rounded Rectangle 2"/>
          <p:cNvSpPr/>
          <p:nvPr/>
        </p:nvSpPr>
        <p:spPr>
          <a:xfrm>
            <a:off x="548640" y="1417320"/>
            <a:ext cx="11094415" cy="4069080"/>
          </a:xfrm>
          <a:prstGeom prst="roundRect">
            <a:avLst/>
          </a:prstGeom>
          <a:solidFill>
            <a:srgbClr val="161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45920"/>
            <a:ext cx="10545775" cy="3611880"/>
          </a:xfrm>
          <a:prstGeom prst="rect">
            <a:avLst/>
          </a:prstGeom>
          <a:noFill/>
        </p:spPr>
        <p:txBody>
          <a:bodyPr wrap="square" anchor="t" lIns="0" rIns="0" tIns="0" bIns="0">
            <a:spAutoFit/>
          </a:bodyPr>
          <a:lstStyle/>
          <a:p>
            <a:pPr algn="l">
              <a:spcAft>
                <a:spcPts val="300"/>
              </a:spcAft>
            </a:pPr>
            <a:r>
              <a:rPr sz="1200" b="0" i="0">
                <a:solidFill>
                  <a:srgbClr val="F2F3F7"/>
                </a:solidFill>
                <a:latin typeface="Menlo"/>
              </a:rPr>
              <a:t>#astromark lens/1.0  frame=norm,tl,+x-right,+y-down  size=arcsec</a:t>
            </a:r>
          </a:p>
          <a:p>
            <a:pPr algn="l">
              <a:spcAft>
                <a:spcPts val="300"/>
              </a:spcAft>
            </a:pPr>
            <a:r>
              <a:rPr sz="1200" b="0" i="0">
                <a:solidFill>
                  <a:srgbClr val="F2F3F7"/>
                </a:solidFill>
                <a:latin typeface="Menlo"/>
              </a:rPr>
              <a:t>#system likely_lens grade=A p=0.92 cimg=found n=2 hard=dust_lane,second_deflector</a:t>
            </a:r>
          </a:p>
          <a:p>
            <a:pPr algn="l">
              <a:spcAft>
                <a:spcPts val="300"/>
              </a:spcAft>
            </a:pPr>
            <a:r>
              <a:rPr sz="1200" b="0" i="0">
                <a:solidFill>
                  <a:srgbClr val="F2F3F7"/>
                </a:solidFill>
                <a:latin typeface="Menlo"/>
              </a:rPr>
              <a:t>#source S1 images=2 config=double thE=1.45"</a:t>
            </a:r>
          </a:p>
          <a:p>
            <a:pPr algn="l">
              <a:spcAft>
                <a:spcPts val="300"/>
              </a:spcAft>
            </a:pPr>
            <a:r>
              <a:rPr sz="1200" b="0" i="0">
                <a:solidFill>
                  <a:srgbClr val="F2F3F7"/>
                </a:solidFill>
                <a:latin typeface="Menlo"/>
              </a:rPr>
              <a:t>defl     + 0.500,0.350 -&gt; 0.500,0.510</a:t>
            </a:r>
          </a:p>
          <a:p>
            <a:pPr algn="l">
              <a:spcAft>
                <a:spcPts val="300"/>
              </a:spcAft>
            </a:pPr>
            <a:r>
              <a:rPr sz="1200" b="0" i="0">
                <a:solidFill>
                  <a:srgbClr val="F2F3F7"/>
                </a:solidFill>
                <a:latin typeface="Menlo"/>
              </a:rPr>
              <a:t>dust     + 0.624,0.349 -&gt; 0.530,0.526</a:t>
            </a:r>
          </a:p>
          <a:p>
            <a:pPr algn="l">
              <a:spcAft>
                <a:spcPts val="300"/>
              </a:spcAft>
            </a:pPr>
            <a:r>
              <a:rPr sz="1200" b="0" i="0">
                <a:solidFill>
                  <a:srgbClr val="F2F3F7"/>
                </a:solidFill>
                <a:latin typeface="Menlo"/>
              </a:rPr>
              <a:t>defl2    + 0.235,0.657 -&gt; 0.353,0.591</a:t>
            </a:r>
          </a:p>
          <a:p>
            <a:pPr algn="l">
              <a:spcAft>
                <a:spcPts val="300"/>
              </a:spcAft>
            </a:pPr>
            <a:r>
              <a:rPr sz="1200" b="0" i="0">
                <a:solidFill>
                  <a:srgbClr val="F2F3F7"/>
                </a:solidFill>
                <a:latin typeface="Menlo"/>
              </a:rPr>
              <a:t>sat      + 0.244,0.460 -&gt; 0.376,0.486</a:t>
            </a:r>
          </a:p>
          <a:p>
            <a:pPr algn="l">
              <a:spcAft>
                <a:spcPts val="300"/>
              </a:spcAft>
            </a:pPr>
            <a:r>
              <a:rPr sz="1200" b="0" i="0">
                <a:solidFill>
                  <a:srgbClr val="F2F3F7"/>
                </a:solidFill>
                <a:latin typeface="Menlo"/>
              </a:rPr>
              <a:t>arc      + 0.394,0.709 -&gt; 0.458,0.590  S1  ; rev=wrong_position 0.31"</a:t>
            </a:r>
          </a:p>
          <a:p>
            <a:pPr algn="l">
              <a:spcAft>
                <a:spcPts val="300"/>
              </a:spcAft>
            </a:pPr>
            <a:r>
              <a:rPr sz="1200" b="0" i="0">
                <a:solidFill>
                  <a:srgbClr val="F2F3F7"/>
                </a:solidFill>
                <a:latin typeface="Menlo"/>
              </a:rPr>
              <a:t>cimg     + 0.614,0.296 -&gt; 0.550,0.415  S1  emph=key</a:t>
            </a:r>
          </a:p>
          <a:p>
            <a:pPr algn="l">
              <a:spcAft>
                <a:spcPts val="300"/>
              </a:spcAft>
            </a:pPr>
            <a:r>
              <a:rPr sz="1200" b="0" i="0">
                <a:solidFill>
                  <a:srgbClr val="009E73"/>
                </a:solidFill>
                <a:latin typeface="Menlo"/>
              </a:rPr>
              <a:t>arc      - 0.851,0.358 -&gt; 0.739,0.282  alt=spiral_arm</a:t>
            </a:r>
          </a:p>
          <a:p>
            <a:pPr algn="l">
              <a:spcAft>
                <a:spcPts val="300"/>
              </a:spcAft>
            </a:pPr>
            <a:r>
              <a:rPr sz="1200" b="0" i="0">
                <a:solidFill>
                  <a:srgbClr val="F2F3F7"/>
                </a:solidFill>
                <a:latin typeface="Menlo"/>
              </a:rPr>
              <a:t>ring     + @m-defl r=1.45"  S1  [1.15,1.8] method=arc_midline</a:t>
            </a:r>
          </a:p>
          <a:p>
            <a:pPr algn="l">
              <a:spcAft>
                <a:spcPts val="300"/>
              </a:spcAft>
            </a:pPr>
            <a:r>
              <a:rPr sz="1200" b="0" i="0">
                <a:solidFill>
                  <a:srgbClr val="F2F3F7"/>
                </a:solidFill>
                <a:latin typeface="Menlo"/>
              </a:rPr>
              <a:t>gal      + 0.181,0.241 r=1.1"  treat=mask</a:t>
            </a:r>
          </a:p>
        </p:txBody>
      </p:sp>
      <p:sp>
        <p:nvSpPr>
          <p:cNvPr id="5" name="TextBox 4"/>
          <p:cNvSpPr txBox="1"/>
          <p:nvPr/>
        </p:nvSpPr>
        <p:spPr>
          <a:xfrm>
            <a:off x="548640" y="5715000"/>
            <a:ext cx="11094415" cy="685800"/>
          </a:xfrm>
          <a:prstGeom prst="rect">
            <a:avLst/>
          </a:prstGeom>
          <a:noFill/>
        </p:spPr>
        <p:txBody>
          <a:bodyPr wrap="square" anchor="t" lIns="0" rIns="0" tIns="0" bIns="0">
            <a:spAutoFit/>
          </a:bodyPr>
          <a:lstStyle/>
          <a:p>
            <a:pPr algn="l">
              <a:spcAft>
                <a:spcPts val="600"/>
              </a:spcAft>
            </a:pPr>
            <a:r>
              <a:rPr sz="1400" b="0" i="0">
                <a:solidFill>
                  <a:srgbClr val="9AA0AE"/>
                </a:solidFill>
                <a:latin typeface="Helvetica Neue"/>
              </a:rPr>
              <a:t>Read the highlighted line: “there is an arc-shaped feature here, it argues AGAINST lensing, and the reason is that it is a spiral arm.” The current format cannot say that at all, in any number of characters.</a:t>
            </a:r>
          </a:p>
        </p:txBody>
      </p:sp>
      <p:sp>
        <p:nvSpPr>
          <p:cNvPr id="6" name="TextBox 5"/>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7" name="TextBox 6"/>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Four gates — fail one and the candidate is out</a:t>
            </a:r>
          </a:p>
          <a:p>
            <a:pPr algn="l">
              <a:spcAft>
                <a:spcPts val="600"/>
              </a:spcAft>
            </a:pPr>
            <a:r>
              <a:rPr sz="1300" b="0" i="0">
                <a:solidFill>
                  <a:srgbClr val="9AA0AE"/>
                </a:solidFill>
                <a:latin typeface="Helvetica Neue"/>
              </a:rPr>
              <a:t>Predicted casualties, recorded before the gates are run: P3 on G1, P2 on G2</a:t>
            </a:r>
          </a:p>
        </p:txBody>
      </p:sp>
      <p:graphicFrame>
        <p:nvGraphicFramePr>
          <p:cNvPr id="3" name="Table 2"/>
          <p:cNvGraphicFramePr>
            <a:graphicFrameLocks noGrp="1"/>
          </p:cNvGraphicFramePr>
          <p:nvPr/>
        </p:nvGraphicFramePr>
        <p:xfrm>
          <a:off x="548640" y="1417320"/>
          <a:ext cx="11094414" cy="1645920"/>
        </p:xfrm>
        <a:graphic>
          <a:graphicData uri="http://schemas.openxmlformats.org/drawingml/2006/table">
            <a:tbl>
              <a:tblPr firstRow="1" bandRow="1">
                <a:tableStyleId>{5C22544A-7EE6-4342-B048-85BDC9FD1C3A}</a:tableStyleId>
              </a:tblPr>
              <a:tblGrid>
                <a:gridCol w="776609"/>
                <a:gridCol w="3661156"/>
                <a:gridCol w="6656649"/>
              </a:tblGrid>
              <a:tr h="329184">
                <a:tc>
                  <a:txBody>
                    <a:bodyPr/>
                    <a:lstStyle/>
                    <a:p>
                      <a:r>
                        <a:rPr sz="1300" b="1">
                          <a:solidFill>
                            <a:srgbClr val="56B4E9"/>
                          </a:solidFill>
                          <a:latin typeface="Helvetica Neue"/>
                        </a:rPr>
                        <a:t/>
                      </a:r>
                    </a:p>
                  </a:txBody>
                  <a:tcPr anchor="ctr">
                    <a:solidFill>
                      <a:srgbClr val="1A1E28"/>
                    </a:solidFill>
                  </a:tcPr>
                </a:tc>
                <a:tc>
                  <a:txBody>
                    <a:bodyPr/>
                    <a:lstStyle/>
                    <a:p>
                      <a:r>
                        <a:rPr sz="1300" b="1">
                          <a:solidFill>
                            <a:srgbClr val="56B4E9"/>
                          </a:solidFill>
                          <a:latin typeface="Helvetica Neue"/>
                        </a:rPr>
                        <a:t>Gate</a:t>
                      </a:r>
                    </a:p>
                  </a:txBody>
                  <a:tcPr anchor="ctr">
                    <a:solidFill>
                      <a:srgbClr val="1A1E28"/>
                    </a:solidFill>
                  </a:tcPr>
                </a:tc>
                <a:tc>
                  <a:txBody>
                    <a:bodyPr/>
                    <a:lstStyle/>
                    <a:p>
                      <a:r>
                        <a:rPr sz="1300" b="1">
                          <a:solidFill>
                            <a:srgbClr val="56B4E9"/>
                          </a:solidFill>
                          <a:latin typeface="Helvetica Neue"/>
                        </a:rPr>
                        <a:t>Test</a:t>
                      </a:r>
                    </a:p>
                  </a:txBody>
                  <a:tcPr anchor="ctr">
                    <a:solidFill>
                      <a:srgbClr val="1A1E28"/>
                    </a:solidFill>
                  </a:tcPr>
                </a:tc>
              </a:tr>
              <a:tr h="329184">
                <a:tc>
                  <a:txBody>
                    <a:bodyPr/>
                    <a:lstStyle/>
                    <a:p>
                      <a:r>
                        <a:rPr sz="1300" b="0">
                          <a:solidFill>
                            <a:srgbClr val="F2F3F7"/>
                          </a:solidFill>
                          <a:latin typeface="Helvetica Neue"/>
                        </a:rPr>
                        <a:t>G1</a:t>
                      </a:r>
                    </a:p>
                  </a:txBody>
                  <a:tcPr anchor="ctr">
                    <a:solidFill>
                      <a:srgbClr val="161A24"/>
                    </a:solidFill>
                  </a:tcPr>
                </a:tc>
                <a:tc>
                  <a:txBody>
                    <a:bodyPr/>
                    <a:lstStyle/>
                    <a:p>
                      <a:r>
                        <a:rPr sz="1300" b="0">
                          <a:solidFill>
                            <a:srgbClr val="F2F3F7"/>
                          </a:solidFill>
                          <a:latin typeface="Helvetica Neue"/>
                        </a:rPr>
                        <a:t>flat, closed structured-output schema</a:t>
                      </a:r>
                    </a:p>
                  </a:txBody>
                  <a:tcPr anchor="ctr">
                    <a:solidFill>
                      <a:srgbClr val="161A24"/>
                    </a:solidFill>
                  </a:tcPr>
                </a:tc>
                <a:tc>
                  <a:txBody>
                    <a:bodyPr/>
                    <a:lstStyle/>
                    <a:p>
                      <a:r>
                        <a:rPr sz="1300" b="0">
                          <a:solidFill>
                            <a:srgbClr val="F2F3F7"/>
                          </a:solidFill>
                          <a:latin typeface="Helvetica Neue"/>
                        </a:rPr>
                        <a:t>0 </a:t>
                      </a:r>
                      <a:r>
                        <a:rPr sz="1300" b="0">
                          <a:solidFill>
                            <a:srgbClr val="56B4E9"/>
                          </a:solidFill>
                          <a:latin typeface="Menlo"/>
                        </a:rPr>
                        <a:t>$ref</a:t>
                      </a:r>
                      <a:r>
                        <a:rPr sz="1300" b="0">
                          <a:solidFill>
                            <a:srgbClr val="F2F3F7"/>
                          </a:solidFill>
                          <a:latin typeface="Helvetica Neue"/>
                        </a:rPr>
                        <a:t>, </a:t>
                      </a:r>
                      <a:r>
                        <a:rPr sz="1300" b="0">
                          <a:solidFill>
                            <a:srgbClr val="56B4E9"/>
                          </a:solidFill>
                          <a:latin typeface="Menlo"/>
                        </a:rPr>
                        <a:t>additionalProperties:false</a:t>
                      </a:r>
                      <a:r>
                        <a:rPr sz="1300" b="0">
                          <a:solidFill>
                            <a:srgbClr val="F2F3F7"/>
                          </a:solidFill>
                          <a:latin typeface="Helvetica Neue"/>
                        </a:rPr>
                        <a:t> everywhere, honoured by a live call</a:t>
                      </a:r>
                    </a:p>
                  </a:txBody>
                  <a:tcPr anchor="ctr">
                    <a:solidFill>
                      <a:srgbClr val="161A24"/>
                    </a:solidFill>
                  </a:tcPr>
                </a:tc>
              </a:tr>
              <a:tr h="329184">
                <a:tc>
                  <a:txBody>
                    <a:bodyPr/>
                    <a:lstStyle/>
                    <a:p>
                      <a:r>
                        <a:rPr sz="1300" b="0">
                          <a:solidFill>
                            <a:srgbClr val="F2F3F7"/>
                          </a:solidFill>
                          <a:latin typeface="Helvetica Neue"/>
                        </a:rPr>
                        <a:t>G2</a:t>
                      </a:r>
                    </a:p>
                  </a:txBody>
                  <a:tcPr anchor="ctr">
                    <a:solidFill>
                      <a:srgbClr val="11141C"/>
                    </a:solidFill>
                  </a:tcPr>
                </a:tc>
                <a:tc>
                  <a:txBody>
                    <a:bodyPr/>
                    <a:lstStyle/>
                    <a:p>
                      <a:r>
                        <a:rPr sz="1300" b="0">
                          <a:solidFill>
                            <a:srgbClr val="F2F3F7"/>
                          </a:solidFill>
                          <a:latin typeface="Helvetica Neue"/>
                        </a:rPr>
                        <a:t>round-trip fidelity</a:t>
                      </a:r>
                    </a:p>
                  </a:txBody>
                  <a:tcPr anchor="ctr">
                    <a:solidFill>
                      <a:srgbClr val="11141C"/>
                    </a:solidFill>
                  </a:tcPr>
                </a:tc>
                <a:tc>
                  <a:txBody>
                    <a:bodyPr/>
                    <a:lstStyle/>
                    <a:p>
                      <a:r>
                        <a:rPr sz="1300" b="0">
                          <a:solidFill>
                            <a:srgbClr val="F2F3F7"/>
                          </a:solidFill>
                          <a:latin typeface="Helvetica Neue"/>
                        </a:rPr>
                        <a:t>convert 19 real decks out and back; must re-render byte-identical to the golden hashes</a:t>
                      </a:r>
                    </a:p>
                  </a:txBody>
                  <a:tcPr anchor="ctr">
                    <a:solidFill>
                      <a:srgbClr val="11141C"/>
                    </a:solidFill>
                  </a:tcPr>
                </a:tc>
              </a:tr>
              <a:tr h="329184">
                <a:tc>
                  <a:txBody>
                    <a:bodyPr/>
                    <a:lstStyle/>
                    <a:p>
                      <a:r>
                        <a:rPr sz="1300" b="0">
                          <a:solidFill>
                            <a:srgbClr val="F2F3F7"/>
                          </a:solidFill>
                          <a:latin typeface="Helvetica Neue"/>
                        </a:rPr>
                        <a:t>G3</a:t>
                      </a:r>
                    </a:p>
                  </a:txBody>
                  <a:tcPr anchor="ctr">
                    <a:solidFill>
                      <a:srgbClr val="161A24"/>
                    </a:solidFill>
                  </a:tcPr>
                </a:tc>
                <a:tc>
                  <a:txBody>
                    <a:bodyPr/>
                    <a:lstStyle/>
                    <a:p>
                      <a:r>
                        <a:rPr sz="1300" b="0">
                          <a:solidFill>
                            <a:srgbClr val="F2F3F7"/>
                          </a:solidFill>
                          <a:latin typeface="Helvetica Neue"/>
                        </a:rPr>
                        <a:t>embargo separability</a:t>
                      </a:r>
                    </a:p>
                  </a:txBody>
                  <a:tcPr anchor="ctr">
                    <a:solidFill>
                      <a:srgbClr val="161A24"/>
                    </a:solidFill>
                  </a:tcPr>
                </a:tc>
                <a:tc>
                  <a:txBody>
                    <a:bodyPr/>
                    <a:lstStyle/>
                    <a:p>
                      <a:r>
                        <a:rPr sz="1300" b="0">
                          <a:solidFill>
                            <a:srgbClr val="56B4E9"/>
                          </a:solidFill>
                          <a:latin typeface="Menlo"/>
                        </a:rPr>
                        <a:t>strip_free_text</a:t>
                      </a:r>
                      <a:r>
                        <a:rPr sz="1300" b="0">
                          <a:solidFill>
                            <a:srgbClr val="F2F3F7"/>
                          </a:solidFill>
                          <a:latin typeface="Helvetica Neue"/>
                        </a:rPr>
                        <a:t> provable by a </a:t>
                      </a:r>
                      <a:r>
                        <a:rPr sz="1300" b="1">
                          <a:solidFill>
                            <a:srgbClr val="F2F3F7"/>
                          </a:solidFill>
                          <a:latin typeface="Helvetica Neue"/>
                        </a:rPr>
                        <a:t>closed key allow-list</a:t>
                      </a:r>
                      <a:r>
                        <a:rPr sz="1300" b="0">
                          <a:solidFill>
                            <a:srgbClr val="F2F3F7"/>
                          </a:solidFill>
                          <a:latin typeface="Helvetica Neue"/>
                        </a:rPr>
                        <a:t>, not a type-sniffing walk</a:t>
                      </a:r>
                    </a:p>
                  </a:txBody>
                  <a:tcPr anchor="ctr">
                    <a:solidFill>
                      <a:srgbClr val="161A24"/>
                    </a:solidFill>
                  </a:tcPr>
                </a:tc>
              </a:tr>
              <a:tr h="329184">
                <a:tc>
                  <a:txBody>
                    <a:bodyPr/>
                    <a:lstStyle/>
                    <a:p>
                      <a:r>
                        <a:rPr sz="1300" b="0">
                          <a:solidFill>
                            <a:srgbClr val="F2F3F7"/>
                          </a:solidFill>
                          <a:latin typeface="Helvetica Neue"/>
                        </a:rPr>
                        <a:t>G4</a:t>
                      </a:r>
                    </a:p>
                  </a:txBody>
                  <a:tcPr anchor="ctr">
                    <a:solidFill>
                      <a:srgbClr val="11141C"/>
                    </a:solidFill>
                  </a:tcPr>
                </a:tc>
                <a:tc>
                  <a:txBody>
                    <a:bodyPr/>
                    <a:lstStyle/>
                    <a:p>
                      <a:r>
                        <a:rPr sz="1300" b="0">
                          <a:solidFill>
                            <a:srgbClr val="F2F3F7"/>
                          </a:solidFill>
                          <a:latin typeface="Helvetica Neue"/>
                        </a:rPr>
                        <a:t>expressiveness</a:t>
                      </a:r>
                    </a:p>
                  </a:txBody>
                  <a:tcPr anchor="ctr">
                    <a:solidFill>
                      <a:srgbClr val="11141C"/>
                    </a:solidFill>
                  </a:tcPr>
                </a:tc>
                <a:tc>
                  <a:txBody>
                    <a:bodyPr/>
                    <a:lstStyle/>
                    <a:p>
                      <a:r>
                        <a:rPr sz="1300" b="0">
                          <a:solidFill>
                            <a:srgbClr val="F2F3F7"/>
                          </a:solidFill>
                          <a:latin typeface="Helvetica Neue"/>
                        </a:rPr>
                        <a:t>all 22 fixture statements expressible; the 16 P0 statements first-class</a:t>
                      </a:r>
                    </a:p>
                  </a:txBody>
                  <a:tcPr anchor="ctr">
                    <a:solidFill>
                      <a:srgbClr val="11141C"/>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No weighted sum. Report the matrix and decide by dominance; where nothing dominates, name the trade in a sentence and take it to the room as a decision.</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468880"/>
            <a:ext cx="1005840" cy="381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97480"/>
            <a:ext cx="9997135" cy="2194560"/>
          </a:xfrm>
          <a:prstGeom prst="rect">
            <a:avLst/>
          </a:prstGeom>
          <a:noFill/>
        </p:spPr>
        <p:txBody>
          <a:bodyPr wrap="square" anchor="t" lIns="0" rIns="0" tIns="0" bIns="0">
            <a:spAutoFit/>
          </a:bodyPr>
          <a:lstStyle/>
          <a:p>
            <a:pPr algn="l">
              <a:spcAft>
                <a:spcPts val="1200"/>
              </a:spcAft>
            </a:pPr>
            <a:r>
              <a:rPr sz="1300" b="1" i="0">
                <a:solidFill>
                  <a:srgbClr val="E69F00"/>
                </a:solidFill>
                <a:latin typeface="Helvetica Neue"/>
              </a:rPr>
              <a:t>PART SIX</a:t>
            </a:r>
          </a:p>
          <a:p>
            <a:pPr algn="l">
              <a:spcAft>
                <a:spcPts val="1200"/>
              </a:spcAft>
            </a:pPr>
            <a:r>
              <a:rPr sz="3400" b="1" i="0">
                <a:solidFill>
                  <a:srgbClr val="F2F3F7"/>
                </a:solidFill>
                <a:latin typeface="Helvetica Neue"/>
              </a:rPr>
              <a:t>Worked examples on real JWST data</a:t>
            </a:r>
          </a:p>
          <a:p>
            <a:pPr algn="l">
              <a:spcAft>
                <a:spcPts val="600"/>
              </a:spcAft>
            </a:pPr>
            <a:r>
              <a:rPr sz="1500" b="0" i="0">
                <a:solidFill>
                  <a:srgbClr val="9AA0AE"/>
                </a:solidFill>
                <a:latin typeface="Helvetica Neue"/>
              </a:rPr>
              <a:t>Three candidates from the public NIRCam archive search — chosen because each one strains a different part of the format</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Why these three, and what makes them honest</a:t>
            </a:r>
          </a:p>
          <a:p>
            <a:pPr algn="l">
              <a:spcAft>
                <a:spcPts val="600"/>
              </a:spcAft>
            </a:pPr>
            <a:r>
              <a:rPr sz="1300" b="0" i="0">
                <a:solidFill>
                  <a:srgbClr val="9AA0AE"/>
                </a:solidFill>
                <a:latin typeface="Helvetica Neue"/>
              </a:rPr>
              <a:t>jwst-strong-lens-search/top100_clean/ — 100 cutouts, a 41-column table</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The source is the one-shot search of the </a:t>
            </a:r>
            <a:r>
              <a:rPr sz="1500" b="1" i="0">
                <a:solidFill>
                  <a:srgbClr val="F2F3F7"/>
                </a:solidFill>
                <a:latin typeface="Helvetica Neue"/>
              </a:rPr>
              <a:t>public JWST NIRCam archive</a:t>
            </a:r>
            <a:r>
              <a:rPr sz="1500" b="0" i="0">
                <a:solidFill>
                  <a:srgbClr val="F2F3F7"/>
                </a:solidFill>
                <a:latin typeface="Helvetica Neue"/>
              </a:rPr>
              <a:t>: 4.48 deg², 5,391 targets, ten candidates surviving adversarial verification. No embargo.</a:t>
            </a:r>
          </a:p>
          <a:p>
            <a:pPr algn="l">
              <a:spcAft>
                <a:spcPts val="900"/>
              </a:spcAft>
            </a:pPr>
            <a:r>
              <a:rPr sz="1500" b="0" i="0">
                <a:solidFill>
                  <a:srgbClr val="56B4E9"/>
                </a:solidFill>
                <a:latin typeface="Helvetica Neue"/>
              </a:rPr>
              <a:t>– </a:t>
            </a:r>
            <a:r>
              <a:rPr sz="1500" b="1" i="0">
                <a:solidFill>
                  <a:srgbClr val="56B4E9"/>
                </a:solidFill>
                <a:latin typeface="Helvetica Neue"/>
              </a:rPr>
              <a:t>Every mark is derived from a recorded measurement</a:t>
            </a:r>
            <a:r>
              <a:rPr sz="1500" b="0" i="0">
                <a:solidFill>
                  <a:srgbClr val="56B4E9"/>
                </a:solidFill>
                <a:latin typeface="Helvetica Neue"/>
              </a:rPr>
              <a:t>, not placed by eye. Arc positions come from </a:t>
            </a:r>
            <a:r>
              <a:rPr sz="1500" b="0" i="0">
                <a:solidFill>
                  <a:srgbClr val="56B4E9"/>
                </a:solidFill>
                <a:latin typeface="Menlo"/>
              </a:rPr>
              <a:t>blind_arc_radius_arcsec</a:t>
            </a:r>
            <a:r>
              <a:rPr sz="1500" b="0" i="0">
                <a:solidFill>
                  <a:srgbClr val="56B4E9"/>
                </a:solidFill>
                <a:latin typeface="Helvetica Neue"/>
              </a:rPr>
              <a:t> and </a:t>
            </a:r>
            <a:r>
              <a:rPr sz="1500" b="0" i="0">
                <a:solidFill>
                  <a:srgbClr val="56B4E9"/>
                </a:solidFill>
                <a:latin typeface="Menlo"/>
              </a:rPr>
              <a:t>blind_arc_pa_deg</a:t>
            </a:r>
            <a:r>
              <a:rPr sz="1500" b="0" i="0">
                <a:solidFill>
                  <a:srgbClr val="56B4E9"/>
                </a:solidFill>
                <a:latin typeface="Helvetica Neue"/>
              </a:rPr>
              <a:t>; the ring from </a:t>
            </a:r>
            <a:r>
              <a:rPr sz="1500" b="0" i="0">
                <a:solidFill>
                  <a:srgbClr val="56B4E9"/>
                </a:solidFill>
                <a:latin typeface="Menlo"/>
              </a:rPr>
              <a:t>blind_theta_E_arcsec</a:t>
            </a:r>
            <a:r>
              <a:rPr sz="1500" b="0" i="0">
                <a:solidFill>
                  <a:srgbClr val="56B4E9"/>
                </a:solidFill>
                <a:latin typeface="Helvetica Neue"/>
              </a:rPr>
              <a:t> and its stated method; counter-images from coordinates written into the verifier's own note.</a:t>
            </a:r>
          </a:p>
          <a:p>
            <a:pPr algn="l">
              <a:spcAft>
                <a:spcPts val="900"/>
              </a:spcAft>
            </a:pPr>
            <a:r>
              <a:rPr sz="1500" b="0" i="0">
                <a:solidFill>
                  <a:srgbClr val="F2F3F7"/>
                </a:solidFill>
                <a:latin typeface="Helvetica Neue"/>
              </a:rPr>
              <a:t>– </a:t>
            </a:r>
            <a:r>
              <a:rPr sz="1500" b="1" i="0">
                <a:solidFill>
                  <a:srgbClr val="F2F3F7"/>
                </a:solidFill>
                <a:latin typeface="Helvetica Neue"/>
              </a:rPr>
              <a:t>rank 1 · J3440482-522486</a:t>
            </a:r>
            <a:r>
              <a:rPr sz="1500" b="0" i="0">
                <a:solidFill>
                  <a:srgbClr val="F2F3F7"/>
                </a:solidFill>
                <a:latin typeface="Helvetica Neue"/>
              </a:rPr>
              <a:t> — a published lens, SL2S J02176-0513. Arc AND counter-image, θ_E by half-separation. The clean positive case.</a:t>
            </a:r>
          </a:p>
          <a:p>
            <a:pPr algn="l">
              <a:spcAft>
                <a:spcPts val="900"/>
              </a:spcAft>
            </a:pPr>
            <a:r>
              <a:rPr sz="1500" b="0" i="0">
                <a:solidFill>
                  <a:srgbClr val="F2F3F7"/>
                </a:solidFill>
                <a:latin typeface="Helvetica Neue"/>
              </a:rPr>
              <a:t>– </a:t>
            </a:r>
            <a:r>
              <a:rPr sz="1500" b="1" i="0">
                <a:solidFill>
                  <a:srgbClr val="F2F3F7"/>
                </a:solidFill>
                <a:latin typeface="Helvetica Neue"/>
              </a:rPr>
              <a:t>rank 2 · J15199556+2122210</a:t>
            </a:r>
            <a:r>
              <a:rPr sz="1500" b="0" i="0">
                <a:solidFill>
                  <a:srgbClr val="F2F3F7"/>
                </a:solidFill>
                <a:latin typeface="Helvetica Neue"/>
              </a:rPr>
              <a:t> — a single tangential arc with NO counter-image found after searching. Exercises </a:t>
            </a:r>
            <a:r>
              <a:rPr sz="1500" b="0" i="0">
                <a:solidFill>
                  <a:srgbClr val="56B4E9"/>
                </a:solidFill>
                <a:latin typeface="Menlo"/>
              </a:rPr>
              <a:t>not_found</a:t>
            </a:r>
            <a:r>
              <a:rPr sz="1500" b="0" i="0">
                <a:solidFill>
                  <a:srgbClr val="F2F3F7"/>
                </a:solidFill>
                <a:latin typeface="Helvetica Neue"/>
              </a:rPr>
              <a:t> as distinct from </a:t>
            </a:r>
            <a:r>
              <a:rPr sz="1500" b="0" i="0">
                <a:solidFill>
                  <a:srgbClr val="56B4E9"/>
                </a:solidFill>
                <a:latin typeface="Menlo"/>
              </a:rPr>
              <a:t>not_searched</a:t>
            </a:r>
            <a:r>
              <a:rPr sz="1500" b="0" i="0">
                <a:solidFill>
                  <a:srgbClr val="F2F3F7"/>
                </a:solidFill>
                <a:latin typeface="Helvetica Neue"/>
              </a:rPr>
              <a:t>, and the single-giant-arc exception.</a:t>
            </a:r>
          </a:p>
          <a:p>
            <a:pPr algn="l">
              <a:spcAft>
                <a:spcPts val="900"/>
              </a:spcAft>
            </a:pPr>
            <a:r>
              <a:rPr sz="1500" b="0" i="0">
                <a:solidFill>
                  <a:srgbClr val="F2F3F7"/>
                </a:solidFill>
                <a:latin typeface="Helvetica Neue"/>
              </a:rPr>
              <a:t>– </a:t>
            </a:r>
            <a:r>
              <a:rPr sz="1500" b="1" i="0">
                <a:solidFill>
                  <a:srgbClr val="F2F3F7"/>
                </a:solidFill>
                <a:latin typeface="Helvetica Neue"/>
              </a:rPr>
              <a:t>rank 3 · J34707505-219476</a:t>
            </a:r>
            <a:r>
              <a:rPr sz="1500" b="0" i="0">
                <a:solidFill>
                  <a:srgbClr val="F2F3F7"/>
                </a:solidFill>
                <a:latin typeface="Helvetica Neue"/>
              </a:rPr>
              <a:t> — a knot chain plus a blue blob antipodal to it whose radius EXCEEDS the arc radius. The verifier explicitly declined half-separation for that reason.</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rank 1 — a published lens</a:t>
            </a:r>
          </a:p>
          <a:p>
            <a:pPr algn="l">
              <a:spcAft>
                <a:spcPts val="600"/>
              </a:spcAft>
            </a:pPr>
            <a:r>
              <a:rPr sz="1300" b="0" i="0">
                <a:solidFill>
                  <a:srgbClr val="9AA0AE"/>
                </a:solidFill>
                <a:latin typeface="Helvetica Neue"/>
              </a:rPr>
              <a:t>SL2S J02176-0513 · grade A, 3 of 3 verifiers · θ_E 1.15″ by half-separation</a:t>
            </a:r>
          </a:p>
        </p:txBody>
      </p:sp>
      <p:pic>
        <p:nvPicPr>
          <p:cNvPr id="3" name="Picture 2" descr="J3440482-522486-n1.png"/>
          <p:cNvPicPr>
            <a:picLocks noChangeAspect="1"/>
          </p:cNvPicPr>
          <p:nvPr/>
        </p:nvPicPr>
        <p:blipFill>
          <a:blip r:embed="rId2"/>
          <a:stretch>
            <a:fillRect/>
          </a:stretch>
        </p:blipFill>
        <p:spPr>
          <a:xfrm>
            <a:off x="1689495" y="1417320"/>
            <a:ext cx="3874944" cy="4754880"/>
          </a:xfrm>
          <a:prstGeom prst="rect">
            <a:avLst/>
          </a:prstGeom>
        </p:spPr>
      </p:pic>
      <p:sp>
        <p:nvSpPr>
          <p:cNvPr id="4" name="TextBox 3"/>
          <p:cNvSpPr txBox="1"/>
          <p:nvPr/>
        </p:nvSpPr>
        <p:spPr>
          <a:xfrm>
            <a:off x="6021639" y="1417320"/>
            <a:ext cx="4480560" cy="4754880"/>
          </a:xfrm>
          <a:prstGeom prst="rect">
            <a:avLst/>
          </a:prstGeom>
          <a:noFill/>
        </p:spPr>
        <p:txBody>
          <a:bodyPr wrap="square" anchor="t" lIns="0" rIns="0" tIns="0" bIns="0">
            <a:spAutoFit/>
          </a:bodyPr>
          <a:lstStyle/>
          <a:p>
            <a:pPr algn="l">
              <a:spcAft>
                <a:spcPts val="1000"/>
              </a:spcAft>
            </a:pPr>
            <a:r>
              <a:rPr sz="1300" b="0" i="0">
                <a:solidFill>
                  <a:srgbClr val="F2F3F7"/>
                </a:solidFill>
                <a:latin typeface="Helvetica Neue"/>
              </a:rPr>
              <a:t>The clean case: a blue tangential crescent east of a red elliptical, concave toward it, with a compact blue counter-image nearly opposite.</a:t>
            </a:r>
          </a:p>
          <a:p>
            <a:pPr algn="l">
              <a:spcAft>
                <a:spcPts val="1000"/>
              </a:spcAft>
            </a:pPr>
            <a:r>
              <a:rPr sz="1300" b="0" i="0">
                <a:solidFill>
                  <a:srgbClr val="56B4E9"/>
                </a:solidFill>
                <a:latin typeface="Helvetica Neue"/>
              </a:rPr>
              <a:t>The counter-image carries </a:t>
            </a:r>
            <a:r>
              <a:rPr sz="1300" b="0" i="0">
                <a:solidFill>
                  <a:srgbClr val="56B4E9"/>
                </a:solidFill>
                <a:latin typeface="Menlo"/>
              </a:rPr>
              <a:t>emphasis: key</a:t>
            </a:r>
            <a:r>
              <a:rPr sz="1300" b="0" i="0">
                <a:solidFill>
                  <a:srgbClr val="56B4E9"/>
                </a:solidFill>
                <a:latin typeface="Helvetica Neue"/>
              </a:rPr>
              <a:t> — hence the corner brackets. They are a SQUARE deliberately: a ring would read as another measured radius.</a:t>
            </a:r>
          </a:p>
          <a:p>
            <a:pPr algn="l">
              <a:spcAft>
                <a:spcPts val="1000"/>
              </a:spcAft>
            </a:pPr>
            <a:r>
              <a:rPr sz="1300" b="0" i="0">
                <a:solidFill>
                  <a:srgbClr val="009E73"/>
                </a:solidFill>
                <a:latin typeface="Helvetica Neue"/>
              </a:rPr>
              <a:t>Its label had nowhere to go this close to the edge, so it </a:t>
            </a:r>
            <a:r>
              <a:rPr sz="1300" b="1" i="0">
                <a:solidFill>
                  <a:srgbClr val="009E73"/>
                </a:solidFill>
                <a:latin typeface="Helvetica Neue"/>
              </a:rPr>
              <a:t>demoted to the index 1</a:t>
            </a:r>
            <a:r>
              <a:rPr sz="1300" b="0" i="0">
                <a:solidFill>
                  <a:srgbClr val="009E73"/>
                </a:solidFill>
                <a:latin typeface="Helvetica Neue"/>
              </a:rPr>
              <a:t> and the text moved to the caption band. That is the designed failure — crowding degrades predictably instead of overlapping.</a:t>
            </a:r>
          </a:p>
          <a:p>
            <a:pPr algn="l">
              <a:spcAft>
                <a:spcPts val="1000"/>
              </a:spcAft>
            </a:pPr>
            <a:r>
              <a:rPr sz="1300" b="0" i="0">
                <a:solidFill>
                  <a:srgbClr val="E69F00"/>
                </a:solidFill>
                <a:latin typeface="Helvetica Neue"/>
              </a:rPr>
              <a:t>The mark at upper right is </a:t>
            </a:r>
            <a:r>
              <a:rPr sz="1300" b="1" i="0">
                <a:solidFill>
                  <a:srgbClr val="E69F00"/>
                </a:solidFill>
                <a:latin typeface="Helvetica Neue"/>
              </a:rPr>
              <a:t>negative polarity</a:t>
            </a:r>
            <a:r>
              <a:rPr sz="1300" b="0" i="0">
                <a:solidFill>
                  <a:srgbClr val="E69F00"/>
                </a:solidFill>
                <a:latin typeface="Helvetica Neue"/>
              </a:rPr>
              <a:t>: dashed shaft, struck terminator, </a:t>
            </a:r>
            <a:r>
              <a:rPr sz="1300" b="0" i="0">
                <a:solidFill>
                  <a:srgbClr val="56B4E9"/>
                </a:solidFill>
                <a:latin typeface="Menlo"/>
              </a:rPr>
              <a:t>NOT arc ≠ edge-on disk</a:t>
            </a:r>
            <a:r>
              <a:rPr sz="1300" b="0" i="0">
                <a:solidFill>
                  <a:srgbClr val="E69F00"/>
                </a:solidFill>
                <a:latin typeface="Helvetica Neue"/>
              </a:rPr>
              <a:t>. That is the verifier's own correction — the NE streak runs radially, not tangentially, so it is a field galaxy rather than a second arc.</a:t>
            </a:r>
          </a:p>
          <a:p>
            <a:pPr algn="l">
              <a:spcAft>
                <a:spcPts val="1000"/>
              </a:spcAft>
            </a:pPr>
            <a:r>
              <a:rPr sz="1300" b="0" i="0">
                <a:solidFill>
                  <a:srgbClr val="9AA0AE"/>
                </a:solidFill>
                <a:latin typeface="Helvetica Neue"/>
              </a:rPr>
              <a:t>The current format could record none of that.</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Panel: colour 3.5″ zoom · north up, east left</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rank 2 — searched, and not found</a:t>
            </a:r>
          </a:p>
          <a:p>
            <a:pPr algn="l">
              <a:spcAft>
                <a:spcPts val="600"/>
              </a:spcAft>
            </a:pPr>
            <a:r>
              <a:rPr sz="1300" b="0" i="0">
                <a:solidFill>
                  <a:srgbClr val="9AA0AE"/>
                </a:solidFill>
                <a:latin typeface="Helvetica Neue"/>
              </a:rPr>
              <a:t>grade A · θ_E 1.48″ by arc midline · counter-image NOT FOUND</a:t>
            </a:r>
          </a:p>
        </p:txBody>
      </p:sp>
      <p:pic>
        <p:nvPicPr>
          <p:cNvPr id="3" name="Picture 2" descr="J15199556+2122210-n1.png"/>
          <p:cNvPicPr>
            <a:picLocks noChangeAspect="1"/>
          </p:cNvPicPr>
          <p:nvPr/>
        </p:nvPicPr>
        <p:blipFill>
          <a:blip r:embed="rId2"/>
          <a:stretch>
            <a:fillRect/>
          </a:stretch>
        </p:blipFill>
        <p:spPr>
          <a:xfrm>
            <a:off x="1734478" y="1417320"/>
            <a:ext cx="3784979" cy="4754880"/>
          </a:xfrm>
          <a:prstGeom prst="rect">
            <a:avLst/>
          </a:prstGeom>
        </p:spPr>
      </p:pic>
      <p:sp>
        <p:nvSpPr>
          <p:cNvPr id="4" name="TextBox 3"/>
          <p:cNvSpPr txBox="1"/>
          <p:nvPr/>
        </p:nvSpPr>
        <p:spPr>
          <a:xfrm>
            <a:off x="5976657" y="1417320"/>
            <a:ext cx="4480560" cy="4754880"/>
          </a:xfrm>
          <a:prstGeom prst="rect">
            <a:avLst/>
          </a:prstGeom>
          <a:noFill/>
        </p:spPr>
        <p:txBody>
          <a:bodyPr wrap="square" anchor="t" lIns="0" rIns="0" tIns="0" bIns="0">
            <a:spAutoFit/>
          </a:bodyPr>
          <a:lstStyle/>
          <a:p>
            <a:pPr algn="l">
              <a:spcAft>
                <a:spcPts val="1000"/>
              </a:spcAft>
            </a:pPr>
            <a:r>
              <a:rPr sz="1300" b="0" i="0">
                <a:solidFill>
                  <a:srgbClr val="F2F3F7"/>
                </a:solidFill>
                <a:latin typeface="Helvetica Neue"/>
              </a:rPr>
              <a:t>A thin tangential arc east through south-southeast, bluer than the host, surviving in the deflector-subtracted panel.</a:t>
            </a:r>
          </a:p>
          <a:p>
            <a:pPr algn="l">
              <a:spcAft>
                <a:spcPts val="1000"/>
              </a:spcAft>
            </a:pPr>
            <a:r>
              <a:rPr sz="1300" b="0" i="0">
                <a:solidFill>
                  <a:srgbClr val="56B4E9"/>
                </a:solidFill>
                <a:latin typeface="Helvetica Neue"/>
              </a:rPr>
              <a:t>The caption reads </a:t>
            </a:r>
            <a:r>
              <a:rPr sz="1300" b="1" i="0">
                <a:solidFill>
                  <a:srgbClr val="56B4E9"/>
                </a:solidFill>
                <a:latin typeface="Helvetica Neue"/>
              </a:rPr>
              <a:t>counter-image not found</a:t>
            </a:r>
            <a:r>
              <a:rPr sz="1300" b="0" i="0">
                <a:solidFill>
                  <a:srgbClr val="56B4E9"/>
                </a:solidFill>
                <a:latin typeface="Helvetica Neue"/>
              </a:rPr>
              <a:t>, and that is a different statement from “not searched”. The verifier looked at every stretch and none was visible.</a:t>
            </a:r>
          </a:p>
          <a:p>
            <a:pPr algn="l">
              <a:spcAft>
                <a:spcPts val="1000"/>
              </a:spcAft>
            </a:pPr>
            <a:r>
              <a:rPr sz="1300" b="0" i="0">
                <a:solidFill>
                  <a:srgbClr val="F2F3F7"/>
                </a:solidFill>
                <a:latin typeface="Helvetica Neue"/>
              </a:rPr>
              <a:t>This is the three-valued absence that DICOM, RadElement, WMO and Galaxy Zoo all arrived at independently — and it matters here, because θ_E rests on the arc radius alone and could be high if the source is offset.</a:t>
            </a:r>
          </a:p>
          <a:p>
            <a:pPr algn="l">
              <a:spcAft>
                <a:spcPts val="1000"/>
              </a:spcAft>
            </a:pPr>
            <a:r>
              <a:rPr sz="1300" b="0" i="0">
                <a:solidFill>
                  <a:srgbClr val="9AA0AE"/>
                </a:solidFill>
                <a:latin typeface="Helvetica Neue"/>
              </a:rPr>
              <a:t>Hard case: </a:t>
            </a:r>
            <a:r>
              <a:rPr sz="1300" b="1" i="0">
                <a:solidFill>
                  <a:srgbClr val="9AA0AE"/>
                </a:solidFill>
                <a:latin typeface="Helvetica Neue"/>
              </a:rPr>
              <a:t>single giant arc</a:t>
            </a:r>
            <a:r>
              <a:rPr sz="1300" b="0" i="0">
                <a:solidFill>
                  <a:srgbClr val="9AA0AE"/>
                </a:solidFill>
                <a:latin typeface="Helvetica Neue"/>
              </a:rPr>
              <a:t>.</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The bound rings bracket the ridge measurement, 1.23–1.73″</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rank 3 — the counter-image is farther out than the arc</a:t>
            </a:r>
          </a:p>
          <a:p>
            <a:pPr algn="l">
              <a:spcAft>
                <a:spcPts val="600"/>
              </a:spcAft>
            </a:pPr>
            <a:r>
              <a:rPr sz="1300" b="0" i="0">
                <a:solidFill>
                  <a:srgbClr val="9AA0AE"/>
                </a:solidFill>
                <a:latin typeface="Helvetica Neue"/>
              </a:rPr>
              <a:t>grade A · five knots at r 1.24–1.49″ · a blue blob antipodal at r 1.88″</a:t>
            </a:r>
          </a:p>
        </p:txBody>
      </p:sp>
      <p:pic>
        <p:nvPicPr>
          <p:cNvPr id="3" name="Picture 2" descr="J34707505-219476-wide-n1.png"/>
          <p:cNvPicPr>
            <a:picLocks noChangeAspect="1"/>
          </p:cNvPicPr>
          <p:nvPr/>
        </p:nvPicPr>
        <p:blipFill>
          <a:blip r:embed="rId2"/>
          <a:stretch>
            <a:fillRect/>
          </a:stretch>
        </p:blipFill>
        <p:spPr>
          <a:xfrm>
            <a:off x="1689495" y="1417320"/>
            <a:ext cx="3874944" cy="4754880"/>
          </a:xfrm>
          <a:prstGeom prst="rect">
            <a:avLst/>
          </a:prstGeom>
        </p:spPr>
      </p:pic>
      <p:sp>
        <p:nvSpPr>
          <p:cNvPr id="4" name="TextBox 3"/>
          <p:cNvSpPr txBox="1"/>
          <p:nvPr/>
        </p:nvSpPr>
        <p:spPr>
          <a:xfrm>
            <a:off x="6021639" y="1417320"/>
            <a:ext cx="4480560" cy="4754880"/>
          </a:xfrm>
          <a:prstGeom prst="rect">
            <a:avLst/>
          </a:prstGeom>
          <a:noFill/>
        </p:spPr>
        <p:txBody>
          <a:bodyPr wrap="square" anchor="t" lIns="0" rIns="0" tIns="0" bIns="0">
            <a:spAutoFit/>
          </a:bodyPr>
          <a:lstStyle/>
          <a:p>
            <a:pPr algn="l">
              <a:spcAft>
                <a:spcPts val="1000"/>
              </a:spcAft>
            </a:pPr>
            <a:r>
              <a:rPr sz="1300" b="0" i="0">
                <a:solidFill>
                  <a:srgbClr val="F2F3F7"/>
                </a:solidFill>
                <a:latin typeface="Helvetica Neue"/>
              </a:rPr>
              <a:t>The blob is antipodal to the chain and the same colour as the knots — a plausible counter-image. But its radius EXCEEDS the arc radius, which is the reverse of the usual configuration.</a:t>
            </a:r>
          </a:p>
          <a:p>
            <a:pPr algn="l">
              <a:spcAft>
                <a:spcPts val="1000"/>
              </a:spcAft>
            </a:pPr>
            <a:r>
              <a:rPr sz="1300" b="0" i="0">
                <a:solidFill>
                  <a:srgbClr val="56B4E9"/>
                </a:solidFill>
                <a:latin typeface="Helvetica Neue"/>
              </a:rPr>
              <a:t>So it is marked </a:t>
            </a:r>
            <a:r>
              <a:rPr sz="1300" b="1" i="0">
                <a:solidFill>
                  <a:srgbClr val="56B4E9"/>
                </a:solidFill>
                <a:latin typeface="Helvetica Neue"/>
              </a:rPr>
              <a:t>ambiguous</a:t>
            </a:r>
            <a:r>
              <a:rPr sz="1300" b="0" i="0">
                <a:solidFill>
                  <a:srgbClr val="56B4E9"/>
                </a:solidFill>
                <a:latin typeface="Helvetica Neue"/>
              </a:rPr>
              <a:t>: dotted shaft, hollow struck terminator, </a:t>
            </a:r>
            <a:r>
              <a:rPr sz="1300" b="0" i="0">
                <a:solidFill>
                  <a:srgbClr val="56B4E9"/>
                </a:solidFill>
                <a:latin typeface="Menlo"/>
              </a:rPr>
              <a:t>counter-image ? ≠ companion projection</a:t>
            </a:r>
            <a:r>
              <a:rPr sz="1300" b="0" i="0">
                <a:solidFill>
                  <a:srgbClr val="56B4E9"/>
                </a:solidFill>
                <a:latin typeface="Helvetica Neue"/>
              </a:rPr>
              <a:t>. The record shows the feature AND its alternative reading rather than choosing silently.</a:t>
            </a:r>
          </a:p>
          <a:p>
            <a:pPr algn="l">
              <a:spcAft>
                <a:spcPts val="1000"/>
              </a:spcAft>
            </a:pPr>
            <a:r>
              <a:rPr sz="1300" b="0" i="0">
                <a:solidFill>
                  <a:srgbClr val="E69F00"/>
                </a:solidFill>
                <a:latin typeface="Helvetica Neue"/>
              </a:rPr>
              <a:t>And the ring records that half-separation was </a:t>
            </a:r>
            <a:r>
              <a:rPr sz="1300" b="1" i="0">
                <a:solidFill>
                  <a:srgbClr val="E69F00"/>
                </a:solidFill>
                <a:latin typeface="Helvetica Neue"/>
              </a:rPr>
              <a:t>declined</a:t>
            </a:r>
            <a:r>
              <a:rPr sz="1300" b="0" i="0">
                <a:solidFill>
                  <a:srgbClr val="E69F00"/>
                </a:solidFill>
                <a:latin typeface="Helvetica Neue"/>
              </a:rPr>
              <a:t>: </a:t>
            </a:r>
            <a:r>
              <a:rPr sz="1300" b="0" i="0">
                <a:solidFill>
                  <a:srgbClr val="56B4E9"/>
                </a:solidFill>
                <a:latin typeface="Menlo"/>
              </a:rPr>
              <a:t>method: arc_midline</a:t>
            </a:r>
            <a:r>
              <a:rPr sz="1300" b="0" i="0">
                <a:solidFill>
                  <a:srgbClr val="E69F00"/>
                </a:solidFill>
                <a:latin typeface="Helvetica Neue"/>
              </a:rPr>
              <a:t>, θ_E 1.40″. Had the blob been accepted, θ_E would be nearer 1.6″. A coded method makes that decision recoverable.</a:t>
            </a:r>
          </a:p>
          <a:p>
            <a:pPr algn="l">
              <a:spcAft>
                <a:spcPts val="1000"/>
              </a:spcAft>
            </a:pPr>
            <a:r>
              <a:rPr sz="1300" b="0" i="0">
                <a:solidFill>
                  <a:srgbClr val="9AA0AE"/>
                </a:solidFill>
                <a:latin typeface="Helvetica Neue"/>
              </a:rPr>
              <a:t>Lensing permits a counter-image farther out than the arc. Radius is never by itself a ground for rejection.</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Rendered on the 10″ field, because — see next slide</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Six renderings of one sky</a:t>
            </a:r>
          </a:p>
          <a:p>
            <a:pPr algn="l">
              <a:spcAft>
                <a:spcPts val="600"/>
              </a:spcAft>
            </a:pPr>
            <a:r>
              <a:rPr sz="1300" b="0" i="0">
                <a:solidFill>
                  <a:srgbClr val="9AA0AE"/>
                </a:solidFill>
                <a:latin typeface="Helvetica Neue"/>
              </a:rPr>
              <a:t>The figure the verifiers actually saw is six panels: three stretches of the 10″ field, three of the 3.5″ zoom</a:t>
            </a:r>
          </a:p>
        </p:txBody>
      </p:sp>
      <p:pic>
        <p:nvPicPr>
          <p:cNvPr id="3" name="Picture 2" descr="colour_10.png"/>
          <p:cNvPicPr>
            <a:picLocks noChangeAspect="1"/>
          </p:cNvPicPr>
          <p:nvPr/>
        </p:nvPicPr>
        <p:blipFill>
          <a:blip r:embed="rId2"/>
          <a:stretch>
            <a:fillRect/>
          </a:stretch>
        </p:blipFill>
        <p:spPr>
          <a:xfrm>
            <a:off x="1249527" y="1417320"/>
            <a:ext cx="4754880" cy="4754880"/>
          </a:xfrm>
          <a:prstGeom prst="rect">
            <a:avLst/>
          </a:prstGeom>
        </p:spPr>
      </p:pic>
      <p:sp>
        <p:nvSpPr>
          <p:cNvPr id="4" name="TextBox 3"/>
          <p:cNvSpPr txBox="1"/>
          <p:nvPr/>
        </p:nvSpPr>
        <p:spPr>
          <a:xfrm>
            <a:off x="6461607" y="1417320"/>
            <a:ext cx="4480560" cy="4754880"/>
          </a:xfrm>
          <a:prstGeom prst="rect">
            <a:avLst/>
          </a:prstGeom>
          <a:noFill/>
        </p:spPr>
        <p:txBody>
          <a:bodyPr wrap="square" anchor="t" lIns="0" rIns="0" tIns="0" bIns="0">
            <a:spAutoFit/>
          </a:bodyPr>
          <a:lstStyle/>
          <a:p>
            <a:pPr algn="l">
              <a:spcAft>
                <a:spcPts val="1200"/>
              </a:spcAft>
            </a:pPr>
            <a:r>
              <a:rPr sz="1500" b="1" i="0">
                <a:solidFill>
                  <a:srgbClr val="56B4E9"/>
                </a:solidFill>
                <a:latin typeface="Helvetica Neue"/>
              </a:rPr>
              <a:t>Why </a:t>
            </a:r>
            <a:r>
              <a:rPr sz="1500" b="1" i="0">
                <a:solidFill>
                  <a:srgbClr val="56B4E9"/>
                </a:solidFill>
                <a:latin typeface="Menlo"/>
              </a:rPr>
              <a:t>variants</a:t>
            </a:r>
            <a:r>
              <a:rPr sz="1500" b="1" i="0">
                <a:solidFill>
                  <a:srgbClr val="56B4E9"/>
                </a:solidFill>
                <a:latin typeface="Helvetica Neue"/>
              </a:rPr>
              <a:t> is a requirement, not a convenience</a:t>
            </a:r>
          </a:p>
          <a:p>
            <a:pPr algn="l">
              <a:spcAft>
                <a:spcPts val="1000"/>
              </a:spcAft>
            </a:pPr>
            <a:r>
              <a:rPr sz="1300" b="1" i="0">
                <a:solidFill>
                  <a:srgbClr val="D55E00"/>
                </a:solidFill>
                <a:latin typeface="Helvetica Neue"/>
              </a:rPr>
              <a:t>The rank-3 counter-image at r = 1.88″ falls OUTSIDE the 3.5″ zoom.</a:t>
            </a:r>
            <a:r>
              <a:rPr sz="1300" b="0" i="0">
                <a:solidFill>
                  <a:srgbClr val="D55E00"/>
                </a:solidFill>
                <a:latin typeface="Helvetica Neue"/>
              </a:rPr>
              <a:t> The same annotation is simply unrenderable there.</a:t>
            </a:r>
          </a:p>
          <a:p>
            <a:pPr algn="l">
              <a:spcAft>
                <a:spcPts val="1000"/>
              </a:spcAft>
            </a:pPr>
            <a:r>
              <a:rPr sz="1300" b="0" i="0">
                <a:solidFill>
                  <a:srgbClr val="F2F3F7"/>
                </a:solidFill>
                <a:latin typeface="Helvetica Neue"/>
              </a:rPr>
              <a:t>That is the clearest possible demonstration that a mark's coordinates are meaningless without a declared frame — and that the two field-of-view groups do NOT share one.</a:t>
            </a:r>
          </a:p>
          <a:p>
            <a:pPr algn="l">
              <a:spcAft>
                <a:spcPts val="1000"/>
              </a:spcAft>
            </a:pPr>
            <a:r>
              <a:rPr sz="1300" b="0" i="0">
                <a:solidFill>
                  <a:srgbClr val="E69F00"/>
                </a:solidFill>
                <a:latin typeface="Helvetica Neue"/>
              </a:rPr>
              <a:t>The current format has </a:t>
            </a:r>
            <a:r>
              <a:rPr sz="1300" b="1" i="0">
                <a:solidFill>
                  <a:srgbClr val="E69F00"/>
                </a:solidFill>
                <a:latin typeface="Helvetica Neue"/>
              </a:rPr>
              <a:t>one image per record</a:t>
            </a:r>
            <a:r>
              <a:rPr sz="1300" b="0" i="0">
                <a:solidFill>
                  <a:srgbClr val="E69F00"/>
                </a:solidFill>
                <a:latin typeface="Helvetica Neue"/>
              </a:rPr>
              <a:t>. It cannot say “these six renderings are of one sky”, cannot say which panel the marks were placed on, and cannot carry a per-panel scale.</a:t>
            </a:r>
          </a:p>
          <a:p>
            <a:pPr algn="l">
              <a:spcAft>
                <a:spcPts val="1000"/>
              </a:spcAft>
            </a:pPr>
            <a:r>
              <a:rPr sz="1300" b="0" i="0">
                <a:solidFill>
                  <a:srgbClr val="56B4E9"/>
                </a:solidFill>
                <a:latin typeface="Helvetica Neue"/>
              </a:rPr>
              <a:t>This is requirement R33, made concrete by real data rather than argued for.</a:t>
            </a:r>
          </a:p>
        </p:txBody>
      </p:sp>
      <p:sp>
        <p:nvSpPr>
          <p:cNvPr id="5" name="TextBox 4"/>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examples/jwst/variants-*.json</a:t>
            </a:r>
          </a:p>
        </p:txBody>
      </p:sp>
      <p:sp>
        <p:nvSpPr>
          <p:cNvPr id="6" name="TextBox 5"/>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Rectangle 1"/>
          <p:cNvSpPr/>
          <p:nvPr/>
        </p:nvSpPr>
        <p:spPr>
          <a:xfrm>
            <a:off x="822960" y="2468880"/>
            <a:ext cx="1005840" cy="38100"/>
          </a:xfrm>
          <a:prstGeom prst="rect">
            <a:avLst/>
          </a:prstGeom>
          <a:solidFill>
            <a:srgbClr val="E69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97480"/>
            <a:ext cx="9997135" cy="2194560"/>
          </a:xfrm>
          <a:prstGeom prst="rect">
            <a:avLst/>
          </a:prstGeom>
          <a:noFill/>
        </p:spPr>
        <p:txBody>
          <a:bodyPr wrap="square" anchor="t" lIns="0" rIns="0" tIns="0" bIns="0">
            <a:spAutoFit/>
          </a:bodyPr>
          <a:lstStyle/>
          <a:p>
            <a:pPr algn="l">
              <a:spcAft>
                <a:spcPts val="1200"/>
              </a:spcAft>
            </a:pPr>
            <a:r>
              <a:rPr sz="1300" b="1" i="0">
                <a:solidFill>
                  <a:srgbClr val="E69F00"/>
                </a:solidFill>
                <a:latin typeface="Helvetica Neue"/>
              </a:rPr>
              <a:t>PART SEVEN</a:t>
            </a:r>
          </a:p>
          <a:p>
            <a:pPr algn="l">
              <a:spcAft>
                <a:spcPts val="1200"/>
              </a:spcAft>
            </a:pPr>
            <a:r>
              <a:rPr sz="3400" b="1" i="0">
                <a:solidFill>
                  <a:srgbClr val="F2F3F7"/>
                </a:solidFill>
                <a:latin typeface="Helvetica Neue"/>
              </a:rPr>
              <a:t>Recommendation</a:t>
            </a:r>
          </a:p>
          <a:p>
            <a:pPr algn="l">
              <a:spcAft>
                <a:spcPts val="600"/>
              </a:spcAft>
            </a:pPr>
            <a:r>
              <a:rPr sz="1500" b="0" i="0">
                <a:solidFill>
                  <a:srgbClr val="9AA0AE"/>
                </a:solidFill>
                <a:latin typeface="Helvetica Neue"/>
              </a:rPr>
              <a:t>And what remains undecided</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Six changes worth making whichever proposal wins</a:t>
            </a:r>
          </a:p>
          <a:p>
            <a:pPr algn="l">
              <a:spcAft>
                <a:spcPts val="600"/>
              </a:spcAft>
            </a:pPr>
            <a:r>
              <a:rPr sz="1300" b="0" i="0">
                <a:solidFill>
                  <a:srgbClr val="9AA0AE"/>
                </a:solidFill>
                <a:latin typeface="Helvetica Neue"/>
              </a:rPr>
              <a:t>Notation-independent</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a:t>
            </a:r>
            <a:r>
              <a:rPr sz="1500" b="1" i="0">
                <a:solidFill>
                  <a:srgbClr val="F2F3F7"/>
                </a:solidFill>
                <a:latin typeface="Helvetica Neue"/>
              </a:rPr>
              <a:t>1. The 2× canonical render.</a:t>
            </a:r>
            <a:r>
              <a:rPr sz="1500" b="0" i="0">
                <a:solidFill>
                  <a:srgbClr val="F2F3F7"/>
                </a:solidFill>
                <a:latin typeface="Helvetica Neue"/>
              </a:rPr>
              <a:t> Forced by arithmetic: at native size the bound-ring dots, θ_E dots and leader hairlines all fall below the ~1.25-pixel aliasing floor.</a:t>
            </a:r>
          </a:p>
          <a:p>
            <a:pPr algn="l">
              <a:spcAft>
                <a:spcPts val="900"/>
              </a:spcAft>
            </a:pPr>
            <a:r>
              <a:rPr sz="1500" b="0" i="0">
                <a:solidFill>
                  <a:srgbClr val="F2F3F7"/>
                </a:solidFill>
                <a:latin typeface="Helvetica Neue"/>
              </a:rPr>
              <a:t>– </a:t>
            </a:r>
            <a:r>
              <a:rPr sz="1500" b="1" i="0">
                <a:solidFill>
                  <a:srgbClr val="F2F3F7"/>
                </a:solidFill>
                <a:latin typeface="Helvetica Neue"/>
              </a:rPr>
              <a:t>2. Tag every drawn scalar METRIC or PRESENTATIONAL.</a:t>
            </a:r>
            <a:r>
              <a:rPr sz="1500" b="0" i="0">
                <a:solidFill>
                  <a:srgbClr val="F2F3F7"/>
                </a:solidFill>
                <a:latin typeface="Helvetica Neue"/>
              </a:rPr>
              <a:t> This is the whole answer to resize-for-emphasis.</a:t>
            </a:r>
          </a:p>
          <a:p>
            <a:pPr algn="l">
              <a:spcAft>
                <a:spcPts val="900"/>
              </a:spcAft>
            </a:pPr>
            <a:r>
              <a:rPr sz="1500" b="0" i="0">
                <a:solidFill>
                  <a:srgbClr val="F2F3F7"/>
                </a:solidFill>
                <a:latin typeface="Helvetica Neue"/>
              </a:rPr>
              <a:t>– </a:t>
            </a:r>
            <a:r>
              <a:rPr sz="1500" b="1" i="0">
                <a:solidFill>
                  <a:srgbClr val="F2F3F7"/>
                </a:solidFill>
                <a:latin typeface="Helvetica Neue"/>
              </a:rPr>
              <a:t>3. The emphasis enum, with layered compositing.</a:t>
            </a:r>
          </a:p>
          <a:p>
            <a:pPr algn="l">
              <a:spcAft>
                <a:spcPts val="900"/>
              </a:spcAft>
            </a:pPr>
            <a:r>
              <a:rPr sz="1500" b="0" i="0">
                <a:solidFill>
                  <a:srgbClr val="F2F3F7"/>
                </a:solidFill>
                <a:latin typeface="Helvetica Neue"/>
              </a:rPr>
              <a:t>– </a:t>
            </a:r>
            <a:r>
              <a:rPr sz="1500" b="1" i="0">
                <a:solidFill>
                  <a:srgbClr val="F2F3F7"/>
                </a:solidFill>
                <a:latin typeface="Helvetica Neue"/>
              </a:rPr>
              <a:t>4. Keep-out geometry in the label solver</a:t>
            </a:r>
            <a:r>
              <a:rPr sz="1500" b="0" i="0">
                <a:solidFill>
                  <a:srgbClr val="F2F3F7"/>
                </a:solidFill>
                <a:latin typeface="Helvetica Neue"/>
              </a:rPr>
              <a:t> — using each circle's ANNULUS, not its bounding box. Roughly a twenty-line change and the largest single legibility win available.</a:t>
            </a:r>
          </a:p>
          <a:p>
            <a:pPr algn="l">
              <a:spcAft>
                <a:spcPts val="900"/>
              </a:spcAft>
            </a:pPr>
            <a:r>
              <a:rPr sz="1500" b="0" i="0">
                <a:solidFill>
                  <a:srgbClr val="F2F3F7"/>
                </a:solidFill>
                <a:latin typeface="Helvetica Neue"/>
              </a:rPr>
              <a:t>– </a:t>
            </a:r>
            <a:r>
              <a:rPr sz="1500" b="1" i="0">
                <a:solidFill>
                  <a:srgbClr val="F2F3F7"/>
                </a:solidFill>
                <a:latin typeface="Helvetica Neue"/>
              </a:rPr>
              <a:t>5. Demotion-to-index</a:t>
            </a:r>
            <a:r>
              <a:rPr sz="1500" b="0" i="0">
                <a:solidFill>
                  <a:srgbClr val="F2F3F7"/>
                </a:solidFill>
                <a:latin typeface="Helvetica Neue"/>
              </a:rPr>
              <a:t>, so crowding degrades deterministically instead of producing overlap.</a:t>
            </a:r>
          </a:p>
          <a:p>
            <a:pPr algn="l">
              <a:spcAft>
                <a:spcPts val="900"/>
              </a:spcAft>
            </a:pPr>
            <a:r>
              <a:rPr sz="1500" b="0" i="0">
                <a:solidFill>
                  <a:srgbClr val="F2F3F7"/>
                </a:solidFill>
                <a:latin typeface="Helvetica Neue"/>
              </a:rPr>
              <a:t>– </a:t>
            </a:r>
            <a:r>
              <a:rPr sz="1500" b="1" i="0">
                <a:solidFill>
                  <a:srgbClr val="F2F3F7"/>
                </a:solidFill>
                <a:latin typeface="Helvetica Neue"/>
              </a:rPr>
              <a:t>6. The caption band</a:t>
            </a:r>
            <a:r>
              <a:rPr sz="1500" b="0" i="0">
                <a:solidFill>
                  <a:srgbClr val="F2F3F7"/>
                </a:solidFill>
                <a:latin typeface="Helvetica Neue"/>
              </a:rPr>
              <a:t>, and remove the on-image legend plate from the contract.</a:t>
            </a:r>
          </a:p>
          <a:p>
            <a:pPr algn="l">
              <a:spcAft>
                <a:spcPts val="900"/>
              </a:spcAft>
            </a:pPr>
            <a:r>
              <a:rPr sz="1500" b="0" i="0">
                <a:solidFill>
                  <a:srgbClr val="56B4E9"/>
                </a:solidFill>
                <a:latin typeface="Helvetica Neue"/>
              </a:rPr>
              <a:t>– Only the sign inventory is a bet. These six are not — they are independently valuable and they are in dependency order.</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Migration from lensmark/1.0</a:t>
            </a:r>
          </a:p>
          <a:p>
            <a:pPr algn="l">
              <a:spcAft>
                <a:spcPts val="600"/>
              </a:spcAft>
            </a:pPr>
            <a:r>
              <a:rPr sz="1300" b="0" i="0">
                <a:solidFill>
                  <a:srgbClr val="9AA0AE"/>
                </a:solidFill>
                <a:latin typeface="Helvetica Neue"/>
              </a:rPr>
              <a:t>Executed, not asserted: examples/migrate_lensmark.py converts a real deck</a:t>
            </a:r>
          </a:p>
        </p:txBody>
      </p:sp>
      <p:graphicFrame>
        <p:nvGraphicFramePr>
          <p:cNvPr id="3" name="Table 2"/>
          <p:cNvGraphicFramePr>
            <a:graphicFrameLocks noGrp="1"/>
          </p:cNvGraphicFramePr>
          <p:nvPr/>
        </p:nvGraphicFramePr>
        <p:xfrm>
          <a:off x="548640" y="1417320"/>
          <a:ext cx="11094413" cy="2962656"/>
        </p:xfrm>
        <a:graphic>
          <a:graphicData uri="http://schemas.openxmlformats.org/drawingml/2006/table">
            <a:tbl>
              <a:tblPr firstRow="1" bandRow="1">
                <a:tableStyleId>{5C22544A-7EE6-4342-B048-85BDC9FD1C3A}</a:tableStyleId>
              </a:tblPr>
              <a:tblGrid>
                <a:gridCol w="2884547"/>
                <a:gridCol w="4881542"/>
                <a:gridCol w="3328324"/>
              </a:tblGrid>
              <a:tr h="329184">
                <a:tc>
                  <a:txBody>
                    <a:bodyPr/>
                    <a:lstStyle/>
                    <a:p>
                      <a:r>
                        <a:rPr sz="1100" b="1">
                          <a:solidFill>
                            <a:srgbClr val="56B4E9"/>
                          </a:solidFill>
                          <a:latin typeface="Helvetica Neue"/>
                        </a:rPr>
                        <a:t>today</a:t>
                      </a:r>
                    </a:p>
                  </a:txBody>
                  <a:tcPr anchor="ctr">
                    <a:solidFill>
                      <a:srgbClr val="1A1E28"/>
                    </a:solidFill>
                  </a:tcPr>
                </a:tc>
                <a:tc>
                  <a:txBody>
                    <a:bodyPr/>
                    <a:lstStyle/>
                    <a:p>
                      <a:r>
                        <a:rPr sz="1100" b="1">
                          <a:solidFill>
                            <a:srgbClr val="56B4E9"/>
                          </a:solidFill>
                          <a:latin typeface="Helvetica Neue"/>
                        </a:rPr>
                        <a:t>becomes</a:t>
                      </a:r>
                    </a:p>
                  </a:txBody>
                  <a:tcPr anchor="ctr">
                    <a:solidFill>
                      <a:srgbClr val="1A1E28"/>
                    </a:solidFill>
                  </a:tcPr>
                </a:tc>
                <a:tc>
                  <a:txBody>
                    <a:bodyPr/>
                    <a:lstStyle/>
                    <a:p>
                      <a:r>
                        <a:rPr sz="1100" b="1">
                          <a:solidFill>
                            <a:srgbClr val="56B4E9"/>
                          </a:solidFill>
                          <a:latin typeface="Helvetica Neue"/>
                        </a:rPr>
                        <a:t>lossless?</a:t>
                      </a:r>
                    </a:p>
                  </a:txBody>
                  <a:tcPr anchor="ctr">
                    <a:solidFill>
                      <a:srgbClr val="1A1E28"/>
                    </a:solidFill>
                  </a:tcPr>
                </a:tc>
              </a:tr>
              <a:tr h="329184">
                <a:tc>
                  <a:txBody>
                    <a:bodyPr/>
                    <a:lstStyle/>
                    <a:p>
                      <a:r>
                        <a:rPr sz="1100" b="0">
                          <a:solidFill>
                            <a:srgbClr val="56B4E9"/>
                          </a:solidFill>
                          <a:latin typeface="Menlo"/>
                        </a:rPr>
                        <a:t>schema_version</a:t>
                      </a:r>
                    </a:p>
                  </a:txBody>
                  <a:tcPr anchor="ctr">
                    <a:solidFill>
                      <a:srgbClr val="161A24"/>
                    </a:solidFill>
                  </a:tcPr>
                </a:tc>
                <a:tc>
                  <a:txBody>
                    <a:bodyPr/>
                    <a:lstStyle/>
                    <a:p>
                      <a:r>
                        <a:rPr sz="1100" b="0">
                          <a:solidFill>
                            <a:srgbClr val="56B4E9"/>
                          </a:solidFill>
                          <a:latin typeface="Menlo"/>
                        </a:rPr>
                        <a:t>schema</a:t>
                      </a:r>
                      <a:r>
                        <a:rPr sz="1100" b="0">
                          <a:solidFill>
                            <a:srgbClr val="F2F3F7"/>
                          </a:solidFill>
                          <a:latin typeface="Helvetica Neue"/>
                        </a:rPr>
                        <a:t> + </a:t>
                      </a:r>
                      <a:r>
                        <a:rPr sz="1100" b="0">
                          <a:solidFill>
                            <a:srgbClr val="56B4E9"/>
                          </a:solidFill>
                          <a:latin typeface="Menlo"/>
                        </a:rPr>
                        <a:t>profile</a:t>
                      </a:r>
                    </a:p>
                  </a:txBody>
                  <a:tcPr anchor="ctr">
                    <a:solidFill>
                      <a:srgbClr val="161A24"/>
                    </a:solidFill>
                  </a:tcPr>
                </a:tc>
                <a:tc>
                  <a:txBody>
                    <a:bodyPr/>
                    <a:lstStyle/>
                    <a:p>
                      <a:r>
                        <a:rPr sz="1100" b="0">
                          <a:solidFill>
                            <a:srgbClr val="F2F3F7"/>
                          </a:solidFill>
                          <a:latin typeface="Helvetica Neue"/>
                        </a:rPr>
                        <a:t>yes</a:t>
                      </a:r>
                    </a:p>
                  </a:txBody>
                  <a:tcPr anchor="ctr">
                    <a:solidFill>
                      <a:srgbClr val="161A24"/>
                    </a:solidFill>
                  </a:tcPr>
                </a:tc>
              </a:tr>
              <a:tr h="329184">
                <a:tc>
                  <a:txBody>
                    <a:bodyPr/>
                    <a:lstStyle/>
                    <a:p>
                      <a:r>
                        <a:rPr sz="1100" b="0">
                          <a:solidFill>
                            <a:srgbClr val="56B4E9"/>
                          </a:solidFill>
                          <a:latin typeface="Menlo"/>
                        </a:rPr>
                        <a:t>items[].label</a:t>
                      </a:r>
                    </a:p>
                  </a:txBody>
                  <a:tcPr anchor="ctr">
                    <a:solidFill>
                      <a:srgbClr val="11141C"/>
                    </a:solidFill>
                  </a:tcPr>
                </a:tc>
                <a:tc>
                  <a:txBody>
                    <a:bodyPr/>
                    <a:lstStyle/>
                    <a:p>
                      <a:r>
                        <a:rPr sz="1100" b="0">
                          <a:solidFill>
                            <a:srgbClr val="56B4E9"/>
                          </a:solidFill>
                          <a:latin typeface="Menlo"/>
                        </a:rPr>
                        <a:t>role</a:t>
                      </a:r>
                      <a:r>
                        <a:rPr sz="1100" b="0">
                          <a:solidFill>
                            <a:srgbClr val="F2F3F7"/>
                          </a:solidFill>
                          <a:latin typeface="Helvetica Neue"/>
                        </a:rPr>
                        <a:t> inferred + </a:t>
                      </a:r>
                      <a:r>
                        <a:rPr sz="1100" b="0">
                          <a:solidFill>
                            <a:srgbClr val="56B4E9"/>
                          </a:solidFill>
                          <a:latin typeface="Menlo"/>
                        </a:rPr>
                        <a:t>label</a:t>
                      </a:r>
                      <a:r>
                        <a:rPr sz="1100" b="0">
                          <a:solidFill>
                            <a:srgbClr val="F2F3F7"/>
                          </a:solidFill>
                          <a:latin typeface="Helvetica Neue"/>
                        </a:rPr>
                        <a:t> for display</a:t>
                      </a:r>
                    </a:p>
                  </a:txBody>
                  <a:tcPr anchor="ctr">
                    <a:solidFill>
                      <a:srgbClr val="11141C"/>
                    </a:solidFill>
                  </a:tcPr>
                </a:tc>
                <a:tc>
                  <a:txBody>
                    <a:bodyPr/>
                    <a:lstStyle/>
                    <a:p>
                      <a:r>
                        <a:rPr sz="1100" b="1">
                          <a:solidFill>
                            <a:srgbClr val="F2F3F7"/>
                          </a:solidFill>
                          <a:latin typeface="Helvetica Neue"/>
                        </a:rPr>
                        <a:t>lossy where free text</a:t>
                      </a:r>
                      <a:r>
                        <a:rPr sz="1100" b="0">
                          <a:solidFill>
                            <a:srgbClr val="F2F3F7"/>
                          </a:solidFill>
                          <a:latin typeface="Helvetica Neue"/>
                        </a:rPr>
                        <a:t> — a human pass over 19 decks</a:t>
                      </a:r>
                    </a:p>
                  </a:txBody>
                  <a:tcPr anchor="ctr">
                    <a:solidFill>
                      <a:srgbClr val="11141C"/>
                    </a:solidFill>
                  </a:tcPr>
                </a:tc>
              </a:tr>
              <a:tr h="329184">
                <a:tc>
                  <a:txBody>
                    <a:bodyPr/>
                    <a:lstStyle/>
                    <a:p>
                      <a:r>
                        <a:rPr sz="1100" b="0">
                          <a:solidFill>
                            <a:srgbClr val="56B4E9"/>
                          </a:solidFill>
                          <a:latin typeface="Menlo"/>
                        </a:rPr>
                        <a:t>items[].color</a:t>
                      </a:r>
                    </a:p>
                  </a:txBody>
                  <a:tcPr anchor="ctr">
                    <a:solidFill>
                      <a:srgbClr val="161A24"/>
                    </a:solidFill>
                  </a:tcPr>
                </a:tc>
                <a:tc>
                  <a:txBody>
                    <a:bodyPr/>
                    <a:lstStyle/>
                    <a:p>
                      <a:r>
                        <a:rPr sz="1100" b="0">
                          <a:solidFill>
                            <a:srgbClr val="F2F3F7"/>
                          </a:solidFill>
                          <a:latin typeface="Helvetica Neue"/>
                        </a:rPr>
                        <a:t>dropped; derived from </a:t>
                      </a:r>
                      <a:r>
                        <a:rPr sz="1100" b="0">
                          <a:solidFill>
                            <a:srgbClr val="56B4E9"/>
                          </a:solidFill>
                          <a:latin typeface="Menlo"/>
                        </a:rPr>
                        <a:t>role</a:t>
                      </a:r>
                      <a:r>
                        <a:rPr sz="1100" b="0">
                          <a:solidFill>
                            <a:srgbClr val="F2F3F7"/>
                          </a:solidFill>
                          <a:latin typeface="Helvetica Neue"/>
                        </a:rPr>
                        <a:t> via the style document</a:t>
                      </a:r>
                    </a:p>
                  </a:txBody>
                  <a:tcPr anchor="ctr">
                    <a:solidFill>
                      <a:srgbClr val="161A24"/>
                    </a:solidFill>
                  </a:tcPr>
                </a:tc>
                <a:tc>
                  <a:txBody>
                    <a:bodyPr/>
                    <a:lstStyle/>
                    <a:p>
                      <a:r>
                        <a:rPr sz="1100" b="1">
                          <a:solidFill>
                            <a:srgbClr val="F2F3F7"/>
                          </a:solidFill>
                          <a:latin typeface="Helvetica Neue"/>
                        </a:rPr>
                        <a:t>intentionally</a:t>
                      </a:r>
                      <a:r>
                        <a:rPr sz="1100" b="0">
                          <a:solidFill>
                            <a:srgbClr val="F2F3F7"/>
                          </a:solidFill>
                          <a:latin typeface="Helvetica Neue"/>
                        </a:rPr>
                        <a:t> lossy</a:t>
                      </a:r>
                    </a:p>
                  </a:txBody>
                  <a:tcPr anchor="ctr">
                    <a:solidFill>
                      <a:srgbClr val="161A24"/>
                    </a:solidFill>
                  </a:tcPr>
                </a:tc>
              </a:tr>
              <a:tr h="329184">
                <a:tc>
                  <a:txBody>
                    <a:bodyPr/>
                    <a:lstStyle/>
                    <a:p>
                      <a:r>
                        <a:rPr sz="1100" b="0">
                          <a:solidFill>
                            <a:srgbClr val="56B4E9"/>
                          </a:solidFill>
                          <a:latin typeface="Menlo"/>
                        </a:rPr>
                        <a:t>mask_circle.kind</a:t>
                      </a:r>
                    </a:p>
                  </a:txBody>
                  <a:tcPr anchor="ctr">
                    <a:solidFill>
                      <a:srgbClr val="11141C"/>
                    </a:solidFill>
                  </a:tcPr>
                </a:tc>
                <a:tc>
                  <a:txBody>
                    <a:bodyPr/>
                    <a:lstStyle/>
                    <a:p>
                      <a:r>
                        <a:rPr sz="1100" b="0">
                          <a:solidFill>
                            <a:srgbClr val="56B4E9"/>
                          </a:solidFill>
                          <a:latin typeface="Menlo"/>
                        </a:rPr>
                        <a:t>role</a:t>
                      </a:r>
                      <a:r>
                        <a:rPr sz="1100" b="0">
                          <a:solidFill>
                            <a:srgbClr val="F2F3F7"/>
                          </a:solidFill>
                          <a:latin typeface="Helvetica Neue"/>
                        </a:rPr>
                        <a:t> + </a:t>
                      </a:r>
                      <a:r>
                        <a:rPr sz="1100" b="0">
                          <a:solidFill>
                            <a:srgbClr val="56B4E9"/>
                          </a:solidFill>
                          <a:latin typeface="Menlo"/>
                        </a:rPr>
                        <a:t>treatment</a:t>
                      </a:r>
                    </a:p>
                  </a:txBody>
                  <a:tcPr anchor="ctr">
                    <a:solidFill>
                      <a:srgbClr val="11141C"/>
                    </a:solidFill>
                  </a:tcPr>
                </a:tc>
                <a:tc>
                  <a:txBody>
                    <a:bodyPr/>
                    <a:lstStyle/>
                    <a:p>
                      <a:r>
                        <a:rPr sz="1100" b="0">
                          <a:solidFill>
                            <a:srgbClr val="F2F3F7"/>
                          </a:solidFill>
                          <a:latin typeface="Helvetica Neue"/>
                        </a:rPr>
                        <a:t>yes</a:t>
                      </a:r>
                    </a:p>
                  </a:txBody>
                  <a:tcPr anchor="ctr">
                    <a:solidFill>
                      <a:srgbClr val="11141C"/>
                    </a:solidFill>
                  </a:tcPr>
                </a:tc>
              </a:tr>
              <a:tr h="329184">
                <a:tc>
                  <a:txBody>
                    <a:bodyPr/>
                    <a:lstStyle/>
                    <a:p>
                      <a:r>
                        <a:rPr sz="1100" b="0">
                          <a:solidFill>
                            <a:srgbClr val="56B4E9"/>
                          </a:solidFill>
                          <a:latin typeface="Menlo"/>
                        </a:rPr>
                        <a:t>theta_e.alt_arcsec</a:t>
                      </a:r>
                    </a:p>
                  </a:txBody>
                  <a:tcPr anchor="ctr">
                    <a:solidFill>
                      <a:srgbClr val="161A24"/>
                    </a:solidFill>
                  </a:tcPr>
                </a:tc>
                <a:tc>
                  <a:txBody>
                    <a:bodyPr/>
                    <a:lstStyle/>
                    <a:p>
                      <a:r>
                        <a:rPr sz="1100" b="0">
                          <a:solidFill>
                            <a:srgbClr val="56B4E9"/>
                          </a:solidFill>
                          <a:latin typeface="Menlo"/>
                        </a:rPr>
                        <a:t>lower_arcsec</a:t>
                      </a:r>
                      <a:r>
                        <a:rPr sz="1100" b="0">
                          <a:solidFill>
                            <a:srgbClr val="F2F3F7"/>
                          </a:solidFill>
                          <a:latin typeface="Helvetica Neue"/>
                        </a:rPr>
                        <a:t> or </a:t>
                      </a:r>
                      <a:r>
                        <a:rPr sz="1100" b="0">
                          <a:solidFill>
                            <a:srgbClr val="56B4E9"/>
                          </a:solidFill>
                          <a:latin typeface="Menlo"/>
                        </a:rPr>
                        <a:t>upper_arcsec</a:t>
                      </a:r>
                      <a:r>
                        <a:rPr sz="1100" b="0">
                          <a:solidFill>
                            <a:srgbClr val="F2F3F7"/>
                          </a:solidFill>
                          <a:latin typeface="Helvetica Neue"/>
                        </a:rPr>
                        <a:t> by comparison</a:t>
                      </a:r>
                    </a:p>
                  </a:txBody>
                  <a:tcPr anchor="ctr">
                    <a:solidFill>
                      <a:srgbClr val="161A24"/>
                    </a:solidFill>
                  </a:tcPr>
                </a:tc>
                <a:tc>
                  <a:txBody>
                    <a:bodyPr/>
                    <a:lstStyle/>
                    <a:p>
                      <a:r>
                        <a:rPr sz="1100" b="0">
                          <a:solidFill>
                            <a:srgbClr val="F2F3F7"/>
                          </a:solidFill>
                          <a:latin typeface="Helvetica Neue"/>
                        </a:rPr>
                        <a:t>yes — and it fixes the two decks carrying </a:t>
                      </a:r>
                      <a:r>
                        <a:rPr sz="1100" b="0">
                          <a:solidFill>
                            <a:srgbClr val="56B4E9"/>
                          </a:solidFill>
                          <a:latin typeface="Menlo"/>
                        </a:rPr>
                        <a:t>(alt)</a:t>
                      </a:r>
                      <a:r>
                        <a:rPr sz="1100" b="0">
                          <a:solidFill>
                            <a:srgbClr val="F2F3F7"/>
                          </a:solidFill>
                          <a:latin typeface="Helvetica Neue"/>
                        </a:rPr>
                        <a:t> rings</a:t>
                      </a:r>
                    </a:p>
                  </a:txBody>
                  <a:tcPr anchor="ctr">
                    <a:solidFill>
                      <a:srgbClr val="161A24"/>
                    </a:solidFill>
                  </a:tcPr>
                </a:tc>
              </a:tr>
              <a:tr h="329184">
                <a:tc>
                  <a:txBody>
                    <a:bodyPr/>
                    <a:lstStyle/>
                    <a:p>
                      <a:r>
                        <a:rPr sz="1100" b="0">
                          <a:solidFill>
                            <a:srgbClr val="56B4E9"/>
                          </a:solidFill>
                          <a:latin typeface="Menlo"/>
                        </a:rPr>
                        <a:t>einstein_ring.theta_e_arcsec</a:t>
                      </a:r>
                    </a:p>
                  </a:txBody>
                  <a:tcPr anchor="ctr">
                    <a:solidFill>
                      <a:srgbClr val="11141C"/>
                    </a:solidFill>
                  </a:tcPr>
                </a:tc>
                <a:tc>
                  <a:txBody>
                    <a:bodyPr/>
                    <a:lstStyle/>
                    <a:p>
                      <a:r>
                        <a:rPr sz="1100" b="0">
                          <a:solidFill>
                            <a:srgbClr val="F2F3F7"/>
                          </a:solidFill>
                          <a:latin typeface="Helvetica Neue"/>
                        </a:rPr>
                        <a:t>geometry only; the measurement lives once</a:t>
                      </a:r>
                    </a:p>
                  </a:txBody>
                  <a:tcPr anchor="ctr">
                    <a:solidFill>
                      <a:srgbClr val="11141C"/>
                    </a:solidFill>
                  </a:tcPr>
                </a:tc>
                <a:tc>
                  <a:txBody>
                    <a:bodyPr/>
                    <a:lstStyle/>
                    <a:p>
                      <a:r>
                        <a:rPr sz="1100" b="0">
                          <a:solidFill>
                            <a:srgbClr val="F2F3F7"/>
                          </a:solidFill>
                          <a:latin typeface="Helvetica Neue"/>
                        </a:rPr>
                        <a:t>yes — removes the duplicate</a:t>
                      </a:r>
                    </a:p>
                  </a:txBody>
                  <a:tcPr anchor="ctr">
                    <a:solidFill>
                      <a:srgbClr val="11141C"/>
                    </a:solidFill>
                  </a:tcPr>
                </a:tc>
              </a:tr>
              <a:tr h="329184">
                <a:tc>
                  <a:txBody>
                    <a:bodyPr/>
                    <a:lstStyle/>
                    <a:p>
                      <a:r>
                        <a:rPr sz="1100" b="0">
                          <a:solidFill>
                            <a:srgbClr val="56B4E9"/>
                          </a:solidFill>
                          <a:latin typeface="Menlo"/>
                        </a:rPr>
                        <a:t>style_defaults</a:t>
                      </a:r>
                      <a:r>
                        <a:rPr sz="1100" b="0">
                          <a:solidFill>
                            <a:srgbClr val="F2F3F7"/>
                          </a:solidFill>
                          <a:latin typeface="Helvetica Neue"/>
                        </a:rPr>
                        <a:t> inlined</a:t>
                      </a:r>
                    </a:p>
                  </a:txBody>
                  <a:tcPr anchor="ctr">
                    <a:solidFill>
                      <a:srgbClr val="161A24"/>
                    </a:solidFill>
                  </a:tcPr>
                </a:tc>
                <a:tc>
                  <a:txBody>
                    <a:bodyPr/>
                    <a:lstStyle/>
                    <a:p>
                      <a:r>
                        <a:rPr sz="1100" b="0">
                          <a:solidFill>
                            <a:srgbClr val="56B4E9"/>
                          </a:solidFill>
                          <a:latin typeface="Menlo"/>
                        </a:rPr>
                        <a:t>style_ref</a:t>
                      </a:r>
                      <a:r>
                        <a:rPr sz="1100" b="0">
                          <a:solidFill>
                            <a:srgbClr val="F2F3F7"/>
                          </a:solidFill>
                          <a:latin typeface="Helvetica Neue"/>
                        </a:rPr>
                        <a:t> by id and hash</a:t>
                      </a:r>
                    </a:p>
                  </a:txBody>
                  <a:tcPr anchor="ctr">
                    <a:solidFill>
                      <a:srgbClr val="161A24"/>
                    </a:solidFill>
                  </a:tcPr>
                </a:tc>
                <a:tc>
                  <a:txBody>
                    <a:bodyPr/>
                    <a:lstStyle/>
                    <a:p>
                      <a:r>
                        <a:rPr sz="1100" b="0">
                          <a:solidFill>
                            <a:srgbClr val="F2F3F7"/>
                          </a:solidFill>
                          <a:latin typeface="Helvetica Neue"/>
                        </a:rPr>
                        <a:t>yes</a:t>
                      </a:r>
                    </a:p>
                  </a:txBody>
                  <a:tcPr anchor="ctr">
                    <a:solidFill>
                      <a:srgbClr val="161A24"/>
                    </a:solidFill>
                  </a:tcPr>
                </a:tc>
              </a:tr>
              <a:tr h="329184">
                <a:tc>
                  <a:txBody>
                    <a:bodyPr/>
                    <a:lstStyle/>
                    <a:p>
                      <a:r>
                        <a:rPr sz="1100" b="0">
                          <a:solidFill>
                            <a:srgbClr val="F2F3F7"/>
                          </a:solidFill>
                          <a:latin typeface="Helvetica Neue"/>
                        </a:rPr>
                        <a:t>—</a:t>
                      </a:r>
                    </a:p>
                  </a:txBody>
                  <a:tcPr anchor="ctr">
                    <a:solidFill>
                      <a:srgbClr val="11141C"/>
                    </a:solidFill>
                  </a:tcPr>
                </a:tc>
                <a:tc>
                  <a:txBody>
                    <a:bodyPr/>
                    <a:lstStyle/>
                    <a:p>
                      <a:r>
                        <a:rPr sz="1100" b="0">
                          <a:solidFill>
                            <a:srgbClr val="F2F3F7"/>
                          </a:solidFill>
                          <a:latin typeface="Helvetica Neue"/>
                        </a:rPr>
                        <a:t>polarity, alternative, source, hard_case, counter_image, bound, polygons</a:t>
                      </a:r>
                    </a:p>
                  </a:txBody>
                  <a:tcPr anchor="ctr">
                    <a:solidFill>
                      <a:srgbClr val="11141C"/>
                    </a:solidFill>
                  </a:tcPr>
                </a:tc>
                <a:tc>
                  <a:txBody>
                    <a:bodyPr/>
                    <a:lstStyle/>
                    <a:p>
                      <a:r>
                        <a:rPr sz="1100" b="1">
                          <a:solidFill>
                            <a:srgbClr val="F2F3F7"/>
                          </a:solidFill>
                          <a:latin typeface="Helvetica Neue"/>
                        </a:rPr>
                        <a:t>new</a:t>
                      </a:r>
                      <a:r>
                        <a:rPr sz="1100" b="0">
                          <a:solidFill>
                            <a:srgbClr val="F2F3F7"/>
                          </a:solidFill>
                          <a:latin typeface="Helvetica Neue"/>
                        </a:rPr>
                        <a:t> — nothing to migrate</a:t>
                      </a:r>
                    </a:p>
                  </a:txBody>
                  <a:tcPr anchor="ctr">
                    <a:solidFill>
                      <a:srgbClr val="11141C"/>
                    </a:solidFill>
                  </a:tcPr>
                </a:tc>
              </a:tr>
            </a:tbl>
          </a:graphicData>
        </a:graphic>
      </p:graphicFrame>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On deck-08, all four arrow labels mapped lexically; four SYSTEM-level fields need a human — counter_image, n_images, hard_case, sources. Those are not conversion failures; they are the things lensmark/1.0 had no way to record.</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the prior art changed, rather than confirmed</a:t>
            </a:r>
          </a:p>
          <a:p>
            <a:pPr algn="l">
              <a:spcAft>
                <a:spcPts val="600"/>
              </a:spcAft>
            </a:pPr>
            <a:r>
              <a:rPr sz="1300" b="0" i="0">
                <a:solidFill>
                  <a:srgbClr val="9AA0AE"/>
                </a:solidFill>
                <a:latin typeface="Helvetica Neue"/>
              </a:rPr>
              <a:t>Five findings that altered the design</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E69F00"/>
                </a:solidFill>
                <a:latin typeface="Helvetica Neue"/>
              </a:rPr>
              <a:t>– </a:t>
            </a:r>
            <a:r>
              <a:rPr sz="1500" b="1" i="0">
                <a:solidFill>
                  <a:srgbClr val="E69F00"/>
                </a:solidFill>
                <a:latin typeface="Helvetica Neue"/>
              </a:rPr>
              <a:t>Presence and polarity are two axes, not one.</a:t>
            </a:r>
            <a:r>
              <a:rPr sz="1500" b="0" i="0">
                <a:solidFill>
                  <a:srgbClr val="E69F00"/>
                </a:solidFill>
                <a:latin typeface="Helvetica Neue"/>
              </a:rPr>
              <a:t> RadElement separates present / absent / indeterminate / unknown from the term. Our </a:t>
            </a:r>
            <a:r>
              <a:rPr sz="1500" b="0" i="0">
                <a:solidFill>
                  <a:srgbClr val="56B4E9"/>
                </a:solidFill>
                <a:latin typeface="Menlo"/>
              </a:rPr>
              <a:t>polarity</a:t>
            </a:r>
            <a:r>
              <a:rPr sz="1500" b="0" i="0">
                <a:solidFill>
                  <a:srgbClr val="E69F00"/>
                </a:solidFill>
                <a:latin typeface="Helvetica Neue"/>
              </a:rPr>
              <a:t> conflates “is this really there?” with “does it bear on the claim?” — which is why a dust lane sits awkwardly. Better than adding a fourth polarity value.</a:t>
            </a:r>
          </a:p>
          <a:p>
            <a:pPr algn="l">
              <a:spcAft>
                <a:spcPts val="900"/>
              </a:spcAft>
            </a:pPr>
            <a:r>
              <a:rPr sz="1500" b="0" i="0">
                <a:solidFill>
                  <a:srgbClr val="E69F00"/>
                </a:solidFill>
                <a:latin typeface="Helvetica Neue"/>
              </a:rPr>
              <a:t>– </a:t>
            </a:r>
            <a:r>
              <a:rPr sz="1500" b="1" i="0">
                <a:solidFill>
                  <a:srgbClr val="E69F00"/>
                </a:solidFill>
                <a:latin typeface="Helvetica Neue"/>
              </a:rPr>
              <a:t>Borrow the object classes; do not mint them.</a:t>
            </a:r>
            <a:r>
              <a:rPr sz="1500" b="0" i="0">
                <a:solidFill>
                  <a:srgbClr val="E69F00"/>
                </a:solidFill>
                <a:latin typeface="Helvetica Neue"/>
              </a:rPr>
              <a:t> The IVOA object-type vocabulary already publishes </a:t>
            </a:r>
            <a:r>
              <a:rPr sz="1500" b="0" i="0">
                <a:solidFill>
                  <a:srgbClr val="56B4E9"/>
                </a:solidFill>
                <a:latin typeface="Menlo"/>
              </a:rPr>
              <a:t>grav-lens</a:t>
            </a:r>
            <a:r>
              <a:rPr sz="1500" b="0" i="0">
                <a:solidFill>
                  <a:srgbClr val="E69F00"/>
                </a:solidFill>
                <a:latin typeface="Helvetica Neue"/>
              </a:rPr>
              <a:t> and </a:t>
            </a:r>
            <a:r>
              <a:rPr sz="1500" b="0" i="0">
                <a:solidFill>
                  <a:srgbClr val="56B4E9"/>
                </a:solidFill>
                <a:latin typeface="Menlo"/>
              </a:rPr>
              <a:t>lensed-image</a:t>
            </a:r>
            <a:r>
              <a:rPr sz="1500" b="0" i="0">
                <a:solidFill>
                  <a:srgbClr val="E69F00"/>
                </a:solidFill>
                <a:latin typeface="Helvetica Neue"/>
              </a:rPr>
              <a:t> as URIs. Our vocabulary should cover what is specific to ANNOTATION and reference the rest.</a:t>
            </a:r>
          </a:p>
          <a:p>
            <a:pPr algn="l">
              <a:spcAft>
                <a:spcPts val="900"/>
              </a:spcAft>
            </a:pPr>
            <a:r>
              <a:rPr sz="1500" b="0" i="0">
                <a:solidFill>
                  <a:srgbClr val="F2F3F7"/>
                </a:solidFill>
                <a:latin typeface="Helvetica Neue"/>
              </a:rPr>
              <a:t>– </a:t>
            </a:r>
            <a:r>
              <a:rPr sz="1500" b="1" i="0">
                <a:solidFill>
                  <a:srgbClr val="F2F3F7"/>
                </a:solidFill>
                <a:latin typeface="Helvetica Neue"/>
              </a:rPr>
              <a:t>Generation method is three-valued</a:t>
            </a:r>
            <a:r>
              <a:rPr sz="1500" b="0" i="0">
                <a:solidFill>
                  <a:srgbClr val="F2F3F7"/>
                </a:solidFill>
                <a:latin typeface="Helvetica Neue"/>
              </a:rPr>
              <a:t> — automatic, semiautomatic, manual — and that middle value is exactly the propose-then-correct workflow this project runs.</a:t>
            </a:r>
          </a:p>
          <a:p>
            <a:pPr algn="l">
              <a:spcAft>
                <a:spcPts val="900"/>
              </a:spcAft>
            </a:pPr>
            <a:r>
              <a:rPr sz="1500" b="0" i="0">
                <a:solidFill>
                  <a:srgbClr val="F2F3F7"/>
                </a:solidFill>
                <a:latin typeface="Helvetica Neue"/>
              </a:rPr>
              <a:t>– </a:t>
            </a:r>
            <a:r>
              <a:rPr sz="1500" b="1" i="0">
                <a:solidFill>
                  <a:srgbClr val="F2F3F7"/>
                </a:solidFill>
                <a:latin typeface="Helvetica Neue"/>
              </a:rPr>
              <a:t>The grade problem has a worked answer</a:t>
            </a:r>
            <a:r>
              <a:rPr sz="1500" b="0" i="0">
                <a:solidFill>
                  <a:srgbClr val="F2F3F7"/>
                </a:solidFill>
                <a:latin typeface="Helvetica Neue"/>
              </a:rPr>
              <a:t> in BI-RADS and PI-RADS.</a:t>
            </a:r>
          </a:p>
          <a:p>
            <a:pPr algn="l">
              <a:spcAft>
                <a:spcPts val="900"/>
              </a:spcAft>
            </a:pPr>
            <a:r>
              <a:rPr sz="1500" b="0" i="0">
                <a:solidFill>
                  <a:srgbClr val="F2F3F7"/>
                </a:solidFill>
                <a:latin typeface="Helvetica Neue"/>
              </a:rPr>
              <a:t>– </a:t>
            </a:r>
            <a:r>
              <a:rPr sz="1500" b="1" i="0">
                <a:solidFill>
                  <a:srgbClr val="F2F3F7"/>
                </a:solidFill>
                <a:latin typeface="Helvetica Neue"/>
              </a:rPr>
              <a:t>Two hard numbers for the render rules</a:t>
            </a:r>
            <a:r>
              <a:rPr sz="1500" b="0" i="0">
                <a:solidFill>
                  <a:srgbClr val="F2F3F7"/>
                </a:solidFill>
                <a:latin typeface="Helvetica Neue"/>
              </a:rPr>
              <a:t>: exactly three lightness levels exist at 3:1 contrast, and two textures must differ in period by a full octave.</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What is verified, and what is not</a:t>
            </a:r>
          </a:p>
        </p:txBody>
      </p:sp>
      <p:sp>
        <p:nvSpPr>
          <p:cNvPr id="3" name="TextBox 2"/>
          <p:cNvSpPr txBox="1"/>
          <p:nvPr/>
        </p:nvSpPr>
        <p:spPr>
          <a:xfrm>
            <a:off x="548640" y="1188720"/>
            <a:ext cx="11094415" cy="5029200"/>
          </a:xfrm>
          <a:prstGeom prst="rect">
            <a:avLst/>
          </a:prstGeom>
          <a:noFill/>
        </p:spPr>
        <p:txBody>
          <a:bodyPr wrap="square" anchor="t" lIns="0" rIns="0" tIns="0" bIns="0">
            <a:spAutoFit/>
          </a:bodyPr>
          <a:lstStyle/>
          <a:p>
            <a:pPr algn="l">
              <a:spcAft>
                <a:spcPts val="900"/>
              </a:spcAft>
            </a:pPr>
            <a:r>
              <a:rPr sz="1500" b="0" i="0">
                <a:solidFill>
                  <a:srgbClr val="009E73"/>
                </a:solidFill>
                <a:latin typeface="Helvetica Neue"/>
              </a:rPr>
              <a:t>– </a:t>
            </a:r>
            <a:r>
              <a:rPr sz="1500" b="1" i="0">
                <a:solidFill>
                  <a:srgbClr val="009E73"/>
                </a:solidFill>
                <a:latin typeface="Helvetica Neue"/>
              </a:rPr>
              <a:t>Measured and reproducible:</a:t>
            </a:r>
            <a:r>
              <a:rPr sz="1500" b="0" i="0">
                <a:solidFill>
                  <a:srgbClr val="009E73"/>
                </a:solidFill>
                <a:latin typeface="Helvetica Neue"/>
              </a:rPr>
              <a:t> ink, occlusion, stroke contrast, encoding sizes in characters, the colour gate, schema flatness, the reference annotation validating, generator staleness, and the embargo check — 0 banned-lexicon hits across 19 documents, all three model-facing spec files completely clean.</a:t>
            </a:r>
          </a:p>
          <a:p>
            <a:pPr algn="l">
              <a:spcAft>
                <a:spcPts val="900"/>
              </a:spcAft>
            </a:pPr>
            <a:r>
              <a:rPr sz="1500" b="0" i="0">
                <a:solidFill>
                  <a:srgbClr val="E69F00"/>
                </a:solidFill>
                <a:latin typeface="Helvetica Neue"/>
              </a:rPr>
              <a:t>– </a:t>
            </a:r>
            <a:r>
              <a:rPr sz="1500" b="1" i="0">
                <a:solidFill>
                  <a:srgbClr val="E69F00"/>
                </a:solidFill>
                <a:latin typeface="Helvetica Neue"/>
              </a:rPr>
              <a:t>Derived, not measured:</a:t>
            </a:r>
            <a:r>
              <a:rPr sz="1500" b="0" i="0">
                <a:solidFill>
                  <a:srgbClr val="E69F00"/>
                </a:solidFill>
                <a:latin typeface="Helvetica Neue"/>
              </a:rPr>
              <a:t> token counts. No Claude tokenizer offline; character ratios are exact and are what the decision turns on.</a:t>
            </a:r>
          </a:p>
          <a:p>
            <a:pPr algn="l">
              <a:spcAft>
                <a:spcPts val="900"/>
              </a:spcAft>
            </a:pPr>
            <a:r>
              <a:rPr sz="1500" b="0" i="0">
                <a:solidFill>
                  <a:srgbClr val="D55E00"/>
                </a:solidFill>
                <a:latin typeface="Helvetica Neue"/>
              </a:rPr>
              <a:t>– </a:t>
            </a:r>
            <a:r>
              <a:rPr sz="1500" b="1" i="0">
                <a:solidFill>
                  <a:srgbClr val="D55E00"/>
                </a:solidFill>
                <a:latin typeface="Helvetica Neue"/>
              </a:rPr>
              <a:t>Not tested:</a:t>
            </a:r>
            <a:r>
              <a:rPr sz="1500" b="0" i="0">
                <a:solidFill>
                  <a:srgbClr val="D55E00"/>
                </a:solidFill>
                <a:latin typeface="Helvetica Neue"/>
              </a:rPr>
              <a:t> whether image plus coordinate metadata teaches a model better than an annotated PNG. This is the hypothesis on the record, the format is partly designed around it, and it should run BEFORE the format freezes. It is cheap now that every encoding exists.</a:t>
            </a:r>
          </a:p>
          <a:p>
            <a:pPr algn="l">
              <a:spcAft>
                <a:spcPts val="900"/>
              </a:spcAft>
            </a:pPr>
            <a:r>
              <a:rPr sz="1500" b="0" i="0">
                <a:solidFill>
                  <a:srgbClr val="9AA0AE"/>
                </a:solidFill>
                <a:latin typeface="Helvetica Neue"/>
              </a:rPr>
              <a:t>– </a:t>
            </a:r>
            <a:r>
              <a:rPr sz="1500" b="1" i="0">
                <a:solidFill>
                  <a:srgbClr val="9AA0AE"/>
                </a:solidFill>
                <a:latin typeface="Helvetica Neue"/>
              </a:rPr>
              <a:t>Judgement, declared as such:</a:t>
            </a:r>
            <a:r>
              <a:rPr sz="1500" b="0" i="0">
                <a:solidFill>
                  <a:srgbClr val="9AA0AE"/>
                </a:solidFill>
                <a:latin typeface="Helvetica Neue"/>
              </a:rPr>
              <a:t> N1 versus N4. The measurements rule out the status quo; they do not choose between two good candidates.</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anchor="t" lIns="0" rIns="0" tIns="0" bIns="0">
            <a:spAutoFit/>
          </a:bodyPr>
          <a:lstStyle/>
          <a:p>
            <a:pPr algn="l">
              <a:spcAft>
                <a:spcPts val="400"/>
              </a:spcAft>
            </a:pPr>
            <a:r>
              <a:rPr sz="2700" b="1" i="0">
                <a:solidFill>
                  <a:srgbClr val="F2F3F7"/>
                </a:solidFill>
                <a:latin typeface="Helvetica Neue"/>
              </a:rPr>
              <a:t>Six decisions for the review</a:t>
            </a:r>
          </a:p>
          <a:p>
            <a:pPr algn="l">
              <a:spcAft>
                <a:spcPts val="600"/>
              </a:spcAft>
            </a:pPr>
            <a:r>
              <a:rPr sz="1300" b="0" i="0">
                <a:solidFill>
                  <a:srgbClr val="9AA0AE"/>
                </a:solidFill>
                <a:latin typeface="Helvetica Neue"/>
              </a:rPr>
              <a:t>A draft vocabulary already exists: 80 terms, 10 schemes, generating a flat closed schema the reference annotation validates against today</a:t>
            </a:r>
          </a:p>
        </p:txBody>
      </p:sp>
      <p:sp>
        <p:nvSpPr>
          <p:cNvPr id="3" name="TextBox 2"/>
          <p:cNvSpPr txBox="1"/>
          <p:nvPr/>
        </p:nvSpPr>
        <p:spPr>
          <a:xfrm>
            <a:off x="548640" y="1417320"/>
            <a:ext cx="11094415" cy="4800600"/>
          </a:xfrm>
          <a:prstGeom prst="rect">
            <a:avLst/>
          </a:prstGeom>
          <a:noFill/>
        </p:spPr>
        <p:txBody>
          <a:bodyPr wrap="square" anchor="t" lIns="0" rIns="0" tIns="0" bIns="0">
            <a:spAutoFit/>
          </a:bodyPr>
          <a:lstStyle/>
          <a:p>
            <a:pPr algn="l">
              <a:spcAft>
                <a:spcPts val="900"/>
              </a:spcAft>
            </a:pPr>
            <a:r>
              <a:rPr sz="1500" b="0" i="0">
                <a:solidFill>
                  <a:srgbClr val="F2F3F7"/>
                </a:solidFill>
                <a:latin typeface="Helvetica Neue"/>
              </a:rPr>
              <a:t>– </a:t>
            </a:r>
            <a:r>
              <a:rPr sz="1500" b="1" i="0">
                <a:solidFill>
                  <a:srgbClr val="F2F3F7"/>
                </a:solidFill>
                <a:latin typeface="Helvetica Neue"/>
              </a:rPr>
              <a:t>1.</a:t>
            </a:r>
            <a:r>
              <a:rPr sz="1500" b="0" i="0">
                <a:solidFill>
                  <a:srgbClr val="F2F3F7"/>
                </a:solidFill>
                <a:latin typeface="Helvetica Neue"/>
              </a:rPr>
              <a:t> Notation: N1 now, N4, or N1 with N4's source chord grafted in?</a:t>
            </a:r>
          </a:p>
          <a:p>
            <a:pPr algn="l">
              <a:spcAft>
                <a:spcPts val="900"/>
              </a:spcAft>
            </a:pPr>
            <a:r>
              <a:rPr sz="1500" b="0" i="0">
                <a:solidFill>
                  <a:srgbClr val="F2F3F7"/>
                </a:solidFill>
                <a:latin typeface="Helvetica Neue"/>
              </a:rPr>
              <a:t>– </a:t>
            </a:r>
            <a:r>
              <a:rPr sz="1500" b="1" i="0">
                <a:solidFill>
                  <a:srgbClr val="F2F3F7"/>
                </a:solidFill>
                <a:latin typeface="Helvetica Neue"/>
              </a:rPr>
              <a:t>2.</a:t>
            </a:r>
            <a:r>
              <a:rPr sz="1500" b="0" i="0">
                <a:solidFill>
                  <a:srgbClr val="F2F3F7"/>
                </a:solidFill>
                <a:latin typeface="Helvetica Neue"/>
              </a:rPr>
              <a:t> Container: accept P1 plus prefixed-term identity, or spend the argument on the container?</a:t>
            </a:r>
          </a:p>
          <a:p>
            <a:pPr algn="l">
              <a:spcAft>
                <a:spcPts val="900"/>
              </a:spcAft>
            </a:pPr>
            <a:r>
              <a:rPr sz="1500" b="0" i="0">
                <a:solidFill>
                  <a:srgbClr val="F2F3F7"/>
                </a:solidFill>
                <a:latin typeface="Helvetica Neue"/>
              </a:rPr>
              <a:t>– </a:t>
            </a:r>
            <a:r>
              <a:rPr sz="1500" b="1" i="0">
                <a:solidFill>
                  <a:srgbClr val="F2F3F7"/>
                </a:solidFill>
                <a:latin typeface="Helvetica Neue"/>
              </a:rPr>
              <a:t>3.</a:t>
            </a:r>
            <a:r>
              <a:rPr sz="1500" b="0" i="0">
                <a:solidFill>
                  <a:srgbClr val="F2F3F7"/>
                </a:solidFill>
                <a:latin typeface="Helvetica Neue"/>
              </a:rPr>
              <a:t> Do the six notation-independent changes land regardless? *(I would say yes.)*</a:t>
            </a:r>
          </a:p>
          <a:p>
            <a:pPr algn="l">
              <a:spcAft>
                <a:spcPts val="900"/>
              </a:spcAft>
            </a:pPr>
            <a:r>
              <a:rPr sz="1500" b="0" i="0">
                <a:solidFill>
                  <a:srgbClr val="F2F3F7"/>
                </a:solidFill>
                <a:latin typeface="Helvetica Neue"/>
              </a:rPr>
              <a:t>– </a:t>
            </a:r>
            <a:r>
              <a:rPr sz="1500" b="1" i="0">
                <a:solidFill>
                  <a:srgbClr val="F2F3F7"/>
                </a:solidFill>
                <a:latin typeface="Helvetica Neue"/>
              </a:rPr>
              <a:t>4.</a:t>
            </a:r>
            <a:r>
              <a:rPr sz="1500" b="0" i="0">
                <a:solidFill>
                  <a:srgbClr val="F2F3F7"/>
                </a:solidFill>
                <a:latin typeface="Helvetica Neue"/>
              </a:rPr>
              <a:t> Is the read/write asymmetry acceptable, given it means two surfaces and a round-trip test in CI?</a:t>
            </a:r>
          </a:p>
          <a:p>
            <a:pPr algn="l">
              <a:spcAft>
                <a:spcPts val="900"/>
              </a:spcAft>
            </a:pPr>
            <a:r>
              <a:rPr sz="1500" b="0" i="0">
                <a:solidFill>
                  <a:srgbClr val="F2F3F7"/>
                </a:solidFill>
                <a:latin typeface="Helvetica Neue"/>
              </a:rPr>
              <a:t>– </a:t>
            </a:r>
            <a:r>
              <a:rPr sz="1500" b="1" i="0">
                <a:solidFill>
                  <a:srgbClr val="F2F3F7"/>
                </a:solidFill>
                <a:latin typeface="Helvetica Neue"/>
              </a:rPr>
              <a:t>5.</a:t>
            </a:r>
            <a:r>
              <a:rPr sz="1500" b="0" i="0">
                <a:solidFill>
                  <a:srgbClr val="F2F3F7"/>
                </a:solidFill>
                <a:latin typeface="Helvetica Neue"/>
              </a:rPr>
              <a:t> Should presence and polarity become two separate axes?</a:t>
            </a:r>
          </a:p>
          <a:p>
            <a:pPr algn="l">
              <a:spcAft>
                <a:spcPts val="900"/>
              </a:spcAft>
            </a:pPr>
            <a:r>
              <a:rPr sz="1500" b="0" i="0">
                <a:solidFill>
                  <a:srgbClr val="F2F3F7"/>
                </a:solidFill>
                <a:latin typeface="Helvetica Neue"/>
              </a:rPr>
              <a:t>– </a:t>
            </a:r>
            <a:r>
              <a:rPr sz="1500" b="1" i="0">
                <a:solidFill>
                  <a:srgbClr val="F2F3F7"/>
                </a:solidFill>
                <a:latin typeface="Helvetica Neue"/>
              </a:rPr>
              <a:t>6.</a:t>
            </a:r>
            <a:r>
              <a:rPr sz="1500" b="0" i="0">
                <a:solidFill>
                  <a:srgbClr val="F2F3F7"/>
                </a:solidFill>
                <a:latin typeface="Helvetica Neue"/>
              </a:rPr>
              <a:t> Who runs the few-shot experiment, and does the freeze wait for it?</a:t>
            </a:r>
          </a:p>
          <a:p>
            <a:pPr algn="l">
              <a:spcAft>
                <a:spcPts val="900"/>
              </a:spcAft>
            </a:pPr>
            <a:r>
              <a:rPr sz="1500" b="0" i="0">
                <a:solidFill>
                  <a:srgbClr val="56B4E9"/>
                </a:solidFill>
                <a:latin typeface="Helvetica Neue"/>
              </a:rPr>
              <a:t>– Start with the vocabulary file either way. It is the only artifact every proposal shares, the only one whose absence caused every problem in the audit — and it is the part that is not in dispute.</a:t>
            </a:r>
          </a:p>
        </p:txBody>
      </p:sp>
      <p:sp>
        <p:nvSpPr>
          <p:cNvPr id="4" name="TextBox 3"/>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5" name="TextBox 4"/>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C0E14"/>
        </a:solidFill>
        <a:effectLst/>
      </p:bgPr>
    </p:bg>
    <p:spTree>
      <p:nvGrpSpPr>
        <p:cNvPr id="1" name=""/>
        <p:cNvGrpSpPr/>
        <p:nvPr/>
      </p:nvGrpSpPr>
      <p:grpSpPr/>
      <p:sp>
        <p:nvSpPr>
          <p:cNvPr id="2" name="TextBox 1"/>
          <p:cNvSpPr txBox="1"/>
          <p:nvPr/>
        </p:nvSpPr>
        <p:spPr>
          <a:xfrm>
            <a:off x="914400" y="1463040"/>
            <a:ext cx="10362895" cy="4114800"/>
          </a:xfrm>
          <a:prstGeom prst="rect">
            <a:avLst/>
          </a:prstGeom>
          <a:noFill/>
        </p:spPr>
        <p:txBody>
          <a:bodyPr wrap="square" anchor="ctr" lIns="0" rIns="0" tIns="0" bIns="0">
            <a:spAutoFit/>
          </a:bodyPr>
          <a:lstStyle/>
          <a:p>
            <a:pPr algn="l">
              <a:spcAft>
                <a:spcPts val="1800"/>
              </a:spcAft>
            </a:pPr>
            <a:r>
              <a:rPr sz="3000" b="1" i="0">
                <a:solidFill>
                  <a:srgbClr val="F2F3F7"/>
                </a:solidFill>
                <a:latin typeface="Helvetica Neue"/>
              </a:rPr>
              <a:t>One warning worth carrying into the room.</a:t>
            </a:r>
          </a:p>
          <a:p>
            <a:pPr algn="l">
              <a:spcAft>
                <a:spcPts val="600"/>
              </a:spcAft>
            </a:pPr>
            <a:r>
              <a:rPr sz="1500" b="0" i="0">
                <a:solidFill>
                  <a:srgbClr val="9AA0AE"/>
                </a:solidFill>
                <a:latin typeface="Helvetica Neue"/>
              </a:rPr>
              <a:t>DICOM's Presentation State has been the right overlay answer since 1999, is supported by every PACS, and lost in practice to burning annotations into a flattened image — because that was easier.
A correct design does not win by being correct. If AstroMark's overlay path is harder than exporting a PNG with the marks drawn on it, people will export the PNG.</a:t>
            </a:r>
          </a:p>
        </p:txBody>
      </p:sp>
      <p:sp>
        <p:nvSpPr>
          <p:cNvPr id="3" name="TextBox 2"/>
          <p:cNvSpPr txBox="1"/>
          <p:nvPr/>
        </p:nvSpPr>
        <p:spPr>
          <a:xfrm>
            <a:off x="548640" y="6473952"/>
            <a:ext cx="11094415" cy="274320"/>
          </a:xfrm>
          <a:prstGeom prst="rect">
            <a:avLst/>
          </a:prstGeom>
          <a:noFill/>
        </p:spPr>
        <p:txBody>
          <a:bodyPr wrap="square" anchor="t" lIns="0" rIns="0" tIns="0" bIns="0">
            <a:spAutoFit/>
          </a:bodyPr>
          <a:lstStyle/>
          <a:p>
            <a:pPr algn="l">
              <a:spcAft>
                <a:spcPts val="600"/>
              </a:spcAft>
            </a:pPr>
            <a:r>
              <a:rPr sz="900" b="0" i="0">
                <a:solidFill>
                  <a:srgbClr val="9AA0AE"/>
                </a:solidFill>
                <a:latin typeface="Helvetica Neue"/>
              </a:rPr>
              <a:t/>
            </a:r>
          </a:p>
        </p:txBody>
      </p:sp>
      <p:sp>
        <p:nvSpPr>
          <p:cNvPr id="4" name="TextBox 3"/>
          <p:cNvSpPr txBox="1"/>
          <p:nvPr/>
        </p:nvSpPr>
        <p:spPr>
          <a:xfrm>
            <a:off x="11185855" y="6473952"/>
            <a:ext cx="548640" cy="274320"/>
          </a:xfrm>
          <a:prstGeom prst="rect">
            <a:avLst/>
          </a:prstGeom>
          <a:noFill/>
        </p:spPr>
        <p:txBody>
          <a:bodyPr wrap="none">
            <a:spAutoFit/>
          </a:bodyPr>
          <a:lstStyle/>
          <a:p>
            <a:pPr algn="r"/>
            <a:r>
              <a:rPr sz="900">
                <a:solidFill>
                  <a:srgbClr val="9AA0AE"/>
                </a:solidFill>
                <a:latin typeface="Helvetica Neue"/>
              </a:rPr>
              <a:t>59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